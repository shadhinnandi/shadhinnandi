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B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85" d="100"/>
          <a:sy n="85" d="100"/>
        </p:scale>
        <p:origin x="9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191900-AB90-4FBE-8162-15D08BFCB4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7EA2DB2-4067-4824-A6B8-F7A552970613}"/>
              </a:ext>
            </a:extLst>
          </p:cNvPr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65760"/>
            <a:ext cx="1828800" cy="18288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C6ABEB30-3EC2-4226-8CC2-32266AE94B71}"/>
              </a:ext>
            </a:extLst>
          </p:cNvPr>
          <p:cNvSpPr>
            <a:spLocks noGrp="1"/>
          </p:cNvSpPr>
          <p:nvPr/>
        </p:nvSpPr>
        <p:spPr>
          <a:xfrm>
            <a:off x="365760" y="411480"/>
            <a:ext cx="21945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FF1FBD1-B521-4E37-8817-5D7CB029894A}"/>
              </a:ext>
            </a:extLst>
          </p:cNvPr>
          <p:cNvSpPr>
            <a:spLocks noGrp="1"/>
          </p:cNvSpPr>
          <p:nvPr/>
        </p:nvSpPr>
        <p:spPr>
          <a:xfrm>
            <a:off x="365760" y="41148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CSE 4165 — Web Programming</a:t>
            </a:r>
            <a:endParaRPr sz="10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B6243B6-1880-41FC-9103-36EC4C57DCE8}"/>
              </a:ext>
            </a:extLst>
          </p:cNvPr>
          <p:cNvSpPr>
            <a:spLocks noGrp="1"/>
          </p:cNvSpPr>
          <p:nvPr/>
        </p:nvSpPr>
        <p:spPr>
          <a:xfrm>
            <a:off x="365760" y="96012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800" b="1">
                <a:solidFill>
                  <a:srgbClr val="0D9488"/>
                </a:solidFill>
                <a:latin typeface="Arial Black"/>
                <a:ea typeface="Arial Black"/>
                <a:cs typeface="Arial Black"/>
              </a:rPr>
              <a:t>JavaScript</a:t>
            </a:r>
            <a:endParaRPr sz="68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AD3E65B-2208-4F39-AF31-F48A46598879}"/>
              </a:ext>
            </a:extLst>
          </p:cNvPr>
          <p:cNvSpPr>
            <a:spLocks noGrp="1"/>
          </p:cNvSpPr>
          <p:nvPr/>
        </p:nvSpPr>
        <p:spPr>
          <a:xfrm>
            <a:off x="365760" y="192024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Beginners</a:t>
            </a:r>
            <a:endParaRPr sz="3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9DBB5FD-F1AC-4148-8F34-6CF06699F6E5}"/>
              </a:ext>
            </a:extLst>
          </p:cNvPr>
          <p:cNvSpPr>
            <a:spLocks noGrp="1"/>
          </p:cNvSpPr>
          <p:nvPr/>
        </p:nvSpPr>
        <p:spPr>
          <a:xfrm>
            <a:off x="365760" y="2743200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2B02A22-E5B0-46C8-8F5B-1AFAA55BF7BE}"/>
              </a:ext>
            </a:extLst>
          </p:cNvPr>
          <p:cNvSpPr>
            <a:spLocks noGrp="1"/>
          </p:cNvSpPr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Reference: w3schools.com/js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83877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9422F69-06DA-4E3E-B84A-7E6C10F76772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B4A5FE-8CAC-4D7C-B9FB-8FA91A06CC16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INTRO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195EAF5-437A-464E-8C8A-45B884A9EB35}"/>
              </a:ext>
            </a:extLst>
          </p:cNvPr>
          <p:cNvSpPr>
            <a:spLocks noGrp="1"/>
          </p:cNvSpPr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F2440"/>
                </a:solidFill>
                <a:latin typeface="Arial Black"/>
                <a:ea typeface="Arial Black"/>
                <a:cs typeface="Arial Black"/>
              </a:rPr>
              <a:t>What is JavaScript?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6E81ACB-69C2-422E-B240-513CE6B12D36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The third layer of the web — after HTML and CSS</a:t>
            </a:r>
            <a:endParaRPr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98C56FE-60E7-4D81-A40F-A81EA67AFFF0}"/>
              </a:ext>
            </a:extLst>
          </p:cNvPr>
          <p:cNvSpPr>
            <a:spLocks noGrp="1"/>
          </p:cNvSpPr>
          <p:nvPr/>
        </p:nvSpPr>
        <p:spPr>
          <a:xfrm>
            <a:off x="365760" y="1508760"/>
            <a:ext cx="260604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7AEA426-8052-450A-8622-B7DE5CFD5A9E}"/>
              </a:ext>
            </a:extLst>
          </p:cNvPr>
          <p:cNvSpPr>
            <a:spLocks noGrp="1"/>
          </p:cNvSpPr>
          <p:nvPr/>
        </p:nvSpPr>
        <p:spPr>
          <a:xfrm>
            <a:off x="365760" y="1508760"/>
            <a:ext cx="260604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pic>
        <p:nvPicPr>
          <p:cNvPr id="3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00200"/>
            <a:ext cx="594360" cy="59436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EF5A2980-4250-4050-9AD6-968980ACE363}"/>
              </a:ext>
            </a:extLst>
          </p:cNvPr>
          <p:cNvSpPr>
            <a:spLocks noGrp="1"/>
          </p:cNvSpPr>
          <p:nvPr/>
        </p:nvSpPr>
        <p:spPr>
          <a:xfrm>
            <a:off x="365760" y="2212848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EA580C"/>
                </a:solidFill>
              </a:rPr>
              <a:t>HTML</a:t>
            </a:r>
            <a:endParaRPr sz="22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3B3C17F-520A-405D-A581-86835CF899A6}"/>
              </a:ext>
            </a:extLst>
          </p:cNvPr>
          <p:cNvSpPr>
            <a:spLocks noGrp="1"/>
          </p:cNvSpPr>
          <p:nvPr/>
        </p:nvSpPr>
        <p:spPr>
          <a:xfrm>
            <a:off x="502920" y="2578608"/>
            <a:ext cx="233172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1E293B"/>
                </a:solidFill>
              </a:rPr>
              <a:t>Defines the "bones" — headings, paragraphs, buttons, images. The content.</a:t>
            </a:r>
            <a:endParaRPr sz="12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AB530A93-25E5-45BD-997B-A9570DB153D8}"/>
              </a:ext>
            </a:extLst>
          </p:cNvPr>
          <p:cNvSpPr>
            <a:spLocks noGrp="1"/>
          </p:cNvSpPr>
          <p:nvPr/>
        </p:nvSpPr>
        <p:spPr>
          <a:xfrm>
            <a:off x="3200400" y="1508760"/>
            <a:ext cx="260604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E8615E0-A104-4914-A20F-118146DAC761}"/>
              </a:ext>
            </a:extLst>
          </p:cNvPr>
          <p:cNvSpPr>
            <a:spLocks noGrp="1"/>
          </p:cNvSpPr>
          <p:nvPr/>
        </p:nvSpPr>
        <p:spPr>
          <a:xfrm>
            <a:off x="3200400" y="1508760"/>
            <a:ext cx="26060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pic>
        <p:nvPicPr>
          <p:cNvPr id="37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600200"/>
            <a:ext cx="594360" cy="594360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85D3426F-37FB-4020-A103-9830BE927898}"/>
              </a:ext>
            </a:extLst>
          </p:cNvPr>
          <p:cNvSpPr>
            <a:spLocks noGrp="1"/>
          </p:cNvSpPr>
          <p:nvPr/>
        </p:nvSpPr>
        <p:spPr>
          <a:xfrm>
            <a:off x="3200400" y="2212848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7C3AED"/>
                </a:solidFill>
              </a:rPr>
              <a:t>CSS</a:t>
            </a:r>
            <a:endParaRPr sz="22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5FD419EF-0E5D-4A70-ADEA-0AD24A478778}"/>
              </a:ext>
            </a:extLst>
          </p:cNvPr>
          <p:cNvSpPr>
            <a:spLocks noGrp="1"/>
          </p:cNvSpPr>
          <p:nvPr/>
        </p:nvSpPr>
        <p:spPr>
          <a:xfrm>
            <a:off x="3337560" y="2578608"/>
            <a:ext cx="233172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1E293B"/>
                </a:solidFill>
              </a:rPr>
              <a:t>Adds the "skin" — colours, fonts, spacing, layout. How it looks.</a:t>
            </a:r>
            <a:endParaRPr sz="120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DE76997D-F009-4B60-9E98-CBC50AA98E65}"/>
              </a:ext>
            </a:extLst>
          </p:cNvPr>
          <p:cNvSpPr>
            <a:spLocks noGrp="1"/>
          </p:cNvSpPr>
          <p:nvPr/>
        </p:nvSpPr>
        <p:spPr>
          <a:xfrm>
            <a:off x="6035040" y="1508760"/>
            <a:ext cx="260604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7C74B1B6-300D-4E95-BD5C-9FD9827468FC}"/>
              </a:ext>
            </a:extLst>
          </p:cNvPr>
          <p:cNvSpPr>
            <a:spLocks noGrp="1"/>
          </p:cNvSpPr>
          <p:nvPr/>
        </p:nvSpPr>
        <p:spPr>
          <a:xfrm>
            <a:off x="6035040" y="1508760"/>
            <a:ext cx="2606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pic>
        <p:nvPicPr>
          <p:cNvPr id="42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600200"/>
            <a:ext cx="594360" cy="594360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FAC6AB4B-21E7-4A5B-BC95-5023DBB518A8}"/>
              </a:ext>
            </a:extLst>
          </p:cNvPr>
          <p:cNvSpPr>
            <a:spLocks noGrp="1"/>
          </p:cNvSpPr>
          <p:nvPr/>
        </p:nvSpPr>
        <p:spPr>
          <a:xfrm>
            <a:off x="6035040" y="2212848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0D9488"/>
                </a:solidFill>
              </a:rPr>
              <a:t>JS</a:t>
            </a:r>
            <a:endParaRPr sz="220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59A77E83-CF6F-49D1-84CD-78150B3D8E87}"/>
              </a:ext>
            </a:extLst>
          </p:cNvPr>
          <p:cNvSpPr>
            <a:spLocks noGrp="1"/>
          </p:cNvSpPr>
          <p:nvPr/>
        </p:nvSpPr>
        <p:spPr>
          <a:xfrm>
            <a:off x="6172200" y="2578608"/>
            <a:ext cx="233172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1E293B"/>
                </a:solidFill>
              </a:rPr>
              <a:t>Adds the "muscles" — makes things move, react, calculate, show/hide. Behaviour.</a:t>
            </a:r>
            <a:endParaRPr sz="120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09116194-1E02-43BB-BB8A-DB34E4126670}"/>
              </a:ext>
            </a:extLst>
          </p:cNvPr>
          <p:cNvSpPr>
            <a:spLocks noGrp="1"/>
          </p:cNvSpPr>
          <p:nvPr/>
        </p:nvSpPr>
        <p:spPr>
          <a:xfrm>
            <a:off x="365760" y="4206240"/>
            <a:ext cx="8412480" cy="6583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A18291FC-7947-4E79-A53F-0DE86AD50D79}"/>
              </a:ext>
            </a:extLst>
          </p:cNvPr>
          <p:cNvSpPr>
            <a:spLocks noGrp="1"/>
          </p:cNvSpPr>
          <p:nvPr/>
        </p:nvSpPr>
        <p:spPr>
          <a:xfrm>
            <a:off x="502920" y="4206240"/>
            <a:ext cx="813816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</a:rPr>
              <a:t>💡 Tip </a:t>
            </a:r>
            <a:r>
              <a:rPr sz="1200">
                <a:solidFill>
                  <a:srgbClr val="1E293B"/>
                </a:solidFill>
              </a:rPr>
              <a:t>JavaScript runs directly in your browser — no installation needed! Open DevTools (F12) → Console and type: 2 + 2 → press Enter. It replies: 4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056457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1B3BF9-AE52-433B-8488-79AF59D3A82C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551F22-4C5C-44E8-9B26-4AB77C72F390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SETUP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5648AF6-ACDB-451C-9D2B-78C9E422D709}"/>
              </a:ext>
            </a:extLst>
          </p:cNvPr>
          <p:cNvSpPr>
            <a:spLocks noGrp="1"/>
          </p:cNvSpPr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F2440"/>
                </a:solidFill>
                <a:latin typeface="Arial Black"/>
                <a:ea typeface="Arial Black"/>
                <a:cs typeface="Arial Black"/>
              </a:rPr>
              <a:t>Where to Write JavaScript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0942082-69CC-447F-94A9-E9E650EC16BD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Two places — inline &lt;script&gt; tag, or an external .js file</a:t>
            </a:r>
            <a:endParaRPr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AC30DDB-56C4-4E6A-96D9-D8AF3C72C1AF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4023360" cy="320040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35F502B-EF62-476A-BD4A-DB00F6AB5A7A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Option 1 — Inside the HTML file</a:t>
            </a:r>
            <a:endParaRPr sz="12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13A7AB5-2A6A-44BA-915D-58D5C1A2CC06}"/>
              </a:ext>
            </a:extLst>
          </p:cNvPr>
          <p:cNvSpPr>
            <a:spLocks noGrp="1"/>
          </p:cNvSpPr>
          <p:nvPr/>
        </p:nvSpPr>
        <p:spPr>
          <a:xfrm>
            <a:off x="365760" y="1737360"/>
            <a:ext cx="4023360" cy="20848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2535E3B-FEE6-4A39-887C-22DEA951C9B9}"/>
              </a:ext>
            </a:extLst>
          </p:cNvPr>
          <p:cNvSpPr>
            <a:spLocks noGrp="1"/>
          </p:cNvSpPr>
          <p:nvPr/>
        </p:nvSpPr>
        <p:spPr>
          <a:xfrm>
            <a:off x="475488" y="1828800"/>
            <a:ext cx="3803904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&lt;!DOCTYPE html&gt;</a:t>
            </a:r>
          </a:p>
          <a:p>
            <a:pPr algn="l"/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&lt;html&gt;</a:t>
            </a:r>
          </a:p>
          <a:p>
            <a:pPr algn="l"/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&lt;body&gt;</a:t>
            </a:r>
          </a:p>
          <a:p>
            <a:pPr algn="l"/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&lt;h1&gt;Hello&lt;/h1&gt;</a:t>
            </a:r>
          </a:p>
          <a:p>
            <a:pPr algn="l"/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&lt;script&gt;alert("I am JavaScript!");&lt;/script&gt;</a:t>
            </a:r>
          </a:p>
          <a:p>
            <a:pPr algn="l"/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&lt;/body&gt;</a:t>
            </a:r>
          </a:p>
          <a:p>
            <a:pPr algn="l"/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&lt;/html&gt;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CB6C79B-4B41-4C57-BE71-1BDD42CACAF0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40233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DE8DAF5-4B7B-421E-826C-B33D6E44CC5F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Option 2 — External .js file (preferred)</a:t>
            </a:r>
            <a:endParaRPr sz="12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2E6371F-2B81-4896-B6F3-C0538F2C6FA5}"/>
              </a:ext>
            </a:extLst>
          </p:cNvPr>
          <p:cNvSpPr>
            <a:spLocks noGrp="1"/>
          </p:cNvSpPr>
          <p:nvPr/>
        </p:nvSpPr>
        <p:spPr>
          <a:xfrm>
            <a:off x="4754880" y="1737360"/>
            <a:ext cx="4023360" cy="20848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031B646-9A8C-45AB-AF75-A539D49F2434}"/>
              </a:ext>
            </a:extLst>
          </p:cNvPr>
          <p:cNvSpPr>
            <a:spLocks noGrp="1"/>
          </p:cNvSpPr>
          <p:nvPr/>
        </p:nvSpPr>
        <p:spPr>
          <a:xfrm>
            <a:off x="4864608" y="1828800"/>
            <a:ext cx="3803904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&lt;!-- index.html --&gt;</a:t>
            </a:r>
          </a:p>
          <a:p>
            <a:pPr algn="l"/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&lt;body&gt;</a:t>
            </a:r>
          </a:p>
          <a:p>
            <a:pPr algn="l"/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&lt;h1&gt;Hello&lt;/h1&gt;</a:t>
            </a:r>
          </a:p>
          <a:p>
            <a:pPr algn="l"/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&lt;script src="script.js"&gt;&lt;/script&gt;</a:t>
            </a:r>
          </a:p>
          <a:p>
            <a:pPr algn="l"/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&lt;/body&gt;</a:t>
            </a:r>
          </a:p>
          <a:p>
            <a:pPr algn="l"/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// script.js</a:t>
            </a:r>
          </a:p>
          <a:p>
            <a:pPr algn="l"/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alert("External JS!");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D1F9B7E-C6DC-4E18-8B9B-1DE627E1F8BE}"/>
              </a:ext>
            </a:extLst>
          </p:cNvPr>
          <p:cNvSpPr>
            <a:spLocks noGrp="1"/>
          </p:cNvSpPr>
          <p:nvPr/>
        </p:nvSpPr>
        <p:spPr>
          <a:xfrm>
            <a:off x="365760" y="3703320"/>
            <a:ext cx="841248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D650793-9C78-4610-993E-72EA393990CA}"/>
              </a:ext>
            </a:extLst>
          </p:cNvPr>
          <p:cNvSpPr>
            <a:spLocks noGrp="1"/>
          </p:cNvSpPr>
          <p:nvPr/>
        </p:nvSpPr>
        <p:spPr>
          <a:xfrm>
            <a:off x="502920" y="3703320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DC2626"/>
                </a:solidFill>
              </a:rPr>
              <a:t>⚠ Note </a:t>
            </a:r>
            <a:r>
              <a:rPr sz="1200">
                <a:solidFill>
                  <a:srgbClr val="1E293B"/>
                </a:solidFill>
              </a:rPr>
              <a:t>Always place &lt;script&gt; at the BOTTOM of &lt;body&gt; — this ensures your HTML elements load before JS tries to use them.</a:t>
            </a:r>
            <a:endParaRPr sz="12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0D556A1-0C62-4BB4-833A-4A880F7FDE43}"/>
              </a:ext>
            </a:extLst>
          </p:cNvPr>
          <p:cNvSpPr>
            <a:spLocks noGrp="1"/>
          </p:cNvSpPr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2345BDD-D047-4195-B6CF-9AB360928090}"/>
              </a:ext>
            </a:extLst>
          </p:cNvPr>
          <p:cNvSpPr>
            <a:spLocks noGrp="1"/>
          </p:cNvSpPr>
          <p:nvPr/>
        </p:nvSpPr>
        <p:spPr>
          <a:xfrm>
            <a:off x="502920" y="4251960"/>
            <a:ext cx="81381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</a:rPr>
              <a:t>💡 Tip </a:t>
            </a:r>
            <a:r>
              <a:rPr sz="1200">
                <a:solidFill>
                  <a:srgbClr val="1E293B"/>
                </a:solidFill>
              </a:rPr>
              <a:t>External files keep code organised. Your .html and .js files must be in the same folder. Link with: &lt;script src="script.js"&gt;&lt;/script&gt;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66544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4876D35-28B1-41E6-8068-7509E2E2AE98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10EC547-6C8A-4142-9EE2-09BBBE960030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OUTPUT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DAA8430-2AC3-42C3-920E-32E77041CBEC}"/>
              </a:ext>
            </a:extLst>
          </p:cNvPr>
          <p:cNvSpPr>
            <a:spLocks noGrp="1"/>
          </p:cNvSpPr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F2440"/>
                </a:solidFill>
                <a:latin typeface="Arial Black"/>
                <a:ea typeface="Arial Black"/>
                <a:cs typeface="Arial Black"/>
              </a:rPr>
              <a:t>Displaying Output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2F95D5F-D41E-4541-8E10-52DF4C03A321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Four ways JavaScript can show something to you</a:t>
            </a:r>
            <a:endParaRPr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1AA1D3C-F65C-4A26-AAE3-8892712146A1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4023360" cy="1664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436B385-D47B-4FEF-9D45-417252D22CB5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64008" cy="16642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9D443E4-F82D-499E-BA34-74C03A4B2CF7}"/>
              </a:ext>
            </a:extLst>
          </p:cNvPr>
          <p:cNvSpPr>
            <a:spLocks noGrp="1"/>
          </p:cNvSpPr>
          <p:nvPr/>
        </p:nvSpPr>
        <p:spPr>
          <a:xfrm>
            <a:off x="548640" y="149047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F59E0B"/>
                </a:solidFill>
                <a:latin typeface="Courier New"/>
                <a:ea typeface="Courier New"/>
                <a:cs typeface="Courier New"/>
              </a:rPr>
              <a:t>alert()</a:t>
            </a:r>
            <a:endParaRPr sz="15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F437ED2-08C7-4B7E-9D63-22FFDB20589C}"/>
              </a:ext>
            </a:extLst>
          </p:cNvPr>
          <p:cNvSpPr>
            <a:spLocks noGrp="1"/>
          </p:cNvSpPr>
          <p:nvPr/>
        </p:nvSpPr>
        <p:spPr>
          <a:xfrm>
            <a:off x="548640" y="178308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Pops up a dialog box.</a:t>
            </a:r>
            <a:endParaRPr sz="1150"/>
          </a:p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Good for quick demos.</a:t>
            </a:r>
            <a:endParaRPr sz="11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12196F9-7304-4F35-B547-19E44F20DD45}"/>
              </a:ext>
            </a:extLst>
          </p:cNvPr>
          <p:cNvSpPr>
            <a:spLocks noGrp="1"/>
          </p:cNvSpPr>
          <p:nvPr/>
        </p:nvSpPr>
        <p:spPr>
          <a:xfrm>
            <a:off x="475488" y="2404872"/>
            <a:ext cx="3803904" cy="8046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87B9A3C-AE45-4608-B4E9-2D23A4523FAD}"/>
              </a:ext>
            </a:extLst>
          </p:cNvPr>
          <p:cNvSpPr>
            <a:spLocks noGrp="1"/>
          </p:cNvSpPr>
          <p:nvPr/>
        </p:nvSpPr>
        <p:spPr>
          <a:xfrm>
            <a:off x="585216" y="2496312"/>
            <a:ext cx="35844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alert("Hello World!");</a:t>
            </a:r>
            <a:endParaRPr sz="11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F777A94-1061-49FE-8172-D0573D48066A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4023360" cy="1664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68C0BDA-FDE5-4644-A4F1-FBF7FB3344FC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64008" cy="1664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2818CCD-346F-4F14-9806-10141AE2DB1B}"/>
              </a:ext>
            </a:extLst>
          </p:cNvPr>
          <p:cNvSpPr>
            <a:spLocks noGrp="1"/>
          </p:cNvSpPr>
          <p:nvPr/>
        </p:nvSpPr>
        <p:spPr>
          <a:xfrm>
            <a:off x="4937760" y="149047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console.log()</a:t>
            </a:r>
            <a:endParaRPr sz="15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462945A-633F-40FA-B672-D654C802FFE7}"/>
              </a:ext>
            </a:extLst>
          </p:cNvPr>
          <p:cNvSpPr>
            <a:spLocks noGrp="1"/>
          </p:cNvSpPr>
          <p:nvPr/>
        </p:nvSpPr>
        <p:spPr>
          <a:xfrm>
            <a:off x="4937760" y="178308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Prints to browser console (F12).</a:t>
            </a:r>
            <a:endParaRPr sz="1150"/>
          </a:p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Best for debugging.</a:t>
            </a:r>
            <a:endParaRPr sz="11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1914397-AD00-4894-8AE3-7A32B28FBAF7}"/>
              </a:ext>
            </a:extLst>
          </p:cNvPr>
          <p:cNvSpPr>
            <a:spLocks noGrp="1"/>
          </p:cNvSpPr>
          <p:nvPr/>
        </p:nvSpPr>
        <p:spPr>
          <a:xfrm>
            <a:off x="4864608" y="2404872"/>
            <a:ext cx="3803904" cy="8046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635BB33-80CF-436F-8BAD-2468EBD5D396}"/>
              </a:ext>
            </a:extLst>
          </p:cNvPr>
          <p:cNvSpPr>
            <a:spLocks noGrp="1"/>
          </p:cNvSpPr>
          <p:nvPr/>
        </p:nvSpPr>
        <p:spPr>
          <a:xfrm>
            <a:off x="4974336" y="2496312"/>
            <a:ext cx="35844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console.log("Hello!");</a:t>
            </a:r>
            <a:endParaRPr sz="11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F26402C-B77B-44D9-8BED-949EB4841B6E}"/>
              </a:ext>
            </a:extLst>
          </p:cNvPr>
          <p:cNvSpPr>
            <a:spLocks noGrp="1"/>
          </p:cNvSpPr>
          <p:nvPr/>
        </p:nvSpPr>
        <p:spPr>
          <a:xfrm>
            <a:off x="365760" y="3246120"/>
            <a:ext cx="4023360" cy="1664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4C2C650-B49F-4F6D-BCDB-9B2379F1443E}"/>
              </a:ext>
            </a:extLst>
          </p:cNvPr>
          <p:cNvSpPr>
            <a:spLocks noGrp="1"/>
          </p:cNvSpPr>
          <p:nvPr/>
        </p:nvSpPr>
        <p:spPr>
          <a:xfrm>
            <a:off x="365760" y="3246120"/>
            <a:ext cx="64008" cy="16642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66FC3B6-DBEC-41D2-AF09-059D8E1DA13D}"/>
              </a:ext>
            </a:extLst>
          </p:cNvPr>
          <p:cNvSpPr>
            <a:spLocks noGrp="1"/>
          </p:cNvSpPr>
          <p:nvPr/>
        </p:nvSpPr>
        <p:spPr>
          <a:xfrm>
            <a:off x="548640" y="331927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7C3AED"/>
                </a:solidFill>
                <a:latin typeface="Courier New"/>
                <a:ea typeface="Courier New"/>
                <a:cs typeface="Courier New"/>
              </a:rPr>
              <a:t>document.write()</a:t>
            </a:r>
            <a:endParaRPr sz="15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4C58B18-AED5-41F3-8F4A-D2342C2923DC}"/>
              </a:ext>
            </a:extLst>
          </p:cNvPr>
          <p:cNvSpPr>
            <a:spLocks noGrp="1"/>
          </p:cNvSpPr>
          <p:nvPr/>
        </p:nvSpPr>
        <p:spPr>
          <a:xfrm>
            <a:off x="548640" y="361188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Writes directly into the page.</a:t>
            </a:r>
            <a:endParaRPr sz="1150"/>
          </a:p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(Rarely used in real projects.)</a:t>
            </a:r>
            <a:endParaRPr sz="115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B1FEA3F-077B-48A4-890E-53E5B8808FF0}"/>
              </a:ext>
            </a:extLst>
          </p:cNvPr>
          <p:cNvSpPr>
            <a:spLocks noGrp="1"/>
          </p:cNvSpPr>
          <p:nvPr/>
        </p:nvSpPr>
        <p:spPr>
          <a:xfrm>
            <a:off x="475488" y="4233672"/>
            <a:ext cx="3803904" cy="8046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ECB48D9-9326-42FD-838F-B77F3FEC05B1}"/>
              </a:ext>
            </a:extLst>
          </p:cNvPr>
          <p:cNvSpPr>
            <a:spLocks noGrp="1"/>
          </p:cNvSpPr>
          <p:nvPr/>
        </p:nvSpPr>
        <p:spPr>
          <a:xfrm>
            <a:off x="585216" y="4325112"/>
            <a:ext cx="35844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document.write("Hi!");</a:t>
            </a:r>
            <a:endParaRPr sz="115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164BFC8-198C-4E73-92EF-D84717EE5E33}"/>
              </a:ext>
            </a:extLst>
          </p:cNvPr>
          <p:cNvSpPr>
            <a:spLocks noGrp="1"/>
          </p:cNvSpPr>
          <p:nvPr/>
        </p:nvSpPr>
        <p:spPr>
          <a:xfrm>
            <a:off x="4754880" y="3246120"/>
            <a:ext cx="4023360" cy="1664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6070571-3616-45B1-B507-3C792B58E1D8}"/>
              </a:ext>
            </a:extLst>
          </p:cNvPr>
          <p:cNvSpPr>
            <a:spLocks noGrp="1"/>
          </p:cNvSpPr>
          <p:nvPr/>
        </p:nvSpPr>
        <p:spPr>
          <a:xfrm>
            <a:off x="4754880" y="3246120"/>
            <a:ext cx="64008" cy="16642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B2A2D97-A99D-4903-8B4E-A3522DE678B4}"/>
              </a:ext>
            </a:extLst>
          </p:cNvPr>
          <p:cNvSpPr>
            <a:spLocks noGrp="1"/>
          </p:cNvSpPr>
          <p:nvPr/>
        </p:nvSpPr>
        <p:spPr>
          <a:xfrm>
            <a:off x="4937760" y="331927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EA580C"/>
                </a:solidFill>
                <a:latin typeface="Courier New"/>
                <a:ea typeface="Courier New"/>
                <a:cs typeface="Courier New"/>
              </a:rPr>
              <a:t>innerHTML</a:t>
            </a:r>
            <a:endParaRPr sz="15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ED62007-F339-4334-9C30-54B58EBEDFFC}"/>
              </a:ext>
            </a:extLst>
          </p:cNvPr>
          <p:cNvSpPr>
            <a:spLocks noGrp="1"/>
          </p:cNvSpPr>
          <p:nvPr/>
        </p:nvSpPr>
        <p:spPr>
          <a:xfrm>
            <a:off x="4937760" y="361188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Changes content of an HTML element.</a:t>
            </a:r>
            <a:endParaRPr sz="1150"/>
          </a:p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Most common in practice.</a:t>
            </a:r>
            <a:endParaRPr sz="115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CFD1326-11A7-4602-911D-956285BC9C7E}"/>
              </a:ext>
            </a:extLst>
          </p:cNvPr>
          <p:cNvSpPr>
            <a:spLocks noGrp="1"/>
          </p:cNvSpPr>
          <p:nvPr/>
        </p:nvSpPr>
        <p:spPr>
          <a:xfrm>
            <a:off x="4864608" y="4233672"/>
            <a:ext cx="3803904" cy="8046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0944FB3-E73E-4DCE-B281-EC2DACBD8C05}"/>
              </a:ext>
            </a:extLst>
          </p:cNvPr>
          <p:cNvSpPr>
            <a:spLocks noGrp="1"/>
          </p:cNvSpPr>
          <p:nvPr/>
        </p:nvSpPr>
        <p:spPr>
          <a:xfrm>
            <a:off x="4974336" y="4325112"/>
            <a:ext cx="35844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el.innerHTML = "Hi!";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444935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AB13E3-5318-452D-B12E-632FD71D03B5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FD8A2E6-89D2-46D8-8D24-84C7A7EDDFA4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VARIABLES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AF27EB8-DF81-4008-945B-E30E7213312F}"/>
              </a:ext>
            </a:extLst>
          </p:cNvPr>
          <p:cNvSpPr>
            <a:spLocks noGrp="1"/>
          </p:cNvSpPr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F2440"/>
                </a:solidFill>
                <a:latin typeface="Arial Black"/>
                <a:ea typeface="Arial Black"/>
                <a:cs typeface="Arial Black"/>
              </a:rPr>
              <a:t>Variables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D95AD7-4C5E-418B-8E3D-9481E1792B7A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Store data to use later — like labelled boxes</a:t>
            </a:r>
            <a:endParaRPr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718F339-25F5-4ECC-A968-10B90C375961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8412480" cy="1856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FC82DAC-E88E-4303-9751-6C131A0F529F}"/>
              </a:ext>
            </a:extLst>
          </p:cNvPr>
          <p:cNvSpPr>
            <a:spLocks noGrp="1"/>
          </p:cNvSpPr>
          <p:nvPr/>
        </p:nvSpPr>
        <p:spPr>
          <a:xfrm>
            <a:off x="475488" y="1508760"/>
            <a:ext cx="8193024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  name    = "Pranta";   // can be changed later</a:t>
            </a:r>
            <a:endParaRPr sz="1300"/>
          </a:p>
          <a:p>
            <a:pPr marL="0" indent="0">
              <a:buNone/>
            </a:pPr>
            <a:r>
              <a:rPr sz="13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const PI      = 3.14159;    // cannot be changed</a:t>
            </a:r>
            <a:endParaRPr sz="1300"/>
          </a:p>
          <a:p>
            <a:pPr marL="0" indent="0">
              <a:buNone/>
            </a:pPr>
            <a:r>
              <a:rPr sz="13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var   oldVar  = "avoid";    // old way — causes bugs, avoid it</a:t>
            </a:r>
            <a:endParaRPr sz="1300"/>
          </a:p>
          <a:p>
            <a:pPr marL="0" indent="0">
              <a:buNone/>
            </a:pPr>
            <a:endParaRPr sz="1300"/>
          </a:p>
          <a:p>
            <a:pPr marL="0" indent="0">
              <a:buNone/>
            </a:pPr>
            <a:r>
              <a:rPr sz="13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x = 10;</a:t>
            </a:r>
            <a:endParaRPr sz="1300"/>
          </a:p>
          <a:p>
            <a:pPr marL="0" indent="0">
              <a:buNone/>
            </a:pPr>
            <a:r>
              <a:rPr sz="13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x = 20;                    // OK — let allows reassignment</a:t>
            </a:r>
            <a:endParaRPr sz="13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DDC6906-9E34-4FA5-8207-7D26FDFAAD18}"/>
              </a:ext>
            </a:extLst>
          </p:cNvPr>
          <p:cNvSpPr>
            <a:spLocks noGrp="1"/>
          </p:cNvSpPr>
          <p:nvPr/>
        </p:nvSpPr>
        <p:spPr>
          <a:xfrm>
            <a:off x="365760" y="321868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795425E-521C-47F0-8CA3-E98D6866E71B}"/>
              </a:ext>
            </a:extLst>
          </p:cNvPr>
          <p:cNvSpPr>
            <a:spLocks noGrp="1"/>
          </p:cNvSpPr>
          <p:nvPr/>
        </p:nvSpPr>
        <p:spPr>
          <a:xfrm>
            <a:off x="365760" y="3218688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CC7793D-F9B0-46C3-BAD8-4AE75E032B97}"/>
              </a:ext>
            </a:extLst>
          </p:cNvPr>
          <p:cNvSpPr>
            <a:spLocks noGrp="1"/>
          </p:cNvSpPr>
          <p:nvPr/>
        </p:nvSpPr>
        <p:spPr>
          <a:xfrm>
            <a:off x="475488" y="3310128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let</a:t>
            </a:r>
            <a:endParaRPr sz="1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6051B22-6E57-4EEF-BE20-A37B8EC56F46}"/>
              </a:ext>
            </a:extLst>
          </p:cNvPr>
          <p:cNvSpPr>
            <a:spLocks noGrp="1"/>
          </p:cNvSpPr>
          <p:nvPr/>
        </p:nvSpPr>
        <p:spPr>
          <a:xfrm>
            <a:off x="475488" y="3639312"/>
            <a:ext cx="242316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Declare a variable that CAN change.</a:t>
            </a:r>
            <a:endParaRPr sz="1150"/>
          </a:p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Use this for most things.</a:t>
            </a:r>
            <a:endParaRPr sz="11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EDA98E8-CB38-4AC0-B6D7-7C28FA804631}"/>
              </a:ext>
            </a:extLst>
          </p:cNvPr>
          <p:cNvSpPr>
            <a:spLocks noGrp="1"/>
          </p:cNvSpPr>
          <p:nvPr/>
        </p:nvSpPr>
        <p:spPr>
          <a:xfrm>
            <a:off x="3200400" y="321868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D0D726B-E098-4BF6-B01E-B504B66866F5}"/>
              </a:ext>
            </a:extLst>
          </p:cNvPr>
          <p:cNvSpPr>
            <a:spLocks noGrp="1"/>
          </p:cNvSpPr>
          <p:nvPr/>
        </p:nvSpPr>
        <p:spPr>
          <a:xfrm>
            <a:off x="3200400" y="3218688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6A32456-A164-409B-876C-6EC28D7EF8B1}"/>
              </a:ext>
            </a:extLst>
          </p:cNvPr>
          <p:cNvSpPr>
            <a:spLocks noGrp="1"/>
          </p:cNvSpPr>
          <p:nvPr/>
        </p:nvSpPr>
        <p:spPr>
          <a:xfrm>
            <a:off x="3310128" y="3310128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59E0B"/>
                </a:solidFill>
                <a:latin typeface="Courier New"/>
                <a:ea typeface="Courier New"/>
                <a:cs typeface="Courier New"/>
              </a:rPr>
              <a:t>const</a:t>
            </a:r>
            <a:endParaRPr sz="18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EC2EF7B-9AFE-4475-8DA6-B21FB5C5D437}"/>
              </a:ext>
            </a:extLst>
          </p:cNvPr>
          <p:cNvSpPr>
            <a:spLocks noGrp="1"/>
          </p:cNvSpPr>
          <p:nvPr/>
        </p:nvSpPr>
        <p:spPr>
          <a:xfrm>
            <a:off x="3310128" y="3639312"/>
            <a:ext cx="242316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Declare a constant that CANNOT change.</a:t>
            </a:r>
            <a:endParaRPr sz="1150"/>
          </a:p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Use this for fixed values like PI.</a:t>
            </a:r>
            <a:endParaRPr sz="11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7C0E875-20AE-4586-9BED-F2D71599FAF4}"/>
              </a:ext>
            </a:extLst>
          </p:cNvPr>
          <p:cNvSpPr>
            <a:spLocks noGrp="1"/>
          </p:cNvSpPr>
          <p:nvPr/>
        </p:nvSpPr>
        <p:spPr>
          <a:xfrm>
            <a:off x="6035040" y="321868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C5C84F5-0703-4F4F-B8E1-CA343DEA8B34}"/>
              </a:ext>
            </a:extLst>
          </p:cNvPr>
          <p:cNvSpPr>
            <a:spLocks noGrp="1"/>
          </p:cNvSpPr>
          <p:nvPr/>
        </p:nvSpPr>
        <p:spPr>
          <a:xfrm>
            <a:off x="6035040" y="3218688"/>
            <a:ext cx="26517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BE1E5E0-0B95-42D3-A33B-6EECBC9B1A61}"/>
              </a:ext>
            </a:extLst>
          </p:cNvPr>
          <p:cNvSpPr>
            <a:spLocks noGrp="1"/>
          </p:cNvSpPr>
          <p:nvPr/>
        </p:nvSpPr>
        <p:spPr>
          <a:xfrm>
            <a:off x="6144768" y="3310128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DC2626"/>
                </a:solidFill>
                <a:latin typeface="Courier New"/>
                <a:ea typeface="Courier New"/>
                <a:cs typeface="Courier New"/>
              </a:rPr>
              <a:t>var</a:t>
            </a:r>
            <a:endParaRPr sz="18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9C86A8A-B6F7-4313-9E7D-65B590BF26F6}"/>
              </a:ext>
            </a:extLst>
          </p:cNvPr>
          <p:cNvSpPr>
            <a:spLocks noGrp="1"/>
          </p:cNvSpPr>
          <p:nvPr/>
        </p:nvSpPr>
        <p:spPr>
          <a:xfrm>
            <a:off x="6144768" y="3639312"/>
            <a:ext cx="242316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Old-style declaration. Avoid it —</a:t>
            </a:r>
            <a:endParaRPr sz="1150"/>
          </a:p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it causes scoping bugs.</a:t>
            </a:r>
            <a:endParaRPr sz="11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1893FCD-F736-464B-B019-A213182955C1}"/>
              </a:ext>
            </a:extLst>
          </p:cNvPr>
          <p:cNvSpPr>
            <a:spLocks noGrp="1"/>
          </p:cNvSpPr>
          <p:nvPr/>
        </p:nvSpPr>
        <p:spPr>
          <a:xfrm>
            <a:off x="365760" y="4727448"/>
            <a:ext cx="8412480" cy="29260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280D427-532E-44C2-99B2-AC92088A76ED}"/>
              </a:ext>
            </a:extLst>
          </p:cNvPr>
          <p:cNvSpPr>
            <a:spLocks noGrp="1"/>
          </p:cNvSpPr>
          <p:nvPr/>
        </p:nvSpPr>
        <p:spPr>
          <a:xfrm>
            <a:off x="502920" y="4727448"/>
            <a:ext cx="81381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</a:rPr>
              <a:t>💡 Tip </a:t>
            </a:r>
            <a:r>
              <a:rPr sz="1200">
                <a:solidFill>
                  <a:srgbClr val="1E293B"/>
                </a:solidFill>
              </a:rPr>
              <a:t>Rule of thumb: always use const first. If you need to change the value later, switch to let.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901039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8BC562-7925-4377-AC98-151B2EA41357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BD871C-F5D8-4AEE-AF7E-D1B893C351E6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DATA TYPES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EAE5313-8869-4883-8E99-4ED1CA63EC02}"/>
              </a:ext>
            </a:extLst>
          </p:cNvPr>
          <p:cNvSpPr>
            <a:spLocks noGrp="1"/>
          </p:cNvSpPr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F2440"/>
                </a:solidFill>
                <a:latin typeface="Arial Black"/>
                <a:ea typeface="Arial Black"/>
                <a:cs typeface="Arial Black"/>
              </a:rPr>
              <a:t>Data Types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50C1FC7-D502-48E7-BCA5-EDBB07CD4159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JavaScript has 8 types — here are the 5 you'll use most</a:t>
            </a:r>
            <a:endParaRPr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BE9EFC9-C930-4796-AECE-2D2CD2945A48}"/>
              </a:ext>
            </a:extLst>
          </p:cNvPr>
          <p:cNvSpPr>
            <a:spLocks noGrp="1"/>
          </p:cNvSpPr>
          <p:nvPr/>
        </p:nvSpPr>
        <p:spPr>
          <a:xfrm>
            <a:off x="365760" y="1444752"/>
            <a:ext cx="26517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B36CA9C-D0ED-40C2-9EC3-210F8EB98800}"/>
              </a:ext>
            </a:extLst>
          </p:cNvPr>
          <p:cNvSpPr>
            <a:spLocks noGrp="1"/>
          </p:cNvSpPr>
          <p:nvPr/>
        </p:nvSpPr>
        <p:spPr>
          <a:xfrm>
            <a:off x="365760" y="1444752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0D1B65F-3AC3-46C2-9836-3FFD481C90D8}"/>
              </a:ext>
            </a:extLst>
          </p:cNvPr>
          <p:cNvSpPr>
            <a:spLocks noGrp="1"/>
          </p:cNvSpPr>
          <p:nvPr/>
        </p:nvSpPr>
        <p:spPr>
          <a:xfrm>
            <a:off x="475488" y="1536192"/>
            <a:ext cx="243230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0D9488"/>
                </a:solidFill>
              </a:rPr>
              <a:t>String</a:t>
            </a:r>
            <a:endParaRPr sz="15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C1276BC-7437-48BC-A59B-000B127CF662}"/>
              </a:ext>
            </a:extLst>
          </p:cNvPr>
          <p:cNvSpPr>
            <a:spLocks noGrp="1"/>
          </p:cNvSpPr>
          <p:nvPr/>
        </p:nvSpPr>
        <p:spPr>
          <a:xfrm>
            <a:off x="475488" y="1828800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Text — always in quotes</a:t>
            </a:r>
            <a:endParaRPr sz="11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C6ABAB1-D163-4EFC-BB00-A258AD6976D7}"/>
              </a:ext>
            </a:extLst>
          </p:cNvPr>
          <p:cNvSpPr>
            <a:spLocks noGrp="1"/>
          </p:cNvSpPr>
          <p:nvPr/>
        </p:nvSpPr>
        <p:spPr>
          <a:xfrm>
            <a:off x="475488" y="2194560"/>
            <a:ext cx="2432304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0F2440"/>
                </a:solidFill>
                <a:latin typeface="Courier New"/>
                <a:ea typeface="Courier New"/>
                <a:cs typeface="Courier New"/>
              </a:rPr>
              <a:t>"Hello"  "UIU"  "42"</a:t>
            </a:r>
            <a:endParaRPr sz="11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44C402B-10F5-48DB-870B-84FC7976FDD7}"/>
              </a:ext>
            </a:extLst>
          </p:cNvPr>
          <p:cNvSpPr>
            <a:spLocks noGrp="1"/>
          </p:cNvSpPr>
          <p:nvPr/>
        </p:nvSpPr>
        <p:spPr>
          <a:xfrm>
            <a:off x="3291840" y="1444752"/>
            <a:ext cx="26517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2223817-279B-4BBA-BD2C-84183F18B575}"/>
              </a:ext>
            </a:extLst>
          </p:cNvPr>
          <p:cNvSpPr>
            <a:spLocks noGrp="1"/>
          </p:cNvSpPr>
          <p:nvPr/>
        </p:nvSpPr>
        <p:spPr>
          <a:xfrm>
            <a:off x="3291840" y="1444752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00A9061-DA77-4720-A6FE-84E38AC70618}"/>
              </a:ext>
            </a:extLst>
          </p:cNvPr>
          <p:cNvSpPr>
            <a:spLocks noGrp="1"/>
          </p:cNvSpPr>
          <p:nvPr/>
        </p:nvSpPr>
        <p:spPr>
          <a:xfrm>
            <a:off x="3401568" y="1536192"/>
            <a:ext cx="243230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F59E0B"/>
                </a:solidFill>
              </a:rPr>
              <a:t>Number</a:t>
            </a:r>
            <a:endParaRPr sz="15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053B980-C780-460B-928A-4DAF513F2F08}"/>
              </a:ext>
            </a:extLst>
          </p:cNvPr>
          <p:cNvSpPr>
            <a:spLocks noGrp="1"/>
          </p:cNvSpPr>
          <p:nvPr/>
        </p:nvSpPr>
        <p:spPr>
          <a:xfrm>
            <a:off x="3401568" y="1828800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Numbers (integers &amp; decimals)</a:t>
            </a:r>
            <a:endParaRPr sz="11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86BB9ED-CFC0-45BB-8E71-7DEF4845EAE6}"/>
              </a:ext>
            </a:extLst>
          </p:cNvPr>
          <p:cNvSpPr>
            <a:spLocks noGrp="1"/>
          </p:cNvSpPr>
          <p:nvPr/>
        </p:nvSpPr>
        <p:spPr>
          <a:xfrm>
            <a:off x="3401568" y="2194560"/>
            <a:ext cx="2432304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0F2440"/>
                </a:solidFill>
                <a:latin typeface="Courier New"/>
                <a:ea typeface="Courier New"/>
                <a:cs typeface="Courier New"/>
              </a:rPr>
              <a:t>42   3.14   -100</a:t>
            </a:r>
            <a:endParaRPr sz="11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3EE87E8-DCCF-42E3-A467-E13DC1BCB0D7}"/>
              </a:ext>
            </a:extLst>
          </p:cNvPr>
          <p:cNvSpPr>
            <a:spLocks noGrp="1"/>
          </p:cNvSpPr>
          <p:nvPr/>
        </p:nvSpPr>
        <p:spPr>
          <a:xfrm>
            <a:off x="6217920" y="1444752"/>
            <a:ext cx="26517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8F5B396-4B91-4F99-AE08-AF572145DE56}"/>
              </a:ext>
            </a:extLst>
          </p:cNvPr>
          <p:cNvSpPr>
            <a:spLocks noGrp="1"/>
          </p:cNvSpPr>
          <p:nvPr/>
        </p:nvSpPr>
        <p:spPr>
          <a:xfrm>
            <a:off x="6217920" y="1444752"/>
            <a:ext cx="265176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875C6E0-C5DD-4596-AEC1-8866366CDD96}"/>
              </a:ext>
            </a:extLst>
          </p:cNvPr>
          <p:cNvSpPr>
            <a:spLocks noGrp="1"/>
          </p:cNvSpPr>
          <p:nvPr/>
        </p:nvSpPr>
        <p:spPr>
          <a:xfrm>
            <a:off x="6327648" y="1536192"/>
            <a:ext cx="243230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6A34A"/>
                </a:solidFill>
              </a:rPr>
              <a:t>Boolean</a:t>
            </a:r>
            <a:endParaRPr sz="15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4798DD1-0DE3-4553-BF1C-DEDAE2887E45}"/>
              </a:ext>
            </a:extLst>
          </p:cNvPr>
          <p:cNvSpPr>
            <a:spLocks noGrp="1"/>
          </p:cNvSpPr>
          <p:nvPr/>
        </p:nvSpPr>
        <p:spPr>
          <a:xfrm>
            <a:off x="6327648" y="1828800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Yes/No, On/Off values</a:t>
            </a:r>
            <a:endParaRPr sz="11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17B838E-0EAC-4376-9857-F71BB73879C0}"/>
              </a:ext>
            </a:extLst>
          </p:cNvPr>
          <p:cNvSpPr>
            <a:spLocks noGrp="1"/>
          </p:cNvSpPr>
          <p:nvPr/>
        </p:nvSpPr>
        <p:spPr>
          <a:xfrm>
            <a:off x="6327648" y="2194560"/>
            <a:ext cx="2432304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0F2440"/>
                </a:solidFill>
                <a:latin typeface="Courier New"/>
                <a:ea typeface="Courier New"/>
                <a:cs typeface="Courier New"/>
              </a:rPr>
              <a:t>true   false</a:t>
            </a:r>
            <a:endParaRPr sz="11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D61FD96-55F1-46AB-B431-1E522A843002}"/>
              </a:ext>
            </a:extLst>
          </p:cNvPr>
          <p:cNvSpPr>
            <a:spLocks noGrp="1"/>
          </p:cNvSpPr>
          <p:nvPr/>
        </p:nvSpPr>
        <p:spPr>
          <a:xfrm>
            <a:off x="365760" y="3246120"/>
            <a:ext cx="26517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DDD3610-FB03-4B03-9A05-4293C8A70A5E}"/>
              </a:ext>
            </a:extLst>
          </p:cNvPr>
          <p:cNvSpPr>
            <a:spLocks noGrp="1"/>
          </p:cNvSpPr>
          <p:nvPr/>
        </p:nvSpPr>
        <p:spPr>
          <a:xfrm>
            <a:off x="365760" y="3246120"/>
            <a:ext cx="265176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ADB2F2A-5DC2-4F14-915B-77F9B0FE2142}"/>
              </a:ext>
            </a:extLst>
          </p:cNvPr>
          <p:cNvSpPr>
            <a:spLocks noGrp="1"/>
          </p:cNvSpPr>
          <p:nvPr/>
        </p:nvSpPr>
        <p:spPr>
          <a:xfrm>
            <a:off x="475488" y="3337560"/>
            <a:ext cx="243230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64748B"/>
                </a:solidFill>
              </a:rPr>
              <a:t>Undefined</a:t>
            </a:r>
            <a:endParaRPr sz="15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CAFC89B-724A-4448-B3A0-0DE46567DDB3}"/>
              </a:ext>
            </a:extLst>
          </p:cNvPr>
          <p:cNvSpPr>
            <a:spLocks noGrp="1"/>
          </p:cNvSpPr>
          <p:nvPr/>
        </p:nvSpPr>
        <p:spPr>
          <a:xfrm>
            <a:off x="475488" y="3630168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Declared but not assigned</a:t>
            </a:r>
            <a:endParaRPr sz="11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F4AE743-98C8-4D76-9A3A-6DD986CD0432}"/>
              </a:ext>
            </a:extLst>
          </p:cNvPr>
          <p:cNvSpPr>
            <a:spLocks noGrp="1"/>
          </p:cNvSpPr>
          <p:nvPr/>
        </p:nvSpPr>
        <p:spPr>
          <a:xfrm>
            <a:off x="475488" y="3995928"/>
            <a:ext cx="2432304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0F2440"/>
                </a:solidFill>
                <a:latin typeface="Courier New"/>
                <a:ea typeface="Courier New"/>
                <a:cs typeface="Courier New"/>
              </a:rPr>
              <a:t>let x;  → undefined</a:t>
            </a:r>
            <a:endParaRPr sz="11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5CDB355-3B22-4EB5-AE6C-191DEDFE0FF9}"/>
              </a:ext>
            </a:extLst>
          </p:cNvPr>
          <p:cNvSpPr>
            <a:spLocks noGrp="1"/>
          </p:cNvSpPr>
          <p:nvPr/>
        </p:nvSpPr>
        <p:spPr>
          <a:xfrm>
            <a:off x="3291840" y="3246120"/>
            <a:ext cx="26517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DED9BFC-A8FD-4FE7-8144-C0C56E33104F}"/>
              </a:ext>
            </a:extLst>
          </p:cNvPr>
          <p:cNvSpPr>
            <a:spLocks noGrp="1"/>
          </p:cNvSpPr>
          <p:nvPr/>
        </p:nvSpPr>
        <p:spPr>
          <a:xfrm>
            <a:off x="3291840" y="3246120"/>
            <a:ext cx="26517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CBA0DEF-974D-4017-AF11-280BCEEE71C4}"/>
              </a:ext>
            </a:extLst>
          </p:cNvPr>
          <p:cNvSpPr>
            <a:spLocks noGrp="1"/>
          </p:cNvSpPr>
          <p:nvPr/>
        </p:nvSpPr>
        <p:spPr>
          <a:xfrm>
            <a:off x="3401568" y="3337560"/>
            <a:ext cx="243230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DC2626"/>
                </a:solidFill>
              </a:rPr>
              <a:t>Null</a:t>
            </a:r>
            <a:endParaRPr sz="15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39E323C-920A-40B8-977B-CDF2C34F8B56}"/>
              </a:ext>
            </a:extLst>
          </p:cNvPr>
          <p:cNvSpPr>
            <a:spLocks noGrp="1"/>
          </p:cNvSpPr>
          <p:nvPr/>
        </p:nvSpPr>
        <p:spPr>
          <a:xfrm>
            <a:off x="3401568" y="3630168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Intentionally empty value</a:t>
            </a:r>
            <a:endParaRPr sz="11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561DA02-5B00-4CE4-981F-159ACA909BFF}"/>
              </a:ext>
            </a:extLst>
          </p:cNvPr>
          <p:cNvSpPr>
            <a:spLocks noGrp="1"/>
          </p:cNvSpPr>
          <p:nvPr/>
        </p:nvSpPr>
        <p:spPr>
          <a:xfrm>
            <a:off x="3401568" y="3995928"/>
            <a:ext cx="2432304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0F2440"/>
                </a:solidFill>
                <a:latin typeface="Courier New"/>
                <a:ea typeface="Courier New"/>
                <a:cs typeface="Courier New"/>
              </a:rPr>
              <a:t>let x = null;</a:t>
            </a:r>
            <a:endParaRPr sz="110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2F5761DB-552A-4C67-902A-6CABB795DF0B}"/>
              </a:ext>
            </a:extLst>
          </p:cNvPr>
          <p:cNvSpPr>
            <a:spLocks noGrp="1"/>
          </p:cNvSpPr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E4D9EBC-7387-41EC-8410-DF48315B33BA}"/>
              </a:ext>
            </a:extLst>
          </p:cNvPr>
          <p:cNvSpPr>
            <a:spLocks noGrp="1"/>
          </p:cNvSpPr>
          <p:nvPr/>
        </p:nvSpPr>
        <p:spPr>
          <a:xfrm>
            <a:off x="502920" y="4773168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7C3AED"/>
                </a:solidFill>
              </a:rPr>
              <a:t>📌 Info </a:t>
            </a:r>
            <a:r>
              <a:rPr sz="1200">
                <a:solidFill>
                  <a:srgbClr val="1E293B"/>
                </a:solidFill>
              </a:rPr>
              <a:t>typeof "hello" → "string"   typeof 42 → "number"   typeof true → "boolean"  (use typeof to check)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8749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4AE451-FC85-4B46-9EA9-AC5321A11B83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5EF556-92DE-4F36-8101-34B87679E1A6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OPERATORS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3B56A01-CD09-4858-BBEA-74C69C5EC67B}"/>
              </a:ext>
            </a:extLst>
          </p:cNvPr>
          <p:cNvSpPr>
            <a:spLocks noGrp="1"/>
          </p:cNvSpPr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F2440"/>
                </a:solidFill>
                <a:latin typeface="Arial Black"/>
                <a:ea typeface="Arial Black"/>
                <a:cs typeface="Arial Black"/>
              </a:rPr>
              <a:t>Operators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A36D802-53ED-420C-8D65-C33BC5E757D8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Perform operations on values</a:t>
            </a:r>
            <a:endParaRPr sz="13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61878CE-BBD8-42A0-B2FB-D02A09770F45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F2440"/>
                </a:solidFill>
              </a:rPr>
              <a:t>Arithmetic</a:t>
            </a:r>
            <a:endParaRPr sz="14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21A8D0D-9FDF-4758-B6FE-A8B5376BBD6A}"/>
              </a:ext>
            </a:extLst>
          </p:cNvPr>
          <p:cNvSpPr>
            <a:spLocks noGrp="1"/>
          </p:cNvSpPr>
          <p:nvPr/>
        </p:nvSpPr>
        <p:spPr>
          <a:xfrm>
            <a:off x="365760" y="173736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93AD320-41BF-4032-BB09-F20B60EB0818}"/>
              </a:ext>
            </a:extLst>
          </p:cNvPr>
          <p:cNvSpPr>
            <a:spLocks noGrp="1"/>
          </p:cNvSpPr>
          <p:nvPr/>
        </p:nvSpPr>
        <p:spPr>
          <a:xfrm>
            <a:off x="457200" y="173736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+</a:t>
            </a:r>
            <a:endParaRPr sz="15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149B9DB-2478-40F1-9D89-1703B0A9A44F}"/>
              </a:ext>
            </a:extLst>
          </p:cNvPr>
          <p:cNvSpPr>
            <a:spLocks noGrp="1"/>
          </p:cNvSpPr>
          <p:nvPr/>
        </p:nvSpPr>
        <p:spPr>
          <a:xfrm>
            <a:off x="914400" y="173736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1E293B"/>
                </a:solidFill>
              </a:rPr>
              <a:t>Addition</a:t>
            </a:r>
            <a:endParaRPr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0AD0DA7-F5D4-4393-9981-865494802143}"/>
              </a:ext>
            </a:extLst>
          </p:cNvPr>
          <p:cNvSpPr>
            <a:spLocks noGrp="1"/>
          </p:cNvSpPr>
          <p:nvPr/>
        </p:nvSpPr>
        <p:spPr>
          <a:xfrm>
            <a:off x="2697480" y="173736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5 + 3  →  8</a:t>
            </a:r>
            <a:endParaRPr sz="11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38983E4-BA32-485E-A19A-48A7E20B4059}"/>
              </a:ext>
            </a:extLst>
          </p:cNvPr>
          <p:cNvSpPr>
            <a:spLocks noGrp="1"/>
          </p:cNvSpPr>
          <p:nvPr/>
        </p:nvSpPr>
        <p:spPr>
          <a:xfrm>
            <a:off x="365760" y="2212848"/>
            <a:ext cx="39319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3BB24EF-BC88-463A-9BCF-5B8CC401A18B}"/>
              </a:ext>
            </a:extLst>
          </p:cNvPr>
          <p:cNvSpPr>
            <a:spLocks noGrp="1"/>
          </p:cNvSpPr>
          <p:nvPr/>
        </p:nvSpPr>
        <p:spPr>
          <a:xfrm>
            <a:off x="457200" y="2212848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-</a:t>
            </a:r>
            <a:endParaRPr sz="15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AF53003-34EB-4F58-8D30-84E428755105}"/>
              </a:ext>
            </a:extLst>
          </p:cNvPr>
          <p:cNvSpPr>
            <a:spLocks noGrp="1"/>
          </p:cNvSpPr>
          <p:nvPr/>
        </p:nvSpPr>
        <p:spPr>
          <a:xfrm>
            <a:off x="914400" y="221284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1E293B"/>
                </a:solidFill>
              </a:rPr>
              <a:t>Subtraction</a:t>
            </a:r>
            <a:endParaRPr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C933B40-2DC2-4590-BFBB-E6538752DC38}"/>
              </a:ext>
            </a:extLst>
          </p:cNvPr>
          <p:cNvSpPr>
            <a:spLocks noGrp="1"/>
          </p:cNvSpPr>
          <p:nvPr/>
        </p:nvSpPr>
        <p:spPr>
          <a:xfrm>
            <a:off x="2697480" y="2212848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10 - 4  →  6</a:t>
            </a:r>
            <a:endParaRPr sz="11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1AFADCE-D853-4BA9-9EFA-072356E42CF4}"/>
              </a:ext>
            </a:extLst>
          </p:cNvPr>
          <p:cNvSpPr>
            <a:spLocks noGrp="1"/>
          </p:cNvSpPr>
          <p:nvPr/>
        </p:nvSpPr>
        <p:spPr>
          <a:xfrm>
            <a:off x="365760" y="2688336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159354D-59D1-4B51-97C6-198EFBFFDCC1}"/>
              </a:ext>
            </a:extLst>
          </p:cNvPr>
          <p:cNvSpPr>
            <a:spLocks noGrp="1"/>
          </p:cNvSpPr>
          <p:nvPr/>
        </p:nvSpPr>
        <p:spPr>
          <a:xfrm>
            <a:off x="457200" y="2688336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*</a:t>
            </a:r>
            <a:endParaRPr sz="15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57EB688-B079-410A-92CF-AF6B8DBC1CF0}"/>
              </a:ext>
            </a:extLst>
          </p:cNvPr>
          <p:cNvSpPr>
            <a:spLocks noGrp="1"/>
          </p:cNvSpPr>
          <p:nvPr/>
        </p:nvSpPr>
        <p:spPr>
          <a:xfrm>
            <a:off x="914400" y="2688336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1E293B"/>
                </a:solidFill>
              </a:rPr>
              <a:t>Multiplication</a:t>
            </a:r>
            <a:endParaRPr sz="12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41CD29F-8587-430C-95E9-6BA7AB9127B3}"/>
              </a:ext>
            </a:extLst>
          </p:cNvPr>
          <p:cNvSpPr>
            <a:spLocks noGrp="1"/>
          </p:cNvSpPr>
          <p:nvPr/>
        </p:nvSpPr>
        <p:spPr>
          <a:xfrm>
            <a:off x="2697480" y="2688336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3 * 4  →  12</a:t>
            </a:r>
            <a:endParaRPr sz="11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10744D6-38A1-45E5-89D2-E302BA639F03}"/>
              </a:ext>
            </a:extLst>
          </p:cNvPr>
          <p:cNvSpPr>
            <a:spLocks noGrp="1"/>
          </p:cNvSpPr>
          <p:nvPr/>
        </p:nvSpPr>
        <p:spPr>
          <a:xfrm>
            <a:off x="365760" y="3163824"/>
            <a:ext cx="39319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492171C-1FA8-4D7B-BEF7-A3B19DBD45E2}"/>
              </a:ext>
            </a:extLst>
          </p:cNvPr>
          <p:cNvSpPr>
            <a:spLocks noGrp="1"/>
          </p:cNvSpPr>
          <p:nvPr/>
        </p:nvSpPr>
        <p:spPr>
          <a:xfrm>
            <a:off x="457200" y="3163824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/</a:t>
            </a:r>
            <a:endParaRPr sz="15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C17394F-337F-476F-8EC3-47778ADE8B26}"/>
              </a:ext>
            </a:extLst>
          </p:cNvPr>
          <p:cNvSpPr>
            <a:spLocks noGrp="1"/>
          </p:cNvSpPr>
          <p:nvPr/>
        </p:nvSpPr>
        <p:spPr>
          <a:xfrm>
            <a:off x="914400" y="3163824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1E293B"/>
                </a:solidFill>
              </a:rPr>
              <a:t>Division</a:t>
            </a:r>
            <a:endParaRPr sz="12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FE172D8-2BE7-4165-B863-64E2F12E3CB9}"/>
              </a:ext>
            </a:extLst>
          </p:cNvPr>
          <p:cNvSpPr>
            <a:spLocks noGrp="1"/>
          </p:cNvSpPr>
          <p:nvPr/>
        </p:nvSpPr>
        <p:spPr>
          <a:xfrm>
            <a:off x="2697480" y="3163824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15 / 3  →  5</a:t>
            </a:r>
            <a:endParaRPr sz="11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A857B9A-EBDF-48B9-8EE9-FFD77160444A}"/>
              </a:ext>
            </a:extLst>
          </p:cNvPr>
          <p:cNvSpPr>
            <a:spLocks noGrp="1"/>
          </p:cNvSpPr>
          <p:nvPr/>
        </p:nvSpPr>
        <p:spPr>
          <a:xfrm>
            <a:off x="365760" y="3639312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BDDF87C-DB47-4381-854B-61817D21EF64}"/>
              </a:ext>
            </a:extLst>
          </p:cNvPr>
          <p:cNvSpPr>
            <a:spLocks noGrp="1"/>
          </p:cNvSpPr>
          <p:nvPr/>
        </p:nvSpPr>
        <p:spPr>
          <a:xfrm>
            <a:off x="457200" y="3639312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%</a:t>
            </a:r>
            <a:endParaRPr sz="15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90C9F58-A843-4EED-8395-8FAE07D64E0E}"/>
              </a:ext>
            </a:extLst>
          </p:cNvPr>
          <p:cNvSpPr>
            <a:spLocks noGrp="1"/>
          </p:cNvSpPr>
          <p:nvPr/>
        </p:nvSpPr>
        <p:spPr>
          <a:xfrm>
            <a:off x="914400" y="3639312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1E293B"/>
                </a:solidFill>
              </a:rPr>
              <a:t>Remainder (modulus)</a:t>
            </a:r>
            <a:endParaRPr sz="12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6EF05B9-5DBA-4E42-AD16-DF9E55A7E710}"/>
              </a:ext>
            </a:extLst>
          </p:cNvPr>
          <p:cNvSpPr>
            <a:spLocks noGrp="1"/>
          </p:cNvSpPr>
          <p:nvPr/>
        </p:nvSpPr>
        <p:spPr>
          <a:xfrm>
            <a:off x="2697480" y="3639312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10 % 3  →  1</a:t>
            </a:r>
            <a:endParaRPr sz="110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5D8D9F02-97E1-4FF5-BF69-33747CD8607F}"/>
              </a:ext>
            </a:extLst>
          </p:cNvPr>
          <p:cNvSpPr>
            <a:spLocks noGrp="1"/>
          </p:cNvSpPr>
          <p:nvPr/>
        </p:nvSpPr>
        <p:spPr>
          <a:xfrm>
            <a:off x="365760" y="4114800"/>
            <a:ext cx="39319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E31604F-6D87-4816-91E2-D697841BB2DA}"/>
              </a:ext>
            </a:extLst>
          </p:cNvPr>
          <p:cNvSpPr>
            <a:spLocks noGrp="1"/>
          </p:cNvSpPr>
          <p:nvPr/>
        </p:nvSpPr>
        <p:spPr>
          <a:xfrm>
            <a:off x="457200" y="411480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**</a:t>
            </a:r>
            <a:endParaRPr sz="15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98F2E36-D5FC-44F2-85F9-F072B97E02F8}"/>
              </a:ext>
            </a:extLst>
          </p:cNvPr>
          <p:cNvSpPr>
            <a:spLocks noGrp="1"/>
          </p:cNvSpPr>
          <p:nvPr/>
        </p:nvSpPr>
        <p:spPr>
          <a:xfrm>
            <a:off x="914400" y="41148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1E293B"/>
                </a:solidFill>
              </a:rPr>
              <a:t>Exponent (power)</a:t>
            </a:r>
            <a:endParaRPr sz="12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747E81E-8203-49D8-8091-A33330DAC7A6}"/>
              </a:ext>
            </a:extLst>
          </p:cNvPr>
          <p:cNvSpPr>
            <a:spLocks noGrp="1"/>
          </p:cNvSpPr>
          <p:nvPr/>
        </p:nvSpPr>
        <p:spPr>
          <a:xfrm>
            <a:off x="2697480" y="411480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2 ** 3  →  8</a:t>
            </a:r>
            <a:endParaRPr sz="11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63D9015-FC42-4C48-A583-16C5CE0B4880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F2440"/>
                </a:solidFill>
              </a:rPr>
              <a:t>Comparison</a:t>
            </a:r>
            <a:endParaRPr sz="140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C70E3644-9DE7-47E4-A789-AEEAAE4B9397}"/>
              </a:ext>
            </a:extLst>
          </p:cNvPr>
          <p:cNvSpPr>
            <a:spLocks noGrp="1"/>
          </p:cNvSpPr>
          <p:nvPr/>
        </p:nvSpPr>
        <p:spPr>
          <a:xfrm>
            <a:off x="4754880" y="173736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BEF0F35-40ED-40AF-A30D-6D15BDC27322}"/>
              </a:ext>
            </a:extLst>
          </p:cNvPr>
          <p:cNvSpPr>
            <a:spLocks noGrp="1"/>
          </p:cNvSpPr>
          <p:nvPr/>
        </p:nvSpPr>
        <p:spPr>
          <a:xfrm>
            <a:off x="4846320" y="173736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===</a:t>
            </a:r>
            <a:endParaRPr sz="13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5196086-BD84-4DEF-8590-96A7EDC9D468}"/>
              </a:ext>
            </a:extLst>
          </p:cNvPr>
          <p:cNvSpPr>
            <a:spLocks noGrp="1"/>
          </p:cNvSpPr>
          <p:nvPr/>
        </p:nvSpPr>
        <p:spPr>
          <a:xfrm>
            <a:off x="6080760" y="173736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1E293B"/>
                </a:solidFill>
              </a:rPr>
              <a:t>Strictly equal</a:t>
            </a:r>
            <a:endParaRPr sz="120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7691393-74FE-46AB-9A20-B6C6822858B9}"/>
              </a:ext>
            </a:extLst>
          </p:cNvPr>
          <p:cNvSpPr>
            <a:spLocks noGrp="1"/>
          </p:cNvSpPr>
          <p:nvPr/>
        </p:nvSpPr>
        <p:spPr>
          <a:xfrm>
            <a:off x="4754880" y="2212848"/>
            <a:ext cx="40233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C9C7725C-E2FD-49B0-9FBD-1DE0ED224D3A}"/>
              </a:ext>
            </a:extLst>
          </p:cNvPr>
          <p:cNvSpPr>
            <a:spLocks noGrp="1"/>
          </p:cNvSpPr>
          <p:nvPr/>
        </p:nvSpPr>
        <p:spPr>
          <a:xfrm>
            <a:off x="4846320" y="2212848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!==</a:t>
            </a:r>
            <a:endParaRPr sz="130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3D4CE081-1EE9-4714-80C8-E224172F7F82}"/>
              </a:ext>
            </a:extLst>
          </p:cNvPr>
          <p:cNvSpPr>
            <a:spLocks noGrp="1"/>
          </p:cNvSpPr>
          <p:nvPr/>
        </p:nvSpPr>
        <p:spPr>
          <a:xfrm>
            <a:off x="6080760" y="221284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1E293B"/>
                </a:solidFill>
              </a:rPr>
              <a:t>Not equal</a:t>
            </a:r>
            <a:endParaRPr sz="120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42A8DA3A-7041-4D55-80EC-CA814793C7E5}"/>
              </a:ext>
            </a:extLst>
          </p:cNvPr>
          <p:cNvSpPr>
            <a:spLocks noGrp="1"/>
          </p:cNvSpPr>
          <p:nvPr/>
        </p:nvSpPr>
        <p:spPr>
          <a:xfrm>
            <a:off x="4754880" y="2688336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C4BFABBA-A602-41B2-8B6B-FE6E78FC94B3}"/>
              </a:ext>
            </a:extLst>
          </p:cNvPr>
          <p:cNvSpPr>
            <a:spLocks noGrp="1"/>
          </p:cNvSpPr>
          <p:nvPr/>
        </p:nvSpPr>
        <p:spPr>
          <a:xfrm>
            <a:off x="4846320" y="2688336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&lt;  /  &gt;</a:t>
            </a:r>
            <a:endParaRPr sz="130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4896274E-63E3-4E92-9C8C-919D64627AA7}"/>
              </a:ext>
            </a:extLst>
          </p:cNvPr>
          <p:cNvSpPr>
            <a:spLocks noGrp="1"/>
          </p:cNvSpPr>
          <p:nvPr/>
        </p:nvSpPr>
        <p:spPr>
          <a:xfrm>
            <a:off x="6080760" y="2688336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1E293B"/>
                </a:solidFill>
              </a:rPr>
              <a:t>Less / greater than</a:t>
            </a:r>
            <a:endParaRPr sz="120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AF43CA5C-DA08-4F6A-8D3F-BA1F99F65399}"/>
              </a:ext>
            </a:extLst>
          </p:cNvPr>
          <p:cNvSpPr>
            <a:spLocks noGrp="1"/>
          </p:cNvSpPr>
          <p:nvPr/>
        </p:nvSpPr>
        <p:spPr>
          <a:xfrm>
            <a:off x="4754880" y="3163824"/>
            <a:ext cx="40233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3A48D13F-38E6-436A-9ED0-1365573C09F7}"/>
              </a:ext>
            </a:extLst>
          </p:cNvPr>
          <p:cNvSpPr>
            <a:spLocks noGrp="1"/>
          </p:cNvSpPr>
          <p:nvPr/>
        </p:nvSpPr>
        <p:spPr>
          <a:xfrm>
            <a:off x="4846320" y="3163824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&lt;=  /  &gt;=</a:t>
            </a:r>
            <a:endParaRPr sz="130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260D6252-0F7E-42D7-842E-726346A913D3}"/>
              </a:ext>
            </a:extLst>
          </p:cNvPr>
          <p:cNvSpPr>
            <a:spLocks noGrp="1"/>
          </p:cNvSpPr>
          <p:nvPr/>
        </p:nvSpPr>
        <p:spPr>
          <a:xfrm>
            <a:off x="6080760" y="3163824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1E293B"/>
                </a:solidFill>
              </a:rPr>
              <a:t>Less/greater or equal</a:t>
            </a:r>
            <a:endParaRPr sz="120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09C99DB2-C34F-4910-B0D9-A21DFD8B048C}"/>
              </a:ext>
            </a:extLst>
          </p:cNvPr>
          <p:cNvSpPr>
            <a:spLocks noGrp="1"/>
          </p:cNvSpPr>
          <p:nvPr/>
        </p:nvSpPr>
        <p:spPr>
          <a:xfrm>
            <a:off x="4754880" y="365760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F2440"/>
                </a:solidFill>
              </a:rPr>
              <a:t>Assignment</a:t>
            </a:r>
            <a:endParaRPr sz="140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DC18E5C2-01FC-4547-A1DF-76F37A1E3A63}"/>
              </a:ext>
            </a:extLst>
          </p:cNvPr>
          <p:cNvSpPr>
            <a:spLocks noGrp="1"/>
          </p:cNvSpPr>
          <p:nvPr/>
        </p:nvSpPr>
        <p:spPr>
          <a:xfrm>
            <a:off x="4754880" y="3968496"/>
            <a:ext cx="40233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87219D51-463D-4546-85D8-F0DDA92F7566}"/>
              </a:ext>
            </a:extLst>
          </p:cNvPr>
          <p:cNvSpPr>
            <a:spLocks noGrp="1"/>
          </p:cNvSpPr>
          <p:nvPr/>
        </p:nvSpPr>
        <p:spPr>
          <a:xfrm>
            <a:off x="4846320" y="3968496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59E0B"/>
                </a:solidFill>
                <a:latin typeface="Courier New"/>
                <a:ea typeface="Courier New"/>
                <a:cs typeface="Courier New"/>
              </a:rPr>
              <a:t>=</a:t>
            </a:r>
            <a:endParaRPr sz="130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0C6A66A7-4B38-46A4-BA3A-CD7974933966}"/>
              </a:ext>
            </a:extLst>
          </p:cNvPr>
          <p:cNvSpPr>
            <a:spLocks noGrp="1"/>
          </p:cNvSpPr>
          <p:nvPr/>
        </p:nvSpPr>
        <p:spPr>
          <a:xfrm>
            <a:off x="5349240" y="3968496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x = 5</a:t>
            </a:r>
            <a:endParaRPr sz="110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6A0B9EEE-3CE4-40C9-9FFE-BF681822388A}"/>
              </a:ext>
            </a:extLst>
          </p:cNvPr>
          <p:cNvSpPr>
            <a:spLocks noGrp="1"/>
          </p:cNvSpPr>
          <p:nvPr/>
        </p:nvSpPr>
        <p:spPr>
          <a:xfrm>
            <a:off x="4754880" y="4334256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3430B69C-1B27-4A0F-B8B0-CBAF0E6B2338}"/>
              </a:ext>
            </a:extLst>
          </p:cNvPr>
          <p:cNvSpPr>
            <a:spLocks noGrp="1"/>
          </p:cNvSpPr>
          <p:nvPr/>
        </p:nvSpPr>
        <p:spPr>
          <a:xfrm>
            <a:off x="4846320" y="4334256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59E0B"/>
                </a:solidFill>
                <a:latin typeface="Courier New"/>
                <a:ea typeface="Courier New"/>
                <a:cs typeface="Courier New"/>
              </a:rPr>
              <a:t>+=</a:t>
            </a:r>
            <a:endParaRPr sz="130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4780D50B-352A-4C56-B4CA-B0FD22A3C577}"/>
              </a:ext>
            </a:extLst>
          </p:cNvPr>
          <p:cNvSpPr>
            <a:spLocks noGrp="1"/>
          </p:cNvSpPr>
          <p:nvPr/>
        </p:nvSpPr>
        <p:spPr>
          <a:xfrm>
            <a:off x="5349240" y="4334256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x += 3  (same as x = x + 3)</a:t>
            </a:r>
            <a:endParaRPr sz="110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27371883-79CD-49F3-9C29-F0BDE7D023DA}"/>
              </a:ext>
            </a:extLst>
          </p:cNvPr>
          <p:cNvSpPr>
            <a:spLocks noGrp="1"/>
          </p:cNvSpPr>
          <p:nvPr/>
        </p:nvSpPr>
        <p:spPr>
          <a:xfrm>
            <a:off x="4754880" y="4700016"/>
            <a:ext cx="40233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1E35B2C6-2FDA-4E06-88C4-40B687AA62D3}"/>
              </a:ext>
            </a:extLst>
          </p:cNvPr>
          <p:cNvSpPr>
            <a:spLocks noGrp="1"/>
          </p:cNvSpPr>
          <p:nvPr/>
        </p:nvSpPr>
        <p:spPr>
          <a:xfrm>
            <a:off x="4846320" y="4700016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59E0B"/>
                </a:solidFill>
                <a:latin typeface="Courier New"/>
                <a:ea typeface="Courier New"/>
                <a:cs typeface="Courier New"/>
              </a:rPr>
              <a:t>++</a:t>
            </a:r>
            <a:endParaRPr sz="130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C5856DA7-3AEB-4148-B0DE-0FA4268D36CE}"/>
              </a:ext>
            </a:extLst>
          </p:cNvPr>
          <p:cNvSpPr>
            <a:spLocks noGrp="1"/>
          </p:cNvSpPr>
          <p:nvPr/>
        </p:nvSpPr>
        <p:spPr>
          <a:xfrm>
            <a:off x="5349240" y="4700016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x++</a:t>
            </a:r>
            <a:endParaRPr sz="110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A118C4DE-E6C7-462A-BD1F-559D71DC22AE}"/>
              </a:ext>
            </a:extLst>
          </p:cNvPr>
          <p:cNvSpPr>
            <a:spLocks noGrp="1"/>
          </p:cNvSpPr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A546FBB7-F2D9-4C8E-9A1C-1025E088F0EB}"/>
              </a:ext>
            </a:extLst>
          </p:cNvPr>
          <p:cNvSpPr>
            <a:spLocks noGrp="1"/>
          </p:cNvSpPr>
          <p:nvPr/>
        </p:nvSpPr>
        <p:spPr>
          <a:xfrm>
            <a:off x="502920" y="4828032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DC2626"/>
                </a:solidFill>
              </a:rPr>
              <a:t>⚠ Note </a:t>
            </a:r>
            <a:r>
              <a:rPr sz="1200">
                <a:solidFill>
                  <a:srgbClr val="1E293B"/>
                </a:solidFill>
              </a:rPr>
              <a:t>Always use === (strict equality), not == (loose equality). "5" == 5 is true (wrong!), "5" === 5 is false (correct!).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469099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E9FB42-7E04-4F1D-903F-CF6DB42BE530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AFEA05F-D9F2-4DD5-9C0C-4AA40B68338C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STRINGS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6F3D014-D57B-498D-9B5E-AB5D51147E3A}"/>
              </a:ext>
            </a:extLst>
          </p:cNvPr>
          <p:cNvSpPr>
            <a:spLocks noGrp="1"/>
          </p:cNvSpPr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F2440"/>
                </a:solidFill>
                <a:latin typeface="Arial Black"/>
                <a:ea typeface="Arial Black"/>
                <a:cs typeface="Arial Black"/>
              </a:rPr>
              <a:t>Working with Strings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9CABC40-EE95-42E7-A2B7-975A3C6C4C65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Strings are text. JavaScript has many built-in tools for them.</a:t>
            </a:r>
            <a:endParaRPr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50A29C8-B58B-48C4-9F17-E8F291406C5D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8412480" cy="10332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ADE4637-6C7A-40DD-9C42-B744C2AB192A}"/>
              </a:ext>
            </a:extLst>
          </p:cNvPr>
          <p:cNvSpPr>
            <a:spLocks noGrp="1"/>
          </p:cNvSpPr>
          <p:nvPr/>
        </p:nvSpPr>
        <p:spPr>
          <a:xfrm>
            <a:off x="475488" y="1508760"/>
            <a:ext cx="8193024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city = "Dhaka";</a:t>
            </a:r>
            <a:endParaRPr sz="1300"/>
          </a:p>
          <a:p>
            <a:pPr marL="0" indent="0">
              <a:buNone/>
            </a:pPr>
            <a:r>
              <a:rPr sz="13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city.length        // → 5</a:t>
            </a:r>
            <a:endParaRPr sz="1300"/>
          </a:p>
          <a:p>
            <a:pPr marL="0" indent="0">
              <a:buNone/>
            </a:pPr>
            <a:r>
              <a:rPr sz="13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city.toUpperCase() // → "DHAKA"</a:t>
            </a:r>
            <a:endParaRPr sz="13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D9B98EA-0F2B-4F06-A5D6-EA470EAE519E}"/>
              </a:ext>
            </a:extLst>
          </p:cNvPr>
          <p:cNvSpPr>
            <a:spLocks noGrp="1"/>
          </p:cNvSpPr>
          <p:nvPr/>
        </p:nvSpPr>
        <p:spPr>
          <a:xfrm>
            <a:off x="365760" y="2331720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8E94096-8530-4B45-91FD-6EF801B3619F}"/>
              </a:ext>
            </a:extLst>
          </p:cNvPr>
          <p:cNvSpPr>
            <a:spLocks noGrp="1"/>
          </p:cNvSpPr>
          <p:nvPr/>
        </p:nvSpPr>
        <p:spPr>
          <a:xfrm>
            <a:off x="457200" y="23317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length</a:t>
            </a:r>
            <a:endParaRPr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4014C85-5D0F-4FA5-A6F4-0B42D7F01349}"/>
              </a:ext>
            </a:extLst>
          </p:cNvPr>
          <p:cNvSpPr>
            <a:spLocks noGrp="1"/>
          </p:cNvSpPr>
          <p:nvPr/>
        </p:nvSpPr>
        <p:spPr>
          <a:xfrm>
            <a:off x="2606040" y="233172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"Dhaka".length</a:t>
            </a:r>
            <a:endParaRPr sz="11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B27365D-F14D-4B66-9635-E4BF315FBD23}"/>
              </a:ext>
            </a:extLst>
          </p:cNvPr>
          <p:cNvSpPr>
            <a:spLocks noGrp="1"/>
          </p:cNvSpPr>
          <p:nvPr/>
        </p:nvSpPr>
        <p:spPr>
          <a:xfrm>
            <a:off x="5669280" y="233172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5</a:t>
            </a:r>
            <a:endParaRPr sz="11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0FAB1C2-601B-4775-891F-5EE7A3A4ECE8}"/>
              </a:ext>
            </a:extLst>
          </p:cNvPr>
          <p:cNvSpPr>
            <a:spLocks noGrp="1"/>
          </p:cNvSpPr>
          <p:nvPr/>
        </p:nvSpPr>
        <p:spPr>
          <a:xfrm>
            <a:off x="7360920" y="23317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64748B"/>
                </a:solidFill>
              </a:rPr>
              <a:t>Number of characters</a:t>
            </a:r>
            <a:endParaRPr sz="10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E48E4DE-2861-43D3-AFD8-E4AB2B20E044}"/>
              </a:ext>
            </a:extLst>
          </p:cNvPr>
          <p:cNvSpPr>
            <a:spLocks noGrp="1"/>
          </p:cNvSpPr>
          <p:nvPr/>
        </p:nvSpPr>
        <p:spPr>
          <a:xfrm>
            <a:off x="365760" y="2670048"/>
            <a:ext cx="84124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CCC5CF5-3849-45D1-A830-F99718C72D71}"/>
              </a:ext>
            </a:extLst>
          </p:cNvPr>
          <p:cNvSpPr>
            <a:spLocks noGrp="1"/>
          </p:cNvSpPr>
          <p:nvPr/>
        </p:nvSpPr>
        <p:spPr>
          <a:xfrm>
            <a:off x="457200" y="267004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toUpperCase()</a:t>
            </a:r>
            <a:endParaRPr sz="1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79F8640-35A0-4787-A7CE-2797BE5AB8AA}"/>
              </a:ext>
            </a:extLst>
          </p:cNvPr>
          <p:cNvSpPr>
            <a:spLocks noGrp="1"/>
          </p:cNvSpPr>
          <p:nvPr/>
        </p:nvSpPr>
        <p:spPr>
          <a:xfrm>
            <a:off x="2606040" y="267004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"hello".toUpperCase()</a:t>
            </a:r>
            <a:endParaRPr sz="11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A9ECE3D-FEBB-4EA2-A811-939D135CB7C4}"/>
              </a:ext>
            </a:extLst>
          </p:cNvPr>
          <p:cNvSpPr>
            <a:spLocks noGrp="1"/>
          </p:cNvSpPr>
          <p:nvPr/>
        </p:nvSpPr>
        <p:spPr>
          <a:xfrm>
            <a:off x="5669280" y="2670048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"HELLO"</a:t>
            </a:r>
            <a:endParaRPr sz="11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45E8964-8A39-4031-9CA1-7FEFEAD5D264}"/>
              </a:ext>
            </a:extLst>
          </p:cNvPr>
          <p:cNvSpPr>
            <a:spLocks noGrp="1"/>
          </p:cNvSpPr>
          <p:nvPr/>
        </p:nvSpPr>
        <p:spPr>
          <a:xfrm>
            <a:off x="7360920" y="267004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64748B"/>
                </a:solidFill>
              </a:rPr>
              <a:t>Convert to uppercase</a:t>
            </a:r>
            <a:endParaRPr sz="10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888669E-6B3D-49E4-8ED5-5F0FEA7B370B}"/>
              </a:ext>
            </a:extLst>
          </p:cNvPr>
          <p:cNvSpPr>
            <a:spLocks noGrp="1"/>
          </p:cNvSpPr>
          <p:nvPr/>
        </p:nvSpPr>
        <p:spPr>
          <a:xfrm>
            <a:off x="365760" y="3008376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DB8D1C9-139A-4042-9CBE-60111E2AC5E5}"/>
              </a:ext>
            </a:extLst>
          </p:cNvPr>
          <p:cNvSpPr>
            <a:spLocks noGrp="1"/>
          </p:cNvSpPr>
          <p:nvPr/>
        </p:nvSpPr>
        <p:spPr>
          <a:xfrm>
            <a:off x="457200" y="300837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toLowerCase()</a:t>
            </a:r>
            <a:endParaRPr sz="12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13C0869-EF4D-4E87-923C-AB3D4BABFF7E}"/>
              </a:ext>
            </a:extLst>
          </p:cNvPr>
          <p:cNvSpPr>
            <a:spLocks noGrp="1"/>
          </p:cNvSpPr>
          <p:nvPr/>
        </p:nvSpPr>
        <p:spPr>
          <a:xfrm>
            <a:off x="2606040" y="3008376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"HELLO".toLowerCase()</a:t>
            </a:r>
            <a:endParaRPr sz="11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B8304A4-F1B0-47CA-8E75-236EF37F5BC9}"/>
              </a:ext>
            </a:extLst>
          </p:cNvPr>
          <p:cNvSpPr>
            <a:spLocks noGrp="1"/>
          </p:cNvSpPr>
          <p:nvPr/>
        </p:nvSpPr>
        <p:spPr>
          <a:xfrm>
            <a:off x="5669280" y="3008376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"hello"</a:t>
            </a:r>
            <a:endParaRPr sz="11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36DEA02-65D4-417C-BE70-C60EBA62F157}"/>
              </a:ext>
            </a:extLst>
          </p:cNvPr>
          <p:cNvSpPr>
            <a:spLocks noGrp="1"/>
          </p:cNvSpPr>
          <p:nvPr/>
        </p:nvSpPr>
        <p:spPr>
          <a:xfrm>
            <a:off x="7360920" y="300837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64748B"/>
                </a:solidFill>
              </a:rPr>
              <a:t>Convert to lowercase</a:t>
            </a:r>
            <a:endParaRPr sz="10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14A1B13-694F-4463-A2A4-6A92FB03CD44}"/>
              </a:ext>
            </a:extLst>
          </p:cNvPr>
          <p:cNvSpPr>
            <a:spLocks noGrp="1"/>
          </p:cNvSpPr>
          <p:nvPr/>
        </p:nvSpPr>
        <p:spPr>
          <a:xfrm>
            <a:off x="365760" y="3346704"/>
            <a:ext cx="84124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CCA77B1-BCF4-4977-A2FE-E12E36A4F85B}"/>
              </a:ext>
            </a:extLst>
          </p:cNvPr>
          <p:cNvSpPr>
            <a:spLocks noGrp="1"/>
          </p:cNvSpPr>
          <p:nvPr/>
        </p:nvSpPr>
        <p:spPr>
          <a:xfrm>
            <a:off x="457200" y="334670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trim()</a:t>
            </a:r>
            <a:endParaRPr sz="12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DF73401-D34E-4B6B-88EF-B1D11E7AC468}"/>
              </a:ext>
            </a:extLst>
          </p:cNvPr>
          <p:cNvSpPr>
            <a:spLocks noGrp="1"/>
          </p:cNvSpPr>
          <p:nvPr/>
        </p:nvSpPr>
        <p:spPr>
          <a:xfrm>
            <a:off x="2606040" y="334670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"  hi  ".trim()</a:t>
            </a:r>
            <a:endParaRPr sz="11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DEBB3B9-8FA1-4493-8523-7231486DDFBD}"/>
              </a:ext>
            </a:extLst>
          </p:cNvPr>
          <p:cNvSpPr>
            <a:spLocks noGrp="1"/>
          </p:cNvSpPr>
          <p:nvPr/>
        </p:nvSpPr>
        <p:spPr>
          <a:xfrm>
            <a:off x="5669280" y="3346704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"hi"</a:t>
            </a:r>
            <a:endParaRPr sz="11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4B7F561-FA05-45AD-BE38-591575D7FA80}"/>
              </a:ext>
            </a:extLst>
          </p:cNvPr>
          <p:cNvSpPr>
            <a:spLocks noGrp="1"/>
          </p:cNvSpPr>
          <p:nvPr/>
        </p:nvSpPr>
        <p:spPr>
          <a:xfrm>
            <a:off x="7360920" y="3346704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64748B"/>
                </a:solidFill>
              </a:rPr>
              <a:t>Remove whitespace from ends</a:t>
            </a:r>
            <a:endParaRPr sz="100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DD1E22E-A059-4D56-8D10-FBF982E2DCB1}"/>
              </a:ext>
            </a:extLst>
          </p:cNvPr>
          <p:cNvSpPr>
            <a:spLocks noGrp="1"/>
          </p:cNvSpPr>
          <p:nvPr/>
        </p:nvSpPr>
        <p:spPr>
          <a:xfrm>
            <a:off x="365760" y="3685032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F93FECB-F65D-446C-B41F-23FBCBBA3A4B}"/>
              </a:ext>
            </a:extLst>
          </p:cNvPr>
          <p:cNvSpPr>
            <a:spLocks noGrp="1"/>
          </p:cNvSpPr>
          <p:nvPr/>
        </p:nvSpPr>
        <p:spPr>
          <a:xfrm>
            <a:off x="457200" y="368503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includes()</a:t>
            </a:r>
            <a:endParaRPr sz="12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575CF27-4CC3-4E1C-8897-06E8C627E391}"/>
              </a:ext>
            </a:extLst>
          </p:cNvPr>
          <p:cNvSpPr>
            <a:spLocks noGrp="1"/>
          </p:cNvSpPr>
          <p:nvPr/>
        </p:nvSpPr>
        <p:spPr>
          <a:xfrm>
            <a:off x="2606040" y="368503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"JavaScript".includes("Script")</a:t>
            </a:r>
            <a:endParaRPr sz="11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D1C45B2-7920-489B-B951-C6D86C1250D2}"/>
              </a:ext>
            </a:extLst>
          </p:cNvPr>
          <p:cNvSpPr>
            <a:spLocks noGrp="1"/>
          </p:cNvSpPr>
          <p:nvPr/>
        </p:nvSpPr>
        <p:spPr>
          <a:xfrm>
            <a:off x="5669280" y="3685032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true</a:t>
            </a:r>
            <a:endParaRPr sz="11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976BAEA-00A7-4678-912D-D8774CFE0E2B}"/>
              </a:ext>
            </a:extLst>
          </p:cNvPr>
          <p:cNvSpPr>
            <a:spLocks noGrp="1"/>
          </p:cNvSpPr>
          <p:nvPr/>
        </p:nvSpPr>
        <p:spPr>
          <a:xfrm>
            <a:off x="7360920" y="3685032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64748B"/>
                </a:solidFill>
              </a:rPr>
              <a:t>Check if text is inside</a:t>
            </a:r>
            <a:endParaRPr sz="100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21DAB396-2BE3-4C0C-AC50-7522F8864674}"/>
              </a:ext>
            </a:extLst>
          </p:cNvPr>
          <p:cNvSpPr>
            <a:spLocks noGrp="1"/>
          </p:cNvSpPr>
          <p:nvPr/>
        </p:nvSpPr>
        <p:spPr>
          <a:xfrm>
            <a:off x="365760" y="4023360"/>
            <a:ext cx="84124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8BBF99C-052A-46AF-AA15-3A591FFC9508}"/>
              </a:ext>
            </a:extLst>
          </p:cNvPr>
          <p:cNvSpPr>
            <a:spLocks noGrp="1"/>
          </p:cNvSpPr>
          <p:nvPr/>
        </p:nvSpPr>
        <p:spPr>
          <a:xfrm>
            <a:off x="457200" y="40233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slice(start,end)</a:t>
            </a:r>
            <a:endParaRPr sz="120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288DEC6F-E32D-4929-B018-EB0005C00869}"/>
              </a:ext>
            </a:extLst>
          </p:cNvPr>
          <p:cNvSpPr>
            <a:spLocks noGrp="1"/>
          </p:cNvSpPr>
          <p:nvPr/>
        </p:nvSpPr>
        <p:spPr>
          <a:xfrm>
            <a:off x="2606040" y="4023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"JavaScript".slice(0,4)</a:t>
            </a:r>
            <a:endParaRPr sz="110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C5F0C803-7162-4488-8507-FE5051BFE775}"/>
              </a:ext>
            </a:extLst>
          </p:cNvPr>
          <p:cNvSpPr>
            <a:spLocks noGrp="1"/>
          </p:cNvSpPr>
          <p:nvPr/>
        </p:nvSpPr>
        <p:spPr>
          <a:xfrm>
            <a:off x="5669280" y="40233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"Java"</a:t>
            </a:r>
            <a:endParaRPr sz="110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7A897647-EC99-4FFA-BF8D-AC6DAC852C4D}"/>
              </a:ext>
            </a:extLst>
          </p:cNvPr>
          <p:cNvSpPr>
            <a:spLocks noGrp="1"/>
          </p:cNvSpPr>
          <p:nvPr/>
        </p:nvSpPr>
        <p:spPr>
          <a:xfrm>
            <a:off x="7360920" y="402336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64748B"/>
                </a:solidFill>
              </a:rPr>
              <a:t>Extract part of string</a:t>
            </a:r>
            <a:endParaRPr sz="100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E6139DE0-F6E7-4009-BBA1-204C063C71F7}"/>
              </a:ext>
            </a:extLst>
          </p:cNvPr>
          <p:cNvSpPr>
            <a:spLocks noGrp="1"/>
          </p:cNvSpPr>
          <p:nvPr/>
        </p:nvSpPr>
        <p:spPr>
          <a:xfrm>
            <a:off x="365760" y="4361688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5FC61181-CE7E-493F-9CC9-68DFCAD61106}"/>
              </a:ext>
            </a:extLst>
          </p:cNvPr>
          <p:cNvSpPr>
            <a:spLocks noGrp="1"/>
          </p:cNvSpPr>
          <p:nvPr/>
        </p:nvSpPr>
        <p:spPr>
          <a:xfrm>
            <a:off x="457200" y="436168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replace()</a:t>
            </a:r>
            <a:endParaRPr sz="120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2F3F6832-ABA4-4F0C-BDD5-E9E28BF29615}"/>
              </a:ext>
            </a:extLst>
          </p:cNvPr>
          <p:cNvSpPr>
            <a:spLocks noGrp="1"/>
          </p:cNvSpPr>
          <p:nvPr/>
        </p:nvSpPr>
        <p:spPr>
          <a:xfrm>
            <a:off x="2606040" y="43616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"Hello".replace("Hello","Hi")</a:t>
            </a:r>
            <a:endParaRPr sz="110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D7FC53BA-3A8B-44C1-AC6E-07569524CCC1}"/>
              </a:ext>
            </a:extLst>
          </p:cNvPr>
          <p:cNvSpPr>
            <a:spLocks noGrp="1"/>
          </p:cNvSpPr>
          <p:nvPr/>
        </p:nvSpPr>
        <p:spPr>
          <a:xfrm>
            <a:off x="5669280" y="4361688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"Hi"</a:t>
            </a:r>
            <a:endParaRPr sz="110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92156836-BF04-47A6-A97F-CCF2719999FE}"/>
              </a:ext>
            </a:extLst>
          </p:cNvPr>
          <p:cNvSpPr>
            <a:spLocks noGrp="1"/>
          </p:cNvSpPr>
          <p:nvPr/>
        </p:nvSpPr>
        <p:spPr>
          <a:xfrm>
            <a:off x="7360920" y="43616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64748B"/>
                </a:solidFill>
              </a:rPr>
              <a:t>Replace text</a:t>
            </a:r>
            <a:endParaRPr sz="100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D1DFBD09-C4A0-4BE7-B1EF-325124D7B400}"/>
              </a:ext>
            </a:extLst>
          </p:cNvPr>
          <p:cNvSpPr>
            <a:spLocks noGrp="1"/>
          </p:cNvSpPr>
          <p:nvPr/>
        </p:nvSpPr>
        <p:spPr>
          <a:xfrm>
            <a:off x="365760" y="4700016"/>
            <a:ext cx="84124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A834C443-0AEF-40F0-9CA0-0DD8FB37589E}"/>
              </a:ext>
            </a:extLst>
          </p:cNvPr>
          <p:cNvSpPr>
            <a:spLocks noGrp="1"/>
          </p:cNvSpPr>
          <p:nvPr/>
        </p:nvSpPr>
        <p:spPr>
          <a:xfrm>
            <a:off x="457200" y="470001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split()</a:t>
            </a:r>
            <a:endParaRPr sz="120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02C8EB99-8443-4D18-AE09-385D11E39435}"/>
              </a:ext>
            </a:extLst>
          </p:cNvPr>
          <p:cNvSpPr>
            <a:spLocks noGrp="1"/>
          </p:cNvSpPr>
          <p:nvPr/>
        </p:nvSpPr>
        <p:spPr>
          <a:xfrm>
            <a:off x="2606040" y="4700016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"a,b,c".split(",")</a:t>
            </a:r>
            <a:endParaRPr sz="110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5A5EE604-2A9D-44F3-86C7-B0D52EAA269D}"/>
              </a:ext>
            </a:extLst>
          </p:cNvPr>
          <p:cNvSpPr>
            <a:spLocks noGrp="1"/>
          </p:cNvSpPr>
          <p:nvPr/>
        </p:nvSpPr>
        <p:spPr>
          <a:xfrm>
            <a:off x="5669280" y="4700016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["a","b","c"]</a:t>
            </a:r>
            <a:endParaRPr sz="110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109E7A74-9871-4A39-978B-E2E905926AA6}"/>
              </a:ext>
            </a:extLst>
          </p:cNvPr>
          <p:cNvSpPr>
            <a:spLocks noGrp="1"/>
          </p:cNvSpPr>
          <p:nvPr/>
        </p:nvSpPr>
        <p:spPr>
          <a:xfrm>
            <a:off x="7360920" y="470001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64748B"/>
                </a:solidFill>
              </a:rPr>
              <a:t>Split into array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315934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529685-7F92-40A8-A232-CB7F45E20C5F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E8EBF8A-C1E5-403A-A01B-C177C1AB968A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STRINGS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D4FC72D-C446-4BC8-B129-D56F2544B379}"/>
              </a:ext>
            </a:extLst>
          </p:cNvPr>
          <p:cNvSpPr>
            <a:spLocks noGrp="1"/>
          </p:cNvSpPr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F2440"/>
                </a:solidFill>
                <a:latin typeface="Arial Black"/>
                <a:ea typeface="Arial Black"/>
                <a:cs typeface="Arial Black"/>
              </a:rPr>
              <a:t>Template Literals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2F1991D-002A-4D94-A8BC-6C5904406F05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The modern, readable way to build strings with variables</a:t>
            </a:r>
            <a:endParaRPr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3F29152-32E5-471A-A518-BFD06ACD37C7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841248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844B8A0-F5FE-45D7-B3C7-037F47AE3006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❌  Old way — messy string concatenation with +</a:t>
            </a:r>
            <a:endParaRPr sz="12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0A7CFBD-942C-4E76-9B4D-7DA43CC08149}"/>
              </a:ext>
            </a:extLst>
          </p:cNvPr>
          <p:cNvSpPr>
            <a:spLocks noGrp="1"/>
          </p:cNvSpPr>
          <p:nvPr/>
        </p:nvSpPr>
        <p:spPr>
          <a:xfrm>
            <a:off x="365760" y="1737360"/>
            <a:ext cx="8412480" cy="8046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08BE8FB-D2DE-4BEC-AC1E-066812F1F207}"/>
              </a:ext>
            </a:extLst>
          </p:cNvPr>
          <p:cNvSpPr>
            <a:spLocks noGrp="1"/>
          </p:cNvSpPr>
          <p:nvPr/>
        </p:nvSpPr>
        <p:spPr>
          <a:xfrm>
            <a:off x="475488" y="1828800"/>
            <a:ext cx="819302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name = "Pranta";  let age = 27;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msg = "Hello, my name is " + name + " and I am " + age + " years old.";</a:t>
            </a:r>
            <a:endParaRPr sz="12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42BCDCE-52CC-476A-8691-7900309049AC}"/>
              </a:ext>
            </a:extLst>
          </p:cNvPr>
          <p:cNvSpPr>
            <a:spLocks noGrp="1"/>
          </p:cNvSpPr>
          <p:nvPr/>
        </p:nvSpPr>
        <p:spPr>
          <a:xfrm>
            <a:off x="365760" y="2423160"/>
            <a:ext cx="84124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6721447-601B-46E0-A24F-11D91E53DC3B}"/>
              </a:ext>
            </a:extLst>
          </p:cNvPr>
          <p:cNvSpPr>
            <a:spLocks noGrp="1"/>
          </p:cNvSpPr>
          <p:nvPr/>
        </p:nvSpPr>
        <p:spPr>
          <a:xfrm>
            <a:off x="365760" y="242316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✅  New way — Template Literals with backticks ` `</a:t>
            </a:r>
            <a:endParaRPr sz="12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5294440-3688-4990-84A9-D1698BE71DE1}"/>
              </a:ext>
            </a:extLst>
          </p:cNvPr>
          <p:cNvSpPr>
            <a:spLocks noGrp="1"/>
          </p:cNvSpPr>
          <p:nvPr/>
        </p:nvSpPr>
        <p:spPr>
          <a:xfrm>
            <a:off x="365760" y="2743200"/>
            <a:ext cx="8412480" cy="9418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510BFA7-EF23-4E42-916B-F8FD9B876A6D}"/>
              </a:ext>
            </a:extLst>
          </p:cNvPr>
          <p:cNvSpPr>
            <a:spLocks noGrp="1"/>
          </p:cNvSpPr>
          <p:nvPr/>
        </p:nvSpPr>
        <p:spPr>
          <a:xfrm>
            <a:off x="475488" y="2834640"/>
            <a:ext cx="8193024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name = "Pranta";  let age = 27;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msg = `Hello, my name is ${name} and I am ${age} years old.`;</a:t>
            </a:r>
            <a:endParaRPr sz="12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7A1585C-9439-483B-8465-58EE0D8A7639}"/>
              </a:ext>
            </a:extLst>
          </p:cNvPr>
          <p:cNvSpPr>
            <a:spLocks noGrp="1"/>
          </p:cNvSpPr>
          <p:nvPr/>
        </p:nvSpPr>
        <p:spPr>
          <a:xfrm>
            <a:off x="365760" y="3493008"/>
            <a:ext cx="8412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90C26E6-B443-4381-9BCA-C686006C5227}"/>
              </a:ext>
            </a:extLst>
          </p:cNvPr>
          <p:cNvSpPr>
            <a:spLocks noGrp="1"/>
          </p:cNvSpPr>
          <p:nvPr/>
        </p:nvSpPr>
        <p:spPr>
          <a:xfrm>
            <a:off x="475488" y="3547872"/>
            <a:ext cx="8193024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64748B"/>
                </a:solidFill>
              </a:rPr>
              <a:t>Output:</a:t>
            </a:r>
            <a:endParaRPr sz="10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2F50BDA-4993-426C-BF08-0E022E3E76D9}"/>
              </a:ext>
            </a:extLst>
          </p:cNvPr>
          <p:cNvSpPr>
            <a:spLocks noGrp="1"/>
          </p:cNvSpPr>
          <p:nvPr/>
        </p:nvSpPr>
        <p:spPr>
          <a:xfrm>
            <a:off x="475488" y="3749040"/>
            <a:ext cx="8193024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Hello, my name is Pranta and I am 27 years old.</a:t>
            </a:r>
            <a:endParaRPr sz="12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412730C-5C57-4337-9A55-E1F305344628}"/>
              </a:ext>
            </a:extLst>
          </p:cNvPr>
          <p:cNvSpPr>
            <a:spLocks noGrp="1"/>
          </p:cNvSpPr>
          <p:nvPr/>
        </p:nvSpPr>
        <p:spPr>
          <a:xfrm>
            <a:off x="365760" y="4114800"/>
            <a:ext cx="841248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251C54A-0711-464D-96D1-81D776D50A0A}"/>
              </a:ext>
            </a:extLst>
          </p:cNvPr>
          <p:cNvSpPr>
            <a:spLocks noGrp="1"/>
          </p:cNvSpPr>
          <p:nvPr/>
        </p:nvSpPr>
        <p:spPr>
          <a:xfrm>
            <a:off x="502920" y="411480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</a:rPr>
              <a:t>💡 Tip </a:t>
            </a:r>
            <a:r>
              <a:rPr sz="1200">
                <a:solidFill>
                  <a:srgbClr val="1E293B"/>
                </a:solidFill>
              </a:rPr>
              <a:t>Use backticks ` ` (not quotes!) and wrap variables/expressions in ${ }. You can even do maths: `Result: ${5 + 3}` → 'Result: 8'</a:t>
            </a:r>
            <a:endParaRPr sz="12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293BC7B-AC9D-47F7-93AC-FE3C16CF8368}"/>
              </a:ext>
            </a:extLst>
          </p:cNvPr>
          <p:cNvSpPr>
            <a:spLocks noGrp="1"/>
          </p:cNvSpPr>
          <p:nvPr/>
        </p:nvSpPr>
        <p:spPr>
          <a:xfrm>
            <a:off x="365760" y="4654296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64748B"/>
                </a:solidFill>
              </a:rPr>
              <a:t>You can also write multi-line strings:</a:t>
            </a:r>
            <a:endParaRPr sz="12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073D294-AD68-4616-A5E4-6C4B50E72ED7}"/>
              </a:ext>
            </a:extLst>
          </p:cNvPr>
          <p:cNvSpPr>
            <a:spLocks noGrp="1"/>
          </p:cNvSpPr>
          <p:nvPr/>
        </p:nvSpPr>
        <p:spPr>
          <a:xfrm>
            <a:off x="365760" y="4882896"/>
            <a:ext cx="8412480" cy="2606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CD79296-D16F-4D0A-A284-54E85476AF5F}"/>
              </a:ext>
            </a:extLst>
          </p:cNvPr>
          <p:cNvSpPr>
            <a:spLocks noGrp="1"/>
          </p:cNvSpPr>
          <p:nvPr/>
        </p:nvSpPr>
        <p:spPr>
          <a:xfrm>
            <a:off x="475488" y="4901184"/>
            <a:ext cx="8193024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>
                <a:solidFill>
                  <a:srgbClr val="0F2440"/>
                </a:solidFill>
                <a:latin typeface="Courier New"/>
                <a:ea typeface="Courier New"/>
                <a:cs typeface="Courier New"/>
              </a:rPr>
              <a:t>let poem = `Line one\nLine two\nLine three`; // \n = new line</a:t>
            </a:r>
          </a:p>
        </p:txBody>
      </p:sp>
    </p:spTree>
    <p:extLst>
      <p:ext uri="{BB962C8B-B14F-4D97-AF65-F5344CB8AC3E}">
        <p14:creationId xmlns:p14="http://schemas.microsoft.com/office/powerpoint/2010/main" val="2102120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1B74445-CACF-46A9-8B83-289BCBEF6561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391CF6-9925-4494-A2CA-C0778B3957D4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CONDITIONS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AF3816A-2C69-47A2-87E7-321185FD41BF}"/>
              </a:ext>
            </a:extLst>
          </p:cNvPr>
          <p:cNvSpPr>
            <a:spLocks noGrp="1"/>
          </p:cNvSpPr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F2440"/>
                </a:solidFill>
                <a:latin typeface="Arial Black"/>
                <a:ea typeface="Arial Black"/>
                <a:cs typeface="Arial Black"/>
              </a:rPr>
              <a:t>Conditional Statements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69AB360-9869-4F8E-BA98-B1DE6982460A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Make decisions — run different code based on a condition</a:t>
            </a:r>
            <a:endParaRPr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449C139-492C-4D03-A2D8-92A7398B272C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4663440" cy="32278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FAD486B-3E13-4743-8DB8-1F98375462E9}"/>
              </a:ext>
            </a:extLst>
          </p:cNvPr>
          <p:cNvSpPr>
            <a:spLocks noGrp="1"/>
          </p:cNvSpPr>
          <p:nvPr/>
        </p:nvSpPr>
        <p:spPr>
          <a:xfrm>
            <a:off x="475488" y="1508760"/>
            <a:ext cx="4443984" cy="2788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score = 85;</a:t>
            </a:r>
            <a:endParaRPr sz="1250"/>
          </a:p>
          <a:p>
            <a:pPr marL="0" indent="0">
              <a:buNone/>
            </a:pP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if (score &gt;= 90) {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console.log("Excellent!");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} else if (score &gt;= 70) {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console.log("Good job!");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} else if (score &gt;= 50) {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console.log("You passed.");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} else {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console.log("Try again.");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250"/>
          </a:p>
          <a:p>
            <a:pPr marL="0" indent="0">
              <a:buNone/>
            </a:pP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// Output: Good job!</a:t>
            </a:r>
            <a:endParaRPr sz="125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6AE6B39-4A16-44DB-8AB0-D260A101CD7C}"/>
              </a:ext>
            </a:extLst>
          </p:cNvPr>
          <p:cNvSpPr>
            <a:spLocks noGrp="1"/>
          </p:cNvSpPr>
          <p:nvPr/>
        </p:nvSpPr>
        <p:spPr>
          <a:xfrm>
            <a:off x="5230368" y="1417320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F2440"/>
                </a:solidFill>
              </a:rPr>
              <a:t>How it works:</a:t>
            </a:r>
            <a:endParaRPr sz="14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A53223F-E99C-45D1-9A1A-E839529B9084}"/>
              </a:ext>
            </a:extLst>
          </p:cNvPr>
          <p:cNvSpPr>
            <a:spLocks noGrp="1"/>
          </p:cNvSpPr>
          <p:nvPr/>
        </p:nvSpPr>
        <p:spPr>
          <a:xfrm>
            <a:off x="5230368" y="1783080"/>
            <a:ext cx="3547872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2D49A8C-CABF-4A0F-82ED-98A048EFDB46}"/>
              </a:ext>
            </a:extLst>
          </p:cNvPr>
          <p:cNvSpPr>
            <a:spLocks noGrp="1"/>
          </p:cNvSpPr>
          <p:nvPr/>
        </p:nvSpPr>
        <p:spPr>
          <a:xfrm>
            <a:off x="5321808" y="183794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if</a:t>
            </a:r>
            <a:endParaRPr sz="1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B81889D-F082-4713-9E3A-DDC9B9AEF4C8}"/>
              </a:ext>
            </a:extLst>
          </p:cNvPr>
          <p:cNvSpPr>
            <a:spLocks noGrp="1"/>
          </p:cNvSpPr>
          <p:nvPr/>
        </p:nvSpPr>
        <p:spPr>
          <a:xfrm>
            <a:off x="5321808" y="2112264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Test the first condition. If true, run this block and skip the rest.</a:t>
            </a:r>
            <a:endParaRPr sz="11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1BFA507-E273-4044-B602-A3DC0325A1E4}"/>
              </a:ext>
            </a:extLst>
          </p:cNvPr>
          <p:cNvSpPr>
            <a:spLocks noGrp="1"/>
          </p:cNvSpPr>
          <p:nvPr/>
        </p:nvSpPr>
        <p:spPr>
          <a:xfrm>
            <a:off x="5230368" y="2679192"/>
            <a:ext cx="3547872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E9FAD6C-6738-4CE1-8EC7-FBC75C2DB79D}"/>
              </a:ext>
            </a:extLst>
          </p:cNvPr>
          <p:cNvSpPr>
            <a:spLocks noGrp="1"/>
          </p:cNvSpPr>
          <p:nvPr/>
        </p:nvSpPr>
        <p:spPr>
          <a:xfrm>
            <a:off x="5321808" y="273405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else if</a:t>
            </a:r>
            <a:endParaRPr sz="14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C11FA9C-D5A3-462F-9F20-08C5D7AEB10B}"/>
              </a:ext>
            </a:extLst>
          </p:cNvPr>
          <p:cNvSpPr>
            <a:spLocks noGrp="1"/>
          </p:cNvSpPr>
          <p:nvPr/>
        </p:nvSpPr>
        <p:spPr>
          <a:xfrm>
            <a:off x="5321808" y="3008376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Only checked if the above condition was false. Test another condition.</a:t>
            </a:r>
            <a:endParaRPr sz="115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1D65565-804E-44B3-852E-ABBB8D788C25}"/>
              </a:ext>
            </a:extLst>
          </p:cNvPr>
          <p:cNvSpPr>
            <a:spLocks noGrp="1"/>
          </p:cNvSpPr>
          <p:nvPr/>
        </p:nvSpPr>
        <p:spPr>
          <a:xfrm>
            <a:off x="5230368" y="3575304"/>
            <a:ext cx="3547872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4BD3CD2-67EA-441F-B40C-2642F5F78896}"/>
              </a:ext>
            </a:extLst>
          </p:cNvPr>
          <p:cNvSpPr>
            <a:spLocks noGrp="1"/>
          </p:cNvSpPr>
          <p:nvPr/>
        </p:nvSpPr>
        <p:spPr>
          <a:xfrm>
            <a:off x="5321808" y="363016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else</a:t>
            </a:r>
            <a:endParaRPr sz="14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ED26FB2-BBC3-4A79-8561-B697E57EE8F0}"/>
              </a:ext>
            </a:extLst>
          </p:cNvPr>
          <p:cNvSpPr>
            <a:spLocks noGrp="1"/>
          </p:cNvSpPr>
          <p:nvPr/>
        </p:nvSpPr>
        <p:spPr>
          <a:xfrm>
            <a:off x="5321808" y="3904488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Catch-all. Runs if ALL previous conditions were false.</a:t>
            </a:r>
            <a:endParaRPr sz="11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76E0393-DBA4-42BF-85AC-485A56B7A3C0}"/>
              </a:ext>
            </a:extLst>
          </p:cNvPr>
          <p:cNvSpPr>
            <a:spLocks noGrp="1"/>
          </p:cNvSpPr>
          <p:nvPr/>
        </p:nvSpPr>
        <p:spPr>
          <a:xfrm>
            <a:off x="365760" y="4507992"/>
            <a:ext cx="8412480" cy="5486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633D72A-914B-4ACD-9DB1-085260C02D4E}"/>
              </a:ext>
            </a:extLst>
          </p:cNvPr>
          <p:cNvSpPr>
            <a:spLocks noGrp="1"/>
          </p:cNvSpPr>
          <p:nvPr/>
        </p:nvSpPr>
        <p:spPr>
          <a:xfrm>
            <a:off x="502920" y="4507992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</a:rPr>
              <a:t>💡 Tip </a:t>
            </a:r>
            <a:r>
              <a:rPr sz="1200">
                <a:solidFill>
                  <a:srgbClr val="1E293B"/>
                </a:solidFill>
              </a:rPr>
              <a:t>You can chain as many else if blocks as you need. Only ONE block will ever run — JS stops checking once it finds a true condition.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7362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00F093A-096A-400D-9B78-F1A6C240774A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DF9468-01D3-4886-8B49-A27A7669A003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CONDITIONS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696C2EC-7230-4580-A260-FBAC95D8866A}"/>
              </a:ext>
            </a:extLst>
          </p:cNvPr>
          <p:cNvSpPr>
            <a:spLocks noGrp="1"/>
          </p:cNvSpPr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F2440"/>
                </a:solidFill>
                <a:latin typeface="Arial Black"/>
                <a:ea typeface="Arial Black"/>
                <a:cs typeface="Arial Black"/>
              </a:rPr>
              <a:t>Switch Statement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157B36F-1270-4015-808E-3AA7C309CC61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When you're checking one variable against many specific values</a:t>
            </a:r>
            <a:endParaRPr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0D49931-3DD0-4F0A-9F54-B6227A91C2A5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4663440" cy="35935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071E492-1D24-4082-A27D-BF25841B6DBE}"/>
              </a:ext>
            </a:extLst>
          </p:cNvPr>
          <p:cNvSpPr>
            <a:spLocks noGrp="1"/>
          </p:cNvSpPr>
          <p:nvPr/>
        </p:nvSpPr>
        <p:spPr>
          <a:xfrm>
            <a:off x="475488" y="1508760"/>
            <a:ext cx="4443984" cy="3154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day = "Monday";</a:t>
            </a:r>
            <a:endParaRPr sz="1200"/>
          </a:p>
          <a:p>
            <a:pPr marL="0" indent="0">
              <a:buNone/>
            </a:pPr>
            <a:endParaRPr sz="1200"/>
          </a:p>
          <a:p>
            <a:pPr marL="0" indent="0">
              <a:buNone/>
            </a:pPr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switch (day) {</a:t>
            </a:r>
            <a:endParaRPr sz="1200"/>
          </a:p>
          <a:p>
            <a:pPr marL="0" indent="0">
              <a:buNone/>
            </a:pPr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case "Monday":</a:t>
            </a:r>
            <a:endParaRPr sz="1200"/>
          </a:p>
          <a:p>
            <a:pPr marL="0" indent="0">
              <a:buNone/>
            </a:pPr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  console.log("Start of week");</a:t>
            </a:r>
            <a:endParaRPr sz="1200"/>
          </a:p>
          <a:p>
            <a:pPr marL="0" indent="0">
              <a:buNone/>
            </a:pPr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  break;</a:t>
            </a:r>
            <a:endParaRPr sz="1200"/>
          </a:p>
          <a:p>
            <a:pPr marL="0" indent="0">
              <a:buNone/>
            </a:pPr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case "Friday":</a:t>
            </a:r>
            <a:endParaRPr sz="1200"/>
          </a:p>
          <a:p>
            <a:pPr marL="0" indent="0">
              <a:buNone/>
            </a:pPr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  console.log("Almost weekend!");</a:t>
            </a:r>
            <a:endParaRPr sz="1200"/>
          </a:p>
          <a:p>
            <a:pPr marL="0" indent="0">
              <a:buNone/>
            </a:pPr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  break;</a:t>
            </a:r>
            <a:endParaRPr sz="1200"/>
          </a:p>
          <a:p>
            <a:pPr marL="0" indent="0">
              <a:buNone/>
            </a:pPr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case "Saturday":</a:t>
            </a:r>
            <a:endParaRPr sz="1200"/>
          </a:p>
          <a:p>
            <a:pPr marL="0" indent="0">
              <a:buNone/>
            </a:pPr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case "Sunday":</a:t>
            </a:r>
            <a:endParaRPr sz="1200"/>
          </a:p>
          <a:p>
            <a:pPr marL="0" indent="0">
              <a:buNone/>
            </a:pPr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  console.log("Weekend!");</a:t>
            </a:r>
            <a:endParaRPr sz="1200"/>
          </a:p>
          <a:p>
            <a:pPr marL="0" indent="0">
              <a:buNone/>
            </a:pPr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  break;</a:t>
            </a:r>
            <a:endParaRPr sz="1200"/>
          </a:p>
          <a:p>
            <a:pPr marL="0" indent="0">
              <a:buNone/>
            </a:pPr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default:</a:t>
            </a:r>
            <a:endParaRPr sz="1200"/>
          </a:p>
          <a:p>
            <a:pPr marL="0" indent="0">
              <a:buNone/>
            </a:pPr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  console.log("Midweek");</a:t>
            </a:r>
            <a:endParaRPr sz="1200"/>
          </a:p>
          <a:p>
            <a:pPr marL="0" indent="0">
              <a:buNone/>
            </a:pPr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BB0284B-9B48-492C-A230-908CEAB5523D}"/>
              </a:ext>
            </a:extLst>
          </p:cNvPr>
          <p:cNvSpPr>
            <a:spLocks noGrp="1"/>
          </p:cNvSpPr>
          <p:nvPr/>
        </p:nvSpPr>
        <p:spPr>
          <a:xfrm>
            <a:off x="5230368" y="1417320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F2440"/>
                </a:solidFill>
              </a:rPr>
              <a:t>Key rules:</a:t>
            </a:r>
            <a:endParaRPr sz="14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F1D786C-FB03-43FF-BE49-50336F6801C1}"/>
              </a:ext>
            </a:extLst>
          </p:cNvPr>
          <p:cNvSpPr>
            <a:spLocks noGrp="1"/>
          </p:cNvSpPr>
          <p:nvPr/>
        </p:nvSpPr>
        <p:spPr>
          <a:xfrm>
            <a:off x="5230368" y="1783080"/>
            <a:ext cx="354787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2801200-EEC0-4404-9323-7F8AF12720F7}"/>
              </a:ext>
            </a:extLst>
          </p:cNvPr>
          <p:cNvSpPr>
            <a:spLocks noGrp="1"/>
          </p:cNvSpPr>
          <p:nvPr/>
        </p:nvSpPr>
        <p:spPr>
          <a:xfrm>
            <a:off x="5321808" y="1837944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switch(x)</a:t>
            </a:r>
            <a:endParaRPr sz="13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9DF5844-D3E7-4E55-AD25-02EE7BC6E784}"/>
              </a:ext>
            </a:extLst>
          </p:cNvPr>
          <p:cNvSpPr>
            <a:spLocks noGrp="1"/>
          </p:cNvSpPr>
          <p:nvPr/>
        </p:nvSpPr>
        <p:spPr>
          <a:xfrm>
            <a:off x="5321808" y="2093976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E293B"/>
                </a:solidFill>
              </a:rPr>
              <a:t>Evaluates x once, then jumps to the matching case.</a:t>
            </a:r>
            <a:endParaRPr sz="11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B954D7A-5CD4-4564-BF17-85C3A95A912E}"/>
              </a:ext>
            </a:extLst>
          </p:cNvPr>
          <p:cNvSpPr>
            <a:spLocks noGrp="1"/>
          </p:cNvSpPr>
          <p:nvPr/>
        </p:nvSpPr>
        <p:spPr>
          <a:xfrm>
            <a:off x="5230368" y="2532888"/>
            <a:ext cx="354787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1C7394B-AE5E-4AA3-BFCA-C5F019DC0CFD}"/>
              </a:ext>
            </a:extLst>
          </p:cNvPr>
          <p:cNvSpPr>
            <a:spLocks noGrp="1"/>
          </p:cNvSpPr>
          <p:nvPr/>
        </p:nvSpPr>
        <p:spPr>
          <a:xfrm>
            <a:off x="5321808" y="258775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case:</a:t>
            </a:r>
            <a:endParaRPr sz="13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B657989-86D4-4EAC-8A83-1AD6486B7DD5}"/>
              </a:ext>
            </a:extLst>
          </p:cNvPr>
          <p:cNvSpPr>
            <a:spLocks noGrp="1"/>
          </p:cNvSpPr>
          <p:nvPr/>
        </p:nvSpPr>
        <p:spPr>
          <a:xfrm>
            <a:off x="5321808" y="2843784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E293B"/>
                </a:solidFill>
              </a:rPr>
              <a:t>Each possible value gets a case. Uses === to compare.</a:t>
            </a:r>
            <a:endParaRPr sz="11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A806FE8-8686-4530-9BCC-D266939D26E4}"/>
              </a:ext>
            </a:extLst>
          </p:cNvPr>
          <p:cNvSpPr>
            <a:spLocks noGrp="1"/>
          </p:cNvSpPr>
          <p:nvPr/>
        </p:nvSpPr>
        <p:spPr>
          <a:xfrm>
            <a:off x="5230368" y="3282696"/>
            <a:ext cx="354787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358792C-8BA4-4BBC-A4E8-69AAA66E4A0D}"/>
              </a:ext>
            </a:extLst>
          </p:cNvPr>
          <p:cNvSpPr>
            <a:spLocks noGrp="1"/>
          </p:cNvSpPr>
          <p:nvPr/>
        </p:nvSpPr>
        <p:spPr>
          <a:xfrm>
            <a:off x="5321808" y="3337560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break;</a:t>
            </a:r>
            <a:endParaRPr sz="13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CB91A08-613C-4170-8E4B-D08533D2C436}"/>
              </a:ext>
            </a:extLst>
          </p:cNvPr>
          <p:cNvSpPr>
            <a:spLocks noGrp="1"/>
          </p:cNvSpPr>
          <p:nvPr/>
        </p:nvSpPr>
        <p:spPr>
          <a:xfrm>
            <a:off x="5321808" y="3593592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E293B"/>
                </a:solidFill>
              </a:rPr>
              <a:t>REQUIRED after each case — stops falling through to the next case.</a:t>
            </a:r>
            <a:endParaRPr sz="11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1BA553E-CF2E-4EDE-B1B3-F710B6167D80}"/>
              </a:ext>
            </a:extLst>
          </p:cNvPr>
          <p:cNvSpPr>
            <a:spLocks noGrp="1"/>
          </p:cNvSpPr>
          <p:nvPr/>
        </p:nvSpPr>
        <p:spPr>
          <a:xfrm>
            <a:off x="5230368" y="4032504"/>
            <a:ext cx="354787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8E34973-2BC6-42C2-B61B-AA59A3946703}"/>
              </a:ext>
            </a:extLst>
          </p:cNvPr>
          <p:cNvSpPr>
            <a:spLocks noGrp="1"/>
          </p:cNvSpPr>
          <p:nvPr/>
        </p:nvSpPr>
        <p:spPr>
          <a:xfrm>
            <a:off x="5321808" y="408736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default:</a:t>
            </a:r>
            <a:endParaRPr sz="13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EC9AF27-D218-48C1-9BB2-B425559CBF61}"/>
              </a:ext>
            </a:extLst>
          </p:cNvPr>
          <p:cNvSpPr>
            <a:spLocks noGrp="1"/>
          </p:cNvSpPr>
          <p:nvPr/>
        </p:nvSpPr>
        <p:spPr>
          <a:xfrm>
            <a:off x="5321808" y="4343400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E293B"/>
                </a:solidFill>
              </a:rPr>
              <a:t>Like else — runs if no case matched. Optional but good practice.</a:t>
            </a:r>
            <a:endParaRPr sz="11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0C54BBC-1825-415E-888B-CD1D3EEA2448}"/>
              </a:ext>
            </a:extLst>
          </p:cNvPr>
          <p:cNvSpPr>
            <a:spLocks noGrp="1"/>
          </p:cNvSpPr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DE1A802-E6B8-4D03-BE98-D4BE89CD0644}"/>
              </a:ext>
            </a:extLst>
          </p:cNvPr>
          <p:cNvSpPr>
            <a:spLocks noGrp="1"/>
          </p:cNvSpPr>
          <p:nvPr/>
        </p:nvSpPr>
        <p:spPr>
          <a:xfrm>
            <a:off x="502920" y="4864608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DC2626"/>
                </a:solidFill>
              </a:rPr>
              <a:t>⚠ Note </a:t>
            </a:r>
            <a:r>
              <a:rPr sz="1200">
                <a:solidFill>
                  <a:srgbClr val="1E293B"/>
                </a:solidFill>
              </a:rPr>
              <a:t>Forget break; → JS will run every case below the matching one (called 'fall-through'). Almost always a bug.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53902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588C9CB-BFB9-441F-83CD-CC7D77497C16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659DB47-9BA6-42AF-9548-21937712B9B5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LOOPS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18F6DBE-35CD-4B90-B99C-BD08C7AF3943}"/>
              </a:ext>
            </a:extLst>
          </p:cNvPr>
          <p:cNvSpPr>
            <a:spLocks noGrp="1"/>
          </p:cNvSpPr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F2440"/>
                </a:solidFill>
                <a:latin typeface="Arial Black"/>
                <a:ea typeface="Arial Black"/>
                <a:cs typeface="Arial Black"/>
              </a:rPr>
              <a:t>The for Loop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2EBA978-76BD-44A9-9FD5-4B6BEFE39CE3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Repeat a block of code a specific number of times</a:t>
            </a:r>
            <a:endParaRPr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B6D79E0-2BFA-4A7B-96E2-5FF1C233DF79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8412480" cy="106070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03EF921-E98C-4C0C-8C56-00F73813B842}"/>
              </a:ext>
            </a:extLst>
          </p:cNvPr>
          <p:cNvSpPr>
            <a:spLocks noGrp="1"/>
          </p:cNvSpPr>
          <p:nvPr/>
        </p:nvSpPr>
        <p:spPr>
          <a:xfrm>
            <a:off x="475488" y="1508760"/>
            <a:ext cx="8193024" cy="6217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// START      CONDITION     UPDATE</a:t>
            </a:r>
          </a:p>
          <a:p>
            <a:pPr algn="l"/>
            <a:r>
              <a:rPr sz="13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for (let i = 0; i &lt; 5; i++)</a:t>
            </a:r>
          </a:p>
          <a:p>
            <a:pPr algn="l"/>
            <a:r>
              <a:rPr sz="13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console.log("Number: " + i);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79661CB-4ADC-4B3F-9125-9F0C8C31382B}"/>
              </a:ext>
            </a:extLst>
          </p:cNvPr>
          <p:cNvSpPr>
            <a:spLocks noGrp="1"/>
          </p:cNvSpPr>
          <p:nvPr/>
        </p:nvSpPr>
        <p:spPr>
          <a:xfrm>
            <a:off x="365760" y="2359152"/>
            <a:ext cx="402336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77A750F-984C-4444-BB1E-754C823E81B7}"/>
              </a:ext>
            </a:extLst>
          </p:cNvPr>
          <p:cNvSpPr>
            <a:spLocks noGrp="1"/>
          </p:cNvSpPr>
          <p:nvPr/>
        </p:nvSpPr>
        <p:spPr>
          <a:xfrm>
            <a:off x="475488" y="2414016"/>
            <a:ext cx="3803904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64748B"/>
                </a:solidFill>
              </a:rPr>
              <a:t>Output:</a:t>
            </a:r>
            <a:endParaRPr sz="10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9CD98E5-99C4-41ED-A77E-ED26005082D4}"/>
              </a:ext>
            </a:extLst>
          </p:cNvPr>
          <p:cNvSpPr>
            <a:spLocks noGrp="1"/>
          </p:cNvSpPr>
          <p:nvPr/>
        </p:nvSpPr>
        <p:spPr>
          <a:xfrm>
            <a:off x="475488" y="2615184"/>
            <a:ext cx="3803904" cy="9784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Number: 0</a:t>
            </a:r>
            <a:endParaRPr sz="1250"/>
          </a:p>
          <a:p>
            <a:pPr marL="0" indent="0">
              <a:buNone/>
            </a:pPr>
            <a:r>
              <a:rPr sz="125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Number: 1</a:t>
            </a:r>
            <a:endParaRPr sz="1250"/>
          </a:p>
          <a:p>
            <a:pPr marL="0" indent="0">
              <a:buNone/>
            </a:pPr>
            <a:r>
              <a:rPr sz="125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Number: 2</a:t>
            </a:r>
            <a:endParaRPr sz="1250"/>
          </a:p>
          <a:p>
            <a:pPr marL="0" indent="0">
              <a:buNone/>
            </a:pPr>
            <a:r>
              <a:rPr sz="125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Number: 3</a:t>
            </a:r>
            <a:endParaRPr sz="1250"/>
          </a:p>
          <a:p>
            <a:pPr marL="0" indent="0">
              <a:buNone/>
            </a:pPr>
            <a:r>
              <a:rPr sz="125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Number: 4</a:t>
            </a:r>
            <a:endParaRPr sz="12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4D7B9D9-EDB4-4627-8E86-90A31C9A8EDA}"/>
              </a:ext>
            </a:extLst>
          </p:cNvPr>
          <p:cNvSpPr>
            <a:spLocks noGrp="1"/>
          </p:cNvSpPr>
          <p:nvPr/>
        </p:nvSpPr>
        <p:spPr>
          <a:xfrm>
            <a:off x="4617720" y="2359152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F2440"/>
                </a:solidFill>
              </a:rPr>
              <a:t>The 3 parts:</a:t>
            </a:r>
            <a:endParaRPr sz="14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85FCDF5-FA64-4716-B657-37590D9A0A43}"/>
              </a:ext>
            </a:extLst>
          </p:cNvPr>
          <p:cNvSpPr>
            <a:spLocks noGrp="1"/>
          </p:cNvSpPr>
          <p:nvPr/>
        </p:nvSpPr>
        <p:spPr>
          <a:xfrm>
            <a:off x="4617720" y="2706624"/>
            <a:ext cx="41605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3B91234-DE03-40CE-8495-4922A40F0858}"/>
              </a:ext>
            </a:extLst>
          </p:cNvPr>
          <p:cNvSpPr>
            <a:spLocks noGrp="1"/>
          </p:cNvSpPr>
          <p:nvPr/>
        </p:nvSpPr>
        <p:spPr>
          <a:xfrm>
            <a:off x="4709160" y="2706624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let i = 0</a:t>
            </a:r>
            <a:endParaRPr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B94AA79-C65A-4E7C-B37D-2F8D7C4D68A1}"/>
              </a:ext>
            </a:extLst>
          </p:cNvPr>
          <p:cNvSpPr>
            <a:spLocks noGrp="1"/>
          </p:cNvSpPr>
          <p:nvPr/>
        </p:nvSpPr>
        <p:spPr>
          <a:xfrm>
            <a:off x="6126480" y="2706624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E293B"/>
                </a:solidFill>
              </a:rPr>
              <a:t>Start — runs once at the beginning. Sets i to 0.</a:t>
            </a:r>
            <a:endParaRPr sz="11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B833E65-0001-4EB5-BFAF-EB7931C50D13}"/>
              </a:ext>
            </a:extLst>
          </p:cNvPr>
          <p:cNvSpPr>
            <a:spLocks noGrp="1"/>
          </p:cNvSpPr>
          <p:nvPr/>
        </p:nvSpPr>
        <p:spPr>
          <a:xfrm>
            <a:off x="4617720" y="3035808"/>
            <a:ext cx="41605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E971B16-0D46-4324-AA29-5B2981E69036}"/>
              </a:ext>
            </a:extLst>
          </p:cNvPr>
          <p:cNvSpPr>
            <a:spLocks noGrp="1"/>
          </p:cNvSpPr>
          <p:nvPr/>
        </p:nvSpPr>
        <p:spPr>
          <a:xfrm>
            <a:off x="4709160" y="303580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F59E0B"/>
                </a:solidFill>
                <a:latin typeface="Courier New"/>
                <a:ea typeface="Courier New"/>
                <a:cs typeface="Courier New"/>
              </a:rPr>
              <a:t>i &lt; 5</a:t>
            </a:r>
            <a:endParaRPr sz="12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7160CAC-E01C-400F-8B8D-4B50FF7C1B94}"/>
              </a:ext>
            </a:extLst>
          </p:cNvPr>
          <p:cNvSpPr>
            <a:spLocks noGrp="1"/>
          </p:cNvSpPr>
          <p:nvPr/>
        </p:nvSpPr>
        <p:spPr>
          <a:xfrm>
            <a:off x="6126480" y="3035808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E293B"/>
                </a:solidFill>
              </a:rPr>
              <a:t>Condition — checked before each loop. If false, loop stops.</a:t>
            </a:r>
            <a:endParaRPr sz="11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F2B8538-0C56-413F-94EA-954E2C9B0542}"/>
              </a:ext>
            </a:extLst>
          </p:cNvPr>
          <p:cNvSpPr>
            <a:spLocks noGrp="1"/>
          </p:cNvSpPr>
          <p:nvPr/>
        </p:nvSpPr>
        <p:spPr>
          <a:xfrm>
            <a:off x="4617720" y="3364992"/>
            <a:ext cx="41605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B80F68F-9170-41FE-B021-F78CAE13075B}"/>
              </a:ext>
            </a:extLst>
          </p:cNvPr>
          <p:cNvSpPr>
            <a:spLocks noGrp="1"/>
          </p:cNvSpPr>
          <p:nvPr/>
        </p:nvSpPr>
        <p:spPr>
          <a:xfrm>
            <a:off x="4709160" y="3364992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7C3AED"/>
                </a:solidFill>
                <a:latin typeface="Courier New"/>
                <a:ea typeface="Courier New"/>
                <a:cs typeface="Courier New"/>
              </a:rPr>
              <a:t>i++</a:t>
            </a:r>
            <a:endParaRPr sz="12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7AA8A20-9033-4CF9-9AA5-E3C1019BC0B9}"/>
              </a:ext>
            </a:extLst>
          </p:cNvPr>
          <p:cNvSpPr>
            <a:spLocks noGrp="1"/>
          </p:cNvSpPr>
          <p:nvPr/>
        </p:nvSpPr>
        <p:spPr>
          <a:xfrm>
            <a:off x="6126480" y="3364992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E293B"/>
                </a:solidFill>
              </a:rPr>
              <a:t>Update — runs after each loop. Adds 1 to i.</a:t>
            </a:r>
            <a:endParaRPr sz="11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1017019-C163-4C48-BB23-94CB6C4945AA}"/>
              </a:ext>
            </a:extLst>
          </p:cNvPr>
          <p:cNvSpPr>
            <a:spLocks noGrp="1"/>
          </p:cNvSpPr>
          <p:nvPr/>
        </p:nvSpPr>
        <p:spPr>
          <a:xfrm>
            <a:off x="365760" y="3822192"/>
            <a:ext cx="841248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F420A51-39F9-44AE-876A-E80342B890BC}"/>
              </a:ext>
            </a:extLst>
          </p:cNvPr>
          <p:cNvSpPr>
            <a:spLocks noGrp="1"/>
          </p:cNvSpPr>
          <p:nvPr/>
        </p:nvSpPr>
        <p:spPr>
          <a:xfrm>
            <a:off x="475488" y="3913632"/>
            <a:ext cx="8193024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// Loop through an array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fruits = ["apple", "banana", "mango"];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for (let i = 0; i &lt; fruits.length; i++) console.log(fruits[i]);</a:t>
            </a: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9E0A7B2-3A94-41AA-AD02-9964DA38A54E}"/>
              </a:ext>
            </a:extLst>
          </p:cNvPr>
          <p:cNvSpPr>
            <a:spLocks noGrp="1"/>
          </p:cNvSpPr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53005C0-47DD-45A2-A017-67063DA9D9D1}"/>
              </a:ext>
            </a:extLst>
          </p:cNvPr>
          <p:cNvSpPr>
            <a:spLocks noGrp="1"/>
          </p:cNvSpPr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DC2626"/>
                </a:solidFill>
              </a:rPr>
              <a:t>⚠ Note </a:t>
            </a:r>
            <a:r>
              <a:rPr sz="1200">
                <a:solidFill>
                  <a:srgbClr val="1E293B"/>
                </a:solidFill>
              </a:rPr>
              <a:t>i starts at 0 (not 1!) because arrays are indexed from 0. Always: i &lt; array.length, not i &lt;= array.length.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53494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D498CFA-F65B-498D-A4CA-C54CFFEB3B46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7B95E1-67C4-4C52-9EC6-D944B47A93DA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LOOPS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D029B9C-53D8-45D2-AF05-5D8CAAF1F8B8}"/>
              </a:ext>
            </a:extLst>
          </p:cNvPr>
          <p:cNvSpPr>
            <a:spLocks noGrp="1"/>
          </p:cNvSpPr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F2440"/>
                </a:solidFill>
                <a:latin typeface="Arial Black"/>
                <a:ea typeface="Arial Black"/>
                <a:cs typeface="Arial Black"/>
              </a:rPr>
              <a:t>While &amp; Do...While Loops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C89D04C-6121-4141-A582-D85520321BD8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Repeat while a condition is true — when you don't know how many times</a:t>
            </a:r>
            <a:endParaRPr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5DAAD44-DDFB-422F-A27A-B87B7AA4692C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4023360" cy="320040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1B096E2-451F-4395-9FF0-B75184D5202F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while loop</a:t>
            </a:r>
            <a:endParaRPr sz="13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69303C3-2D3F-4BB2-8C84-52277FCA33FB}"/>
              </a:ext>
            </a:extLst>
          </p:cNvPr>
          <p:cNvSpPr>
            <a:spLocks noGrp="1"/>
          </p:cNvSpPr>
          <p:nvPr/>
        </p:nvSpPr>
        <p:spPr>
          <a:xfrm>
            <a:off x="365760" y="1737360"/>
            <a:ext cx="4023360" cy="1856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7F7A4F6-A218-4E4D-969C-B447B504AFCB}"/>
              </a:ext>
            </a:extLst>
          </p:cNvPr>
          <p:cNvSpPr>
            <a:spLocks noGrp="1"/>
          </p:cNvSpPr>
          <p:nvPr/>
        </p:nvSpPr>
        <p:spPr>
          <a:xfrm>
            <a:off x="475488" y="1828800"/>
            <a:ext cx="3803904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count = 1;</a:t>
            </a:r>
            <a:endParaRPr sz="1250"/>
          </a:p>
          <a:p>
            <a:pPr marL="0" indent="0">
              <a:buNone/>
            </a:pP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while (count &lt;= 5) {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console.log(count);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count++;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// Prints: 1 2 3 4 5</a:t>
            </a:r>
            <a:endParaRPr sz="12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B15F90A-E282-4B02-BDFD-8A73F1753A1E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40233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E3F156F-FA2F-4270-8053-1B4A4E9BE742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do...while loop</a:t>
            </a:r>
            <a:endParaRPr sz="13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888B348-F85A-447E-A61D-20EDA3E4436C}"/>
              </a:ext>
            </a:extLst>
          </p:cNvPr>
          <p:cNvSpPr>
            <a:spLocks noGrp="1"/>
          </p:cNvSpPr>
          <p:nvPr/>
        </p:nvSpPr>
        <p:spPr>
          <a:xfrm>
            <a:off x="4754880" y="1737360"/>
            <a:ext cx="4023360" cy="1856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9420655-5742-4229-8A9B-34CA01328C8A}"/>
              </a:ext>
            </a:extLst>
          </p:cNvPr>
          <p:cNvSpPr>
            <a:spLocks noGrp="1"/>
          </p:cNvSpPr>
          <p:nvPr/>
        </p:nvSpPr>
        <p:spPr>
          <a:xfrm>
            <a:off x="4864608" y="1828800"/>
            <a:ext cx="3803904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count = 1;</a:t>
            </a:r>
            <a:endParaRPr sz="1250"/>
          </a:p>
          <a:p>
            <a:pPr marL="0" indent="0">
              <a:buNone/>
            </a:pP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do {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console.log(count);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count++;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} while (count &lt;= 5);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// Prints: 1 2 3 4 5</a:t>
            </a:r>
            <a:endParaRPr sz="12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17B951E-2A9B-4962-88ED-015BFEE3D958}"/>
              </a:ext>
            </a:extLst>
          </p:cNvPr>
          <p:cNvSpPr>
            <a:spLocks noGrp="1"/>
          </p:cNvSpPr>
          <p:nvPr/>
        </p:nvSpPr>
        <p:spPr>
          <a:xfrm>
            <a:off x="365760" y="3493008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C1872D1-70B3-4B20-8C23-8F05F0439394}"/>
              </a:ext>
            </a:extLst>
          </p:cNvPr>
          <p:cNvSpPr>
            <a:spLocks noGrp="1"/>
          </p:cNvSpPr>
          <p:nvPr/>
        </p:nvSpPr>
        <p:spPr>
          <a:xfrm>
            <a:off x="365760" y="3493008"/>
            <a:ext cx="54864" cy="804672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EF5E617-40BB-4C0F-BC6F-2A55E63B0CC3}"/>
              </a:ext>
            </a:extLst>
          </p:cNvPr>
          <p:cNvSpPr>
            <a:spLocks noGrp="1"/>
          </p:cNvSpPr>
          <p:nvPr/>
        </p:nvSpPr>
        <p:spPr>
          <a:xfrm>
            <a:off x="530352" y="3566160"/>
            <a:ext cx="3767328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F2440"/>
                </a:solidFill>
              </a:rPr>
              <a:t>while</a:t>
            </a:r>
            <a:endParaRPr sz="13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DB3213C-3157-4FF7-AD74-4662F9DF89D4}"/>
              </a:ext>
            </a:extLst>
          </p:cNvPr>
          <p:cNvSpPr>
            <a:spLocks noGrp="1"/>
          </p:cNvSpPr>
          <p:nvPr/>
        </p:nvSpPr>
        <p:spPr>
          <a:xfrm>
            <a:off x="530352" y="3822192"/>
            <a:ext cx="3767328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1E293B"/>
                </a:solidFill>
              </a:rPr>
              <a:t>Checks condition FIRST. If it starts false, the block never runs.</a:t>
            </a:r>
            <a:endParaRPr sz="12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D9F71FE-F4F9-40F6-95F2-B48C9A020D91}"/>
              </a:ext>
            </a:extLst>
          </p:cNvPr>
          <p:cNvSpPr>
            <a:spLocks noGrp="1"/>
          </p:cNvSpPr>
          <p:nvPr/>
        </p:nvSpPr>
        <p:spPr>
          <a:xfrm>
            <a:off x="4754880" y="3493008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69ACE0E-64A3-47F0-9238-D984D3FB45AD}"/>
              </a:ext>
            </a:extLst>
          </p:cNvPr>
          <p:cNvSpPr>
            <a:spLocks noGrp="1"/>
          </p:cNvSpPr>
          <p:nvPr/>
        </p:nvSpPr>
        <p:spPr>
          <a:xfrm>
            <a:off x="4754880" y="3493008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DC10BAD-2EBD-482C-9C90-A05715FDC9C7}"/>
              </a:ext>
            </a:extLst>
          </p:cNvPr>
          <p:cNvSpPr>
            <a:spLocks noGrp="1"/>
          </p:cNvSpPr>
          <p:nvPr/>
        </p:nvSpPr>
        <p:spPr>
          <a:xfrm>
            <a:off x="4919472" y="3566160"/>
            <a:ext cx="3767328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F2440"/>
                </a:solidFill>
              </a:rPr>
              <a:t>do...while</a:t>
            </a:r>
            <a:endParaRPr sz="13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F9DF971-15AC-4B29-908A-5601F7AC71F5}"/>
              </a:ext>
            </a:extLst>
          </p:cNvPr>
          <p:cNvSpPr>
            <a:spLocks noGrp="1"/>
          </p:cNvSpPr>
          <p:nvPr/>
        </p:nvSpPr>
        <p:spPr>
          <a:xfrm>
            <a:off x="4919472" y="3822192"/>
            <a:ext cx="3767328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1E293B"/>
                </a:solidFill>
              </a:rPr>
              <a:t>Runs the block FIRST, then checks. Always runs at least once.</a:t>
            </a:r>
            <a:endParaRPr sz="12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AC03226-E474-44F4-9417-E668E14E21D0}"/>
              </a:ext>
            </a:extLst>
          </p:cNvPr>
          <p:cNvSpPr>
            <a:spLocks noGrp="1"/>
          </p:cNvSpPr>
          <p:nvPr/>
        </p:nvSpPr>
        <p:spPr>
          <a:xfrm>
            <a:off x="365760" y="4434840"/>
            <a:ext cx="841248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F48EB85-81F6-42F0-96A2-10D04F47B57D}"/>
              </a:ext>
            </a:extLst>
          </p:cNvPr>
          <p:cNvSpPr>
            <a:spLocks noGrp="1"/>
          </p:cNvSpPr>
          <p:nvPr/>
        </p:nvSpPr>
        <p:spPr>
          <a:xfrm>
            <a:off x="502920" y="4434840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DC2626"/>
                </a:solidFill>
              </a:rPr>
              <a:t>⚠ Note </a:t>
            </a:r>
            <a:r>
              <a:rPr sz="1200">
                <a:solidFill>
                  <a:srgbClr val="1E293B"/>
                </a:solidFill>
              </a:rPr>
              <a:t>Always make sure your loop will eventually stop! If the condition is always true, you get an infinite loop that freezes the browser.</a:t>
            </a:r>
            <a:endParaRPr sz="12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581F3C1-FFCD-4C4B-86E7-3E3FD2E4DC69}"/>
              </a:ext>
            </a:extLst>
          </p:cNvPr>
          <p:cNvSpPr>
            <a:spLocks noGrp="1"/>
          </p:cNvSpPr>
          <p:nvPr/>
        </p:nvSpPr>
        <p:spPr>
          <a:xfrm>
            <a:off x="365760" y="5029200"/>
            <a:ext cx="841248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10FC79E-FE49-4FEB-91E0-37F1DA58B22F}"/>
              </a:ext>
            </a:extLst>
          </p:cNvPr>
          <p:cNvSpPr>
            <a:spLocks noGrp="1"/>
          </p:cNvSpPr>
          <p:nvPr/>
        </p:nvSpPr>
        <p:spPr>
          <a:xfrm>
            <a:off x="475488" y="4928616"/>
            <a:ext cx="8193024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>
                <a:solidFill>
                  <a:srgbClr val="0F2440"/>
                </a:solidFill>
                <a:latin typeface="Courier New"/>
                <a:ea typeface="Courier New"/>
                <a:cs typeface="Courier New"/>
              </a:rPr>
              <a:t>// Array loop: for (const fruit of ["apple", "banana"]) console.log(fruit);</a:t>
            </a:r>
          </a:p>
        </p:txBody>
      </p:sp>
    </p:spTree>
    <p:extLst>
      <p:ext uri="{BB962C8B-B14F-4D97-AF65-F5344CB8AC3E}">
        <p14:creationId xmlns:p14="http://schemas.microsoft.com/office/powerpoint/2010/main" val="1773947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C584A18-5164-4DAF-A8F7-679D5077B930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A3D3BA-30EB-4A4D-BF38-FFCE7D5F6C79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FUNCTIONS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B841361-D6E5-4167-BA5F-B48646A08CC7}"/>
              </a:ext>
            </a:extLst>
          </p:cNvPr>
          <p:cNvSpPr>
            <a:spLocks noGrp="1"/>
          </p:cNvSpPr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F2440"/>
                </a:solidFill>
                <a:latin typeface="Arial Black"/>
                <a:ea typeface="Arial Black"/>
                <a:cs typeface="Arial Black"/>
              </a:rPr>
              <a:t>Functions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1BB24E0-5C5A-4E0B-9EC1-D7305290B0E9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A reusable block of code. Write once, run many times.</a:t>
            </a:r>
            <a:endParaRPr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3A8B60F-5EAF-42D2-AB23-B680774021B2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8412480" cy="96926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4A6F5DA-D84D-419C-8FB2-6656CD58FE3F}"/>
              </a:ext>
            </a:extLst>
          </p:cNvPr>
          <p:cNvSpPr>
            <a:spLocks noGrp="1"/>
          </p:cNvSpPr>
          <p:nvPr/>
        </p:nvSpPr>
        <p:spPr>
          <a:xfrm>
            <a:off x="475488" y="1508760"/>
            <a:ext cx="8193024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function greet() { console.log("Hello!"); }</a:t>
            </a:r>
          </a:p>
          <a:p>
            <a:pPr algn="l"/>
            <a:r>
              <a:rPr sz="13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greet(); // → Hello!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D4CA3DD-8832-48DC-A24E-AFBBB7A345EF}"/>
              </a:ext>
            </a:extLst>
          </p:cNvPr>
          <p:cNvSpPr>
            <a:spLocks noGrp="1"/>
          </p:cNvSpPr>
          <p:nvPr/>
        </p:nvSpPr>
        <p:spPr>
          <a:xfrm>
            <a:off x="365760" y="20848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use functions?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DB1B5DF-126A-4AA2-8C34-79621520DAF2}"/>
              </a:ext>
            </a:extLst>
          </p:cNvPr>
          <p:cNvSpPr>
            <a:spLocks noGrp="1"/>
          </p:cNvSpPr>
          <p:nvPr/>
        </p:nvSpPr>
        <p:spPr>
          <a:xfrm>
            <a:off x="365760" y="2578608"/>
            <a:ext cx="265176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E3D058A-08EA-48BB-ABB0-BF3022E058E8}"/>
              </a:ext>
            </a:extLst>
          </p:cNvPr>
          <p:cNvSpPr>
            <a:spLocks noGrp="1"/>
          </p:cNvSpPr>
          <p:nvPr/>
        </p:nvSpPr>
        <p:spPr>
          <a:xfrm>
            <a:off x="365760" y="26060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>
                <a:solidFill>
                  <a:srgbClr val="000000"/>
                </a:solidFill>
              </a:rPr>
              <a:t>♻</a:t>
            </a:r>
            <a:endParaRPr sz="2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271CB77-8FC0-4CDE-8B42-8B8EF3861508}"/>
              </a:ext>
            </a:extLst>
          </p:cNvPr>
          <p:cNvSpPr>
            <a:spLocks noGrp="1"/>
          </p:cNvSpPr>
          <p:nvPr/>
        </p:nvSpPr>
        <p:spPr>
          <a:xfrm>
            <a:off x="475488" y="306324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F2440"/>
                </a:solidFill>
              </a:rPr>
              <a:t>Reusable</a:t>
            </a:r>
            <a:endParaRPr sz="13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26C03F8-3829-435E-99B8-8E1CDE00F30F}"/>
              </a:ext>
            </a:extLst>
          </p:cNvPr>
          <p:cNvSpPr>
            <a:spLocks noGrp="1"/>
          </p:cNvSpPr>
          <p:nvPr/>
        </p:nvSpPr>
        <p:spPr>
          <a:xfrm>
            <a:off x="475488" y="3337560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E293B"/>
                </a:solidFill>
              </a:rPr>
              <a:t>Write code once, run it wherever you need it — no copy-pasting.</a:t>
            </a:r>
            <a:endParaRPr sz="11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EE729EB-F415-4E8F-9F32-35B482323525}"/>
              </a:ext>
            </a:extLst>
          </p:cNvPr>
          <p:cNvSpPr>
            <a:spLocks noGrp="1"/>
          </p:cNvSpPr>
          <p:nvPr/>
        </p:nvSpPr>
        <p:spPr>
          <a:xfrm>
            <a:off x="3200400" y="2578608"/>
            <a:ext cx="265176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0B00B4E-BC30-4EA3-8A9E-8E22E9B63C74}"/>
              </a:ext>
            </a:extLst>
          </p:cNvPr>
          <p:cNvSpPr>
            <a:spLocks noGrp="1"/>
          </p:cNvSpPr>
          <p:nvPr/>
        </p:nvSpPr>
        <p:spPr>
          <a:xfrm>
            <a:off x="3200400" y="26060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>
                <a:solidFill>
                  <a:srgbClr val="000000"/>
                </a:solidFill>
              </a:rPr>
              <a:t>🧹</a:t>
            </a:r>
            <a:endParaRPr sz="24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700A82F-A16F-460D-9A96-2727EE3E1DE4}"/>
              </a:ext>
            </a:extLst>
          </p:cNvPr>
          <p:cNvSpPr>
            <a:spLocks noGrp="1"/>
          </p:cNvSpPr>
          <p:nvPr/>
        </p:nvSpPr>
        <p:spPr>
          <a:xfrm>
            <a:off x="3310128" y="306324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F2440"/>
                </a:solidFill>
              </a:rPr>
              <a:t>Organised</a:t>
            </a:r>
            <a:endParaRPr sz="13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F68D538-A883-4CA7-980E-1836781766F9}"/>
              </a:ext>
            </a:extLst>
          </p:cNvPr>
          <p:cNvSpPr>
            <a:spLocks noGrp="1"/>
          </p:cNvSpPr>
          <p:nvPr/>
        </p:nvSpPr>
        <p:spPr>
          <a:xfrm>
            <a:off x="3310128" y="3337560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E293B"/>
                </a:solidFill>
              </a:rPr>
              <a:t>Break big problems into small named pieces. Easier to read and debug.</a:t>
            </a:r>
            <a:endParaRPr sz="11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EC6E19F-5A09-479B-909D-96859844CF8C}"/>
              </a:ext>
            </a:extLst>
          </p:cNvPr>
          <p:cNvSpPr>
            <a:spLocks noGrp="1"/>
          </p:cNvSpPr>
          <p:nvPr/>
        </p:nvSpPr>
        <p:spPr>
          <a:xfrm>
            <a:off x="6035040" y="2578608"/>
            <a:ext cx="265176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DDA9C5D-5DEE-4828-81BF-D9A33D43A59D}"/>
              </a:ext>
            </a:extLst>
          </p:cNvPr>
          <p:cNvSpPr>
            <a:spLocks noGrp="1"/>
          </p:cNvSpPr>
          <p:nvPr/>
        </p:nvSpPr>
        <p:spPr>
          <a:xfrm>
            <a:off x="6035040" y="26060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>
                <a:solidFill>
                  <a:srgbClr val="000000"/>
                </a:solidFill>
              </a:rPr>
              <a:t>🔧</a:t>
            </a:r>
            <a:endParaRPr sz="24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AD47B49-149B-4780-ABEE-056D5440BF8C}"/>
              </a:ext>
            </a:extLst>
          </p:cNvPr>
          <p:cNvSpPr>
            <a:spLocks noGrp="1"/>
          </p:cNvSpPr>
          <p:nvPr/>
        </p:nvSpPr>
        <p:spPr>
          <a:xfrm>
            <a:off x="6144768" y="306324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F2440"/>
                </a:solidFill>
              </a:rPr>
              <a:t>Maintainable</a:t>
            </a:r>
            <a:endParaRPr sz="13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21B7E7D-8FD7-4AC5-892B-21A3A0D590AD}"/>
              </a:ext>
            </a:extLst>
          </p:cNvPr>
          <p:cNvSpPr>
            <a:spLocks noGrp="1"/>
          </p:cNvSpPr>
          <p:nvPr/>
        </p:nvSpPr>
        <p:spPr>
          <a:xfrm>
            <a:off x="6144768" y="3337560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E293B"/>
                </a:solidFill>
              </a:rPr>
              <a:t>Fix a bug in one place instead of hunting it down in 10 places.</a:t>
            </a:r>
            <a:endParaRPr sz="11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CB0AF0D-0306-4783-B3A2-848873391A55}"/>
              </a:ext>
            </a:extLst>
          </p:cNvPr>
          <p:cNvSpPr>
            <a:spLocks noGrp="1"/>
          </p:cNvSpPr>
          <p:nvPr/>
        </p:nvSpPr>
        <p:spPr>
          <a:xfrm>
            <a:off x="365760" y="4224528"/>
            <a:ext cx="8412480" cy="47548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684C56F-045E-455B-B0C5-104C28544959}"/>
              </a:ext>
            </a:extLst>
          </p:cNvPr>
          <p:cNvSpPr>
            <a:spLocks noGrp="1"/>
          </p:cNvSpPr>
          <p:nvPr/>
        </p:nvSpPr>
        <p:spPr>
          <a:xfrm>
            <a:off x="502920" y="4224528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</a:rPr>
              <a:t>💡 Tip </a:t>
            </a:r>
            <a:r>
              <a:rPr sz="1200">
                <a:solidFill>
                  <a:srgbClr val="1E293B"/>
                </a:solidFill>
              </a:rPr>
              <a:t>Function names should describe what they do: calculateTotal(), showMessage(), hideMenu() — not f1() or doStuff().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566807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4089A8-0134-4DFB-B641-A058CEE28C8B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0A2C718-C832-4B2B-B29B-8F6BCC153454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FUNCTIONS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69947D-A686-4440-922A-F87A36F9D1C2}"/>
              </a:ext>
            </a:extLst>
          </p:cNvPr>
          <p:cNvSpPr>
            <a:spLocks noGrp="1"/>
          </p:cNvSpPr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F2440"/>
                </a:solidFill>
                <a:latin typeface="Arial Black"/>
                <a:ea typeface="Arial Black"/>
                <a:cs typeface="Arial Black"/>
              </a:rPr>
              <a:t>Parameters &amp; Return Values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D06D1ED-8CD5-495B-B7B2-6FCDC4114AAB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Functions can accept input and give back a result</a:t>
            </a:r>
            <a:endParaRPr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601D1BD-D976-4758-9E1C-3BF0BBC29048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8412480" cy="292608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90390D4-FC0B-4BD6-99D6-FE8B22EC78C1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Parameters — pass data INTO a function</a:t>
            </a:r>
            <a:endParaRPr sz="12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9193B6C-822A-44D9-9178-B993215B4286}"/>
              </a:ext>
            </a:extLst>
          </p:cNvPr>
          <p:cNvSpPr>
            <a:spLocks noGrp="1"/>
          </p:cNvSpPr>
          <p:nvPr/>
        </p:nvSpPr>
        <p:spPr>
          <a:xfrm>
            <a:off x="365760" y="1709928"/>
            <a:ext cx="841248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FB75397-72C1-4AEF-841E-EBB349DEDF9B}"/>
              </a:ext>
            </a:extLst>
          </p:cNvPr>
          <p:cNvSpPr>
            <a:spLocks noGrp="1"/>
          </p:cNvSpPr>
          <p:nvPr/>
        </p:nvSpPr>
        <p:spPr>
          <a:xfrm>
            <a:off x="475488" y="1801368"/>
            <a:ext cx="8193024" cy="8046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function greet(name, city) {</a:t>
            </a:r>
          </a:p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console.log(`Hello ${name} from ${city}!`);</a:t>
            </a:r>
          </a:p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}</a:t>
            </a:r>
          </a:p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greet("Pranta", "Dhaka"); // arguments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CB0C131-661B-4E51-B4E1-B2D22E1F6A14}"/>
              </a:ext>
            </a:extLst>
          </p:cNvPr>
          <p:cNvSpPr>
            <a:spLocks noGrp="1"/>
          </p:cNvSpPr>
          <p:nvPr/>
        </p:nvSpPr>
        <p:spPr>
          <a:xfrm>
            <a:off x="365760" y="2679192"/>
            <a:ext cx="84124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8365467-63D2-4602-BCA0-941E316F0CF2}"/>
              </a:ext>
            </a:extLst>
          </p:cNvPr>
          <p:cNvSpPr>
            <a:spLocks noGrp="1"/>
          </p:cNvSpPr>
          <p:nvPr/>
        </p:nvSpPr>
        <p:spPr>
          <a:xfrm>
            <a:off x="365760" y="2679192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return — send data BACK from a function</a:t>
            </a:r>
            <a:endParaRPr sz="12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E367533-39D2-4408-9B10-EAB46AECCA56}"/>
              </a:ext>
            </a:extLst>
          </p:cNvPr>
          <p:cNvSpPr>
            <a:spLocks noGrp="1"/>
          </p:cNvSpPr>
          <p:nvPr/>
        </p:nvSpPr>
        <p:spPr>
          <a:xfrm>
            <a:off x="365760" y="2971800"/>
            <a:ext cx="8412480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9B32A24-CBA2-4A9F-95B8-D36C47F81817}"/>
              </a:ext>
            </a:extLst>
          </p:cNvPr>
          <p:cNvSpPr>
            <a:spLocks noGrp="1"/>
          </p:cNvSpPr>
          <p:nvPr/>
        </p:nvSpPr>
        <p:spPr>
          <a:xfrm>
            <a:off x="475488" y="3063240"/>
            <a:ext cx="8193024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function add(a, b) { return a + b; }</a:t>
            </a:r>
          </a:p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result = add(10, 5); // 15</a:t>
            </a:r>
          </a:p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console.log(result);</a:t>
            </a:r>
          </a:p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console.log(add(3, 7));  // 10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2E6E24B-B418-477F-A122-33E8CBAEBCA9}"/>
              </a:ext>
            </a:extLst>
          </p:cNvPr>
          <p:cNvSpPr>
            <a:spLocks noGrp="1"/>
          </p:cNvSpPr>
          <p:nvPr/>
        </p:nvSpPr>
        <p:spPr>
          <a:xfrm>
            <a:off x="365760" y="4096512"/>
            <a:ext cx="841248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7F6DE84-A8DA-4A8C-8A6B-923A48469E8D}"/>
              </a:ext>
            </a:extLst>
          </p:cNvPr>
          <p:cNvSpPr>
            <a:spLocks noGrp="1"/>
          </p:cNvSpPr>
          <p:nvPr/>
        </p:nvSpPr>
        <p:spPr>
          <a:xfrm>
            <a:off x="502920" y="4096512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DC2626"/>
                </a:solidFill>
              </a:rPr>
              <a:t>⚠ Note </a:t>
            </a:r>
            <a:r>
              <a:rPr sz="1200">
                <a:solidFill>
                  <a:srgbClr val="1E293B"/>
                </a:solidFill>
              </a:rPr>
              <a:t>A function stops running as soon as it hits return. Anything written after return in the same block is never executed.</a:t>
            </a:r>
            <a:endParaRPr sz="12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7741EBA-F790-483B-90FF-098477214D74}"/>
              </a:ext>
            </a:extLst>
          </p:cNvPr>
          <p:cNvSpPr>
            <a:spLocks noGrp="1"/>
          </p:cNvSpPr>
          <p:nvPr/>
        </p:nvSpPr>
        <p:spPr>
          <a:xfrm>
            <a:off x="365760" y="4663440"/>
            <a:ext cx="841248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5C779A6-5A77-4718-8517-FD999FC2157D}"/>
              </a:ext>
            </a:extLst>
          </p:cNvPr>
          <p:cNvSpPr>
            <a:spLocks noGrp="1"/>
          </p:cNvSpPr>
          <p:nvPr/>
        </p:nvSpPr>
        <p:spPr>
          <a:xfrm>
            <a:off x="475488" y="4700016"/>
            <a:ext cx="8193024" cy="4023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>
                <a:solidFill>
                  <a:srgbClr val="0F2440"/>
                </a:solidFill>
                <a:latin typeface="Courier New"/>
                <a:ea typeface="Courier New"/>
                <a:cs typeface="Courier New"/>
              </a:rPr>
              <a:t>// Arrow function — shorter syntax (modern JS)</a:t>
            </a:r>
          </a:p>
          <a:p>
            <a:pPr algn="l"/>
            <a:r>
              <a:rPr sz="1200">
                <a:solidFill>
                  <a:srgbClr val="0F2440"/>
                </a:solidFill>
                <a:latin typeface="Courier New"/>
                <a:ea typeface="Courier New"/>
                <a:cs typeface="Courier New"/>
              </a:rPr>
              <a:t>const add = (a, b) =&gt; a + b; // same as the function above</a:t>
            </a:r>
          </a:p>
        </p:txBody>
      </p:sp>
    </p:spTree>
    <p:extLst>
      <p:ext uri="{BB962C8B-B14F-4D97-AF65-F5344CB8AC3E}">
        <p14:creationId xmlns:p14="http://schemas.microsoft.com/office/powerpoint/2010/main" val="2071804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CB7896-12E2-42F7-8FEF-D7E94978F4A3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E0ADD5-2FD7-4764-ADCB-144636032EDD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ARRAYS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351CF5B-1026-4A7E-9125-B4E181B6D745}"/>
              </a:ext>
            </a:extLst>
          </p:cNvPr>
          <p:cNvSpPr>
            <a:spLocks noGrp="1"/>
          </p:cNvSpPr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F2440"/>
                </a:solidFill>
                <a:latin typeface="Arial Black"/>
                <a:ea typeface="Arial Black"/>
                <a:cs typeface="Arial Black"/>
              </a:rPr>
              <a:t>Arrays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F6B8A2B-C49F-4AA6-A621-08D69D8E6627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Store multiple values in one variable — like a list</a:t>
            </a:r>
            <a:endParaRPr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28A9C7C-65A7-435E-9294-14F861EC3DF9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841248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5C464A2-6358-4D66-BED3-EC4589E16289}"/>
              </a:ext>
            </a:extLst>
          </p:cNvPr>
          <p:cNvSpPr>
            <a:spLocks noGrp="1"/>
          </p:cNvSpPr>
          <p:nvPr/>
        </p:nvSpPr>
        <p:spPr>
          <a:xfrm>
            <a:off x="475488" y="1508760"/>
            <a:ext cx="8193024" cy="7863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// Array indices start at 0</a:t>
            </a:r>
          </a:p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fruits = ["apple", "banana", "mango", "orange"];</a:t>
            </a:r>
          </a:p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console.log(fruits[0]);     // → "apple"</a:t>
            </a:r>
          </a:p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console.log(fruits.length); // → 4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5F426D7-B98C-4569-883E-92771568635E}"/>
              </a:ext>
            </a:extLst>
          </p:cNvPr>
          <p:cNvSpPr>
            <a:spLocks noGrp="1"/>
          </p:cNvSpPr>
          <p:nvPr/>
        </p:nvSpPr>
        <p:spPr>
          <a:xfrm>
            <a:off x="365760" y="2359152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Common array operations: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1670249-8118-44B4-883E-05A0A0BB8F84}"/>
              </a:ext>
            </a:extLst>
          </p:cNvPr>
          <p:cNvSpPr>
            <a:spLocks noGrp="1"/>
          </p:cNvSpPr>
          <p:nvPr/>
        </p:nvSpPr>
        <p:spPr>
          <a:xfrm>
            <a:off x="365760" y="2926080"/>
            <a:ext cx="8412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08A42C4-27D7-41BC-8564-63BED1ADBD77}"/>
              </a:ext>
            </a:extLst>
          </p:cNvPr>
          <p:cNvSpPr>
            <a:spLocks noGrp="1"/>
          </p:cNvSpPr>
          <p:nvPr/>
        </p:nvSpPr>
        <p:spPr>
          <a:xfrm>
            <a:off x="457200" y="29260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fruits.push("grape")</a:t>
            </a:r>
            <a:endParaRPr sz="11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279EFA9-347D-4CC8-8EA8-A8982424A9A7}"/>
              </a:ext>
            </a:extLst>
          </p:cNvPr>
          <p:cNvSpPr>
            <a:spLocks noGrp="1"/>
          </p:cNvSpPr>
          <p:nvPr/>
        </p:nvSpPr>
        <p:spPr>
          <a:xfrm>
            <a:off x="3703320" y="292608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Add to END</a:t>
            </a:r>
            <a:endParaRPr sz="11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3B10CB8-C8E6-4377-89D6-8B46C8F788AD}"/>
              </a:ext>
            </a:extLst>
          </p:cNvPr>
          <p:cNvSpPr>
            <a:spLocks noGrp="1"/>
          </p:cNvSpPr>
          <p:nvPr/>
        </p:nvSpPr>
        <p:spPr>
          <a:xfrm>
            <a:off x="6035040" y="2926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array now has 5 items</a:t>
            </a:r>
            <a:endParaRPr sz="11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0B5DFF9-4CB1-4AD6-8956-338D72D250FC}"/>
              </a:ext>
            </a:extLst>
          </p:cNvPr>
          <p:cNvSpPr>
            <a:spLocks noGrp="1"/>
          </p:cNvSpPr>
          <p:nvPr/>
        </p:nvSpPr>
        <p:spPr>
          <a:xfrm>
            <a:off x="365760" y="3200400"/>
            <a:ext cx="84124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A52D78E-C924-4A93-8451-5FD3BDE69D3B}"/>
              </a:ext>
            </a:extLst>
          </p:cNvPr>
          <p:cNvSpPr>
            <a:spLocks noGrp="1"/>
          </p:cNvSpPr>
          <p:nvPr/>
        </p:nvSpPr>
        <p:spPr>
          <a:xfrm>
            <a:off x="457200" y="320040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fruits.pop()</a:t>
            </a:r>
            <a:endParaRPr sz="11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F3F0EC3-5E30-4F41-8788-025AC5C6BD1A}"/>
              </a:ext>
            </a:extLst>
          </p:cNvPr>
          <p:cNvSpPr>
            <a:spLocks noGrp="1"/>
          </p:cNvSpPr>
          <p:nvPr/>
        </p:nvSpPr>
        <p:spPr>
          <a:xfrm>
            <a:off x="3703320" y="320040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Remove from END</a:t>
            </a:r>
            <a:endParaRPr sz="11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DAC8186-FA12-4441-B56F-05175D2965B2}"/>
              </a:ext>
            </a:extLst>
          </p:cNvPr>
          <p:cNvSpPr>
            <a:spLocks noGrp="1"/>
          </p:cNvSpPr>
          <p:nvPr/>
        </p:nvSpPr>
        <p:spPr>
          <a:xfrm>
            <a:off x="6035040" y="320040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removes "orange"</a:t>
            </a:r>
            <a:endParaRPr sz="11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AB43AC5-C045-4899-9EA4-97D60772DAFA}"/>
              </a:ext>
            </a:extLst>
          </p:cNvPr>
          <p:cNvSpPr>
            <a:spLocks noGrp="1"/>
          </p:cNvSpPr>
          <p:nvPr/>
        </p:nvSpPr>
        <p:spPr>
          <a:xfrm>
            <a:off x="365760" y="3474720"/>
            <a:ext cx="8412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DD2B939-22B8-4CEC-82F4-4945E7351938}"/>
              </a:ext>
            </a:extLst>
          </p:cNvPr>
          <p:cNvSpPr>
            <a:spLocks noGrp="1"/>
          </p:cNvSpPr>
          <p:nvPr/>
        </p:nvSpPr>
        <p:spPr>
          <a:xfrm>
            <a:off x="457200" y="347472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fruits.unshift("fig")</a:t>
            </a:r>
            <a:endParaRPr sz="11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BE2FB82-188B-47DB-86E6-8E9D29F1C4EC}"/>
              </a:ext>
            </a:extLst>
          </p:cNvPr>
          <p:cNvSpPr>
            <a:spLocks noGrp="1"/>
          </p:cNvSpPr>
          <p:nvPr/>
        </p:nvSpPr>
        <p:spPr>
          <a:xfrm>
            <a:off x="3703320" y="347472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Add to BEGINNING</a:t>
            </a:r>
            <a:endParaRPr sz="11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B728DAF-72F9-4C0A-9191-40BF2A194AAC}"/>
              </a:ext>
            </a:extLst>
          </p:cNvPr>
          <p:cNvSpPr>
            <a:spLocks noGrp="1"/>
          </p:cNvSpPr>
          <p:nvPr/>
        </p:nvSpPr>
        <p:spPr>
          <a:xfrm>
            <a:off x="6035040" y="347472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array now starts with "fig"</a:t>
            </a:r>
            <a:endParaRPr sz="11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CC1B875-AF1C-4062-A605-C4440FCA20B2}"/>
              </a:ext>
            </a:extLst>
          </p:cNvPr>
          <p:cNvSpPr>
            <a:spLocks noGrp="1"/>
          </p:cNvSpPr>
          <p:nvPr/>
        </p:nvSpPr>
        <p:spPr>
          <a:xfrm>
            <a:off x="365760" y="3749040"/>
            <a:ext cx="84124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9091D2E-A321-4785-B5B2-6CA474E7C121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fruits.shift()</a:t>
            </a:r>
            <a:endParaRPr sz="11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255A81C-5099-4729-A619-B45E1FBD7011}"/>
              </a:ext>
            </a:extLst>
          </p:cNvPr>
          <p:cNvSpPr>
            <a:spLocks noGrp="1"/>
          </p:cNvSpPr>
          <p:nvPr/>
        </p:nvSpPr>
        <p:spPr>
          <a:xfrm>
            <a:off x="3703320" y="37490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Remove from BEGINNING</a:t>
            </a:r>
            <a:endParaRPr sz="11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411C6F3-A1A9-4C13-AFCB-CC03A2666667}"/>
              </a:ext>
            </a:extLst>
          </p:cNvPr>
          <p:cNvSpPr>
            <a:spLocks noGrp="1"/>
          </p:cNvSpPr>
          <p:nvPr/>
        </p:nvSpPr>
        <p:spPr>
          <a:xfrm>
            <a:off x="6035040" y="374904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removes first item</a:t>
            </a:r>
            <a:endParaRPr sz="110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A27DC6C-DF09-4E7F-A10E-1A3135BF6A04}"/>
              </a:ext>
            </a:extLst>
          </p:cNvPr>
          <p:cNvSpPr>
            <a:spLocks noGrp="1"/>
          </p:cNvSpPr>
          <p:nvPr/>
        </p:nvSpPr>
        <p:spPr>
          <a:xfrm>
            <a:off x="365760" y="4023360"/>
            <a:ext cx="8412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F61C345-3DDD-4104-9A2F-04433BE1D107}"/>
              </a:ext>
            </a:extLst>
          </p:cNvPr>
          <p:cNvSpPr>
            <a:spLocks noGrp="1"/>
          </p:cNvSpPr>
          <p:nvPr/>
        </p:nvSpPr>
        <p:spPr>
          <a:xfrm>
            <a:off x="457200" y="402336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fruits.indexOf("banana")</a:t>
            </a:r>
            <a:endParaRPr sz="11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4AB3A0B-79B6-4FF4-938B-16C1296F6114}"/>
              </a:ext>
            </a:extLst>
          </p:cNvPr>
          <p:cNvSpPr>
            <a:spLocks noGrp="1"/>
          </p:cNvSpPr>
          <p:nvPr/>
        </p:nvSpPr>
        <p:spPr>
          <a:xfrm>
            <a:off x="3703320" y="402336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Find position</a:t>
            </a:r>
            <a:endParaRPr sz="11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9EB1B57-05EA-49DD-978C-5ACC9DD0ABA1}"/>
              </a:ext>
            </a:extLst>
          </p:cNvPr>
          <p:cNvSpPr>
            <a:spLocks noGrp="1"/>
          </p:cNvSpPr>
          <p:nvPr/>
        </p:nvSpPr>
        <p:spPr>
          <a:xfrm>
            <a:off x="6035040" y="402336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returns 1</a:t>
            </a:r>
            <a:endParaRPr sz="110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14899309-970E-4953-B31C-5D9B01A32EE7}"/>
              </a:ext>
            </a:extLst>
          </p:cNvPr>
          <p:cNvSpPr>
            <a:spLocks noGrp="1"/>
          </p:cNvSpPr>
          <p:nvPr/>
        </p:nvSpPr>
        <p:spPr>
          <a:xfrm>
            <a:off x="365760" y="4297680"/>
            <a:ext cx="84124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B62F2F3-7E08-46AE-B901-24CDA3B1972C}"/>
              </a:ext>
            </a:extLst>
          </p:cNvPr>
          <p:cNvSpPr>
            <a:spLocks noGrp="1"/>
          </p:cNvSpPr>
          <p:nvPr/>
        </p:nvSpPr>
        <p:spPr>
          <a:xfrm>
            <a:off x="457200" y="42976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fruits.includes("mango")</a:t>
            </a:r>
            <a:endParaRPr sz="11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0EBAF173-2815-47D5-9979-66F1E1F03232}"/>
              </a:ext>
            </a:extLst>
          </p:cNvPr>
          <p:cNvSpPr>
            <a:spLocks noGrp="1"/>
          </p:cNvSpPr>
          <p:nvPr/>
        </p:nvSpPr>
        <p:spPr>
          <a:xfrm>
            <a:off x="3703320" y="429768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Check if exists</a:t>
            </a:r>
            <a:endParaRPr sz="11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A8122A06-0E0E-4723-B224-F29937C622ED}"/>
              </a:ext>
            </a:extLst>
          </p:cNvPr>
          <p:cNvSpPr>
            <a:spLocks noGrp="1"/>
          </p:cNvSpPr>
          <p:nvPr/>
        </p:nvSpPr>
        <p:spPr>
          <a:xfrm>
            <a:off x="6035040" y="42976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returns true</a:t>
            </a:r>
            <a:endParaRPr sz="110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CC6502E-542A-4621-9D83-A5875D66315E}"/>
              </a:ext>
            </a:extLst>
          </p:cNvPr>
          <p:cNvSpPr>
            <a:spLocks noGrp="1"/>
          </p:cNvSpPr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56F7633-2BEB-4CD3-BB4F-203F865326AA}"/>
              </a:ext>
            </a:extLst>
          </p:cNvPr>
          <p:cNvSpPr>
            <a:spLocks noGrp="1"/>
          </p:cNvSpPr>
          <p:nvPr/>
        </p:nvSpPr>
        <p:spPr>
          <a:xfrm>
            <a:off x="457200" y="457200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fruits.join(", ")</a:t>
            </a:r>
            <a:endParaRPr sz="110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7E8AD6F-FA57-49FB-813D-0A9955FF58CD}"/>
              </a:ext>
            </a:extLst>
          </p:cNvPr>
          <p:cNvSpPr>
            <a:spLocks noGrp="1"/>
          </p:cNvSpPr>
          <p:nvPr/>
        </p:nvSpPr>
        <p:spPr>
          <a:xfrm>
            <a:off x="3703320" y="457200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Convert to string</a:t>
            </a:r>
            <a:endParaRPr sz="110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BBB086A9-02B7-47AB-B7E7-0B44D680796E}"/>
              </a:ext>
            </a:extLst>
          </p:cNvPr>
          <p:cNvSpPr>
            <a:spLocks noGrp="1"/>
          </p:cNvSpPr>
          <p:nvPr/>
        </p:nvSpPr>
        <p:spPr>
          <a:xfrm>
            <a:off x="6035040" y="457200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"apple, banana, mango"</a:t>
            </a:r>
            <a:endParaRPr sz="110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28CBAC5E-64DF-48F6-BD96-2385819CAC7C}"/>
              </a:ext>
            </a:extLst>
          </p:cNvPr>
          <p:cNvSpPr>
            <a:spLocks noGrp="1"/>
          </p:cNvSpPr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4B192E25-F073-4317-9054-D4F04D81C178}"/>
              </a:ext>
            </a:extLst>
          </p:cNvPr>
          <p:cNvSpPr>
            <a:spLocks noGrp="1"/>
          </p:cNvSpPr>
          <p:nvPr/>
        </p:nvSpPr>
        <p:spPr>
          <a:xfrm>
            <a:off x="457200" y="484632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fruits.reverse()</a:t>
            </a:r>
            <a:endParaRPr sz="110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1CF7D540-776C-43A6-9FEF-FEBD24AC8830}"/>
              </a:ext>
            </a:extLst>
          </p:cNvPr>
          <p:cNvSpPr>
            <a:spLocks noGrp="1"/>
          </p:cNvSpPr>
          <p:nvPr/>
        </p:nvSpPr>
        <p:spPr>
          <a:xfrm>
            <a:off x="3703320" y="484632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Reverse order</a:t>
            </a:r>
            <a:endParaRPr sz="110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9D61510E-6F9E-4DA1-8CBA-55D1B2F791AE}"/>
              </a:ext>
            </a:extLst>
          </p:cNvPr>
          <p:cNvSpPr>
            <a:spLocks noGrp="1"/>
          </p:cNvSpPr>
          <p:nvPr/>
        </p:nvSpPr>
        <p:spPr>
          <a:xfrm>
            <a:off x="6035040" y="484632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last item becomes first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882371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A83796-7730-4CD3-9269-83AE7AD26A76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7BB148-0F4F-4652-B5D0-F1B0DAE80791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ARRAYS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68D4C4-05D2-418B-B78D-96FCDC7A1B4D}"/>
              </a:ext>
            </a:extLst>
          </p:cNvPr>
          <p:cNvSpPr>
            <a:spLocks noGrp="1"/>
          </p:cNvSpPr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F2440"/>
                </a:solidFill>
                <a:latin typeface="Arial Black"/>
                <a:ea typeface="Arial Black"/>
                <a:cs typeface="Arial Black"/>
              </a:rPr>
              <a:t>Useful Array Methods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94A921-A16D-452F-BB55-9BC81EB672AE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forEach, map, filter — the big three for working with lists</a:t>
            </a:r>
            <a:endParaRPr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71E1749-126B-4630-97DF-27167941D740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8412480" cy="292608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C7DBCF7-89EE-444D-A8C8-99F8F4D2C08E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forEach — do something for each item (no new array returned)</a:t>
            </a:r>
            <a:endParaRPr sz="12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5FC7BCB-6A4F-4987-8C94-51E2A31FEF57}"/>
              </a:ext>
            </a:extLst>
          </p:cNvPr>
          <p:cNvSpPr>
            <a:spLocks noGrp="1"/>
          </p:cNvSpPr>
          <p:nvPr/>
        </p:nvSpPr>
        <p:spPr>
          <a:xfrm>
            <a:off x="365760" y="1709928"/>
            <a:ext cx="8412480" cy="8503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BA52405-A9FD-4A66-B6D0-0FC35CC7023E}"/>
              </a:ext>
            </a:extLst>
          </p:cNvPr>
          <p:cNvSpPr>
            <a:spLocks noGrp="1"/>
          </p:cNvSpPr>
          <p:nvPr/>
        </p:nvSpPr>
        <p:spPr>
          <a:xfrm>
            <a:off x="475488" y="1801368"/>
            <a:ext cx="8193024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nums = [1, 2, 3, 4, 5];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nums.forEach(function(n) { console.log(n * 2); });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// Output: 2  4  6  8  10</a:t>
            </a:r>
            <a:endParaRPr sz="12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D588377-41A4-4378-A861-60DEB6D75E43}"/>
              </a:ext>
            </a:extLst>
          </p:cNvPr>
          <p:cNvSpPr>
            <a:spLocks noGrp="1"/>
          </p:cNvSpPr>
          <p:nvPr/>
        </p:nvSpPr>
        <p:spPr>
          <a:xfrm>
            <a:off x="365760" y="2432304"/>
            <a:ext cx="84124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3D8D930-E2FD-4CCC-8B7C-8A2F5FB96CB4}"/>
              </a:ext>
            </a:extLst>
          </p:cNvPr>
          <p:cNvSpPr>
            <a:spLocks noGrp="1"/>
          </p:cNvSpPr>
          <p:nvPr/>
        </p:nvSpPr>
        <p:spPr>
          <a:xfrm>
            <a:off x="365760" y="2432304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map — transform each item → returns a NEW array</a:t>
            </a:r>
            <a:endParaRPr sz="12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48ECF89-184E-4B73-8AF5-718584568744}"/>
              </a:ext>
            </a:extLst>
          </p:cNvPr>
          <p:cNvSpPr>
            <a:spLocks noGrp="1"/>
          </p:cNvSpPr>
          <p:nvPr/>
        </p:nvSpPr>
        <p:spPr>
          <a:xfrm>
            <a:off x="365760" y="2724912"/>
            <a:ext cx="8412480" cy="8503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BF39777-63B6-424A-BE8C-29EBF897D6B3}"/>
              </a:ext>
            </a:extLst>
          </p:cNvPr>
          <p:cNvSpPr>
            <a:spLocks noGrp="1"/>
          </p:cNvSpPr>
          <p:nvPr/>
        </p:nvSpPr>
        <p:spPr>
          <a:xfrm>
            <a:off x="475488" y="2816352"/>
            <a:ext cx="8193024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nums = [1, 2, 3, 4, 5];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doubled = nums.map(function(n) { return n * 2; });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// doubled = [2, 4, 6, 8, 10]   ← original nums is unchanged</a:t>
            </a:r>
            <a:endParaRPr sz="12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E2857DE-1B8D-43E7-8780-904CEFD28862}"/>
              </a:ext>
            </a:extLst>
          </p:cNvPr>
          <p:cNvSpPr>
            <a:spLocks noGrp="1"/>
          </p:cNvSpPr>
          <p:nvPr/>
        </p:nvSpPr>
        <p:spPr>
          <a:xfrm>
            <a:off x="365760" y="3447288"/>
            <a:ext cx="841248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A0E6465-B61D-475D-B544-DED85E34294A}"/>
              </a:ext>
            </a:extLst>
          </p:cNvPr>
          <p:cNvSpPr>
            <a:spLocks noGrp="1"/>
          </p:cNvSpPr>
          <p:nvPr/>
        </p:nvSpPr>
        <p:spPr>
          <a:xfrm>
            <a:off x="365760" y="3447288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filter — keep only items that pass a test → returns a NEW array</a:t>
            </a:r>
            <a:endParaRPr sz="12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DD77EEF-F2C0-4419-9BB6-834520A81B3F}"/>
              </a:ext>
            </a:extLst>
          </p:cNvPr>
          <p:cNvSpPr>
            <a:spLocks noGrp="1"/>
          </p:cNvSpPr>
          <p:nvPr/>
        </p:nvSpPr>
        <p:spPr>
          <a:xfrm>
            <a:off x="365760" y="3739896"/>
            <a:ext cx="8412480" cy="8503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4D3FA86-0D19-4F09-B987-21BEA81B5147}"/>
              </a:ext>
            </a:extLst>
          </p:cNvPr>
          <p:cNvSpPr>
            <a:spLocks noGrp="1"/>
          </p:cNvSpPr>
          <p:nvPr/>
        </p:nvSpPr>
        <p:spPr>
          <a:xfrm>
            <a:off x="475488" y="3831336"/>
            <a:ext cx="8193024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nums = [1, 2, 3, 4, 5, 6];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evens = nums.filter(function(n) { return n % 2 === 0; });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// evens = [2, 4, 6]</a:t>
            </a:r>
            <a:endParaRPr sz="12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75A8F78-3126-4ACE-A1A5-122C895A08B4}"/>
              </a:ext>
            </a:extLst>
          </p:cNvPr>
          <p:cNvSpPr>
            <a:spLocks noGrp="1"/>
          </p:cNvSpPr>
          <p:nvPr/>
        </p:nvSpPr>
        <p:spPr>
          <a:xfrm>
            <a:off x="365760" y="4462272"/>
            <a:ext cx="841248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4BAD609-53E2-4A4F-9549-C7034027CE96}"/>
              </a:ext>
            </a:extLst>
          </p:cNvPr>
          <p:cNvSpPr>
            <a:spLocks noGrp="1"/>
          </p:cNvSpPr>
          <p:nvPr/>
        </p:nvSpPr>
        <p:spPr>
          <a:xfrm>
            <a:off x="502920" y="4462272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7C3AED"/>
                </a:solidFill>
              </a:rPr>
              <a:t>📌 Info </a:t>
            </a:r>
            <a:r>
              <a:rPr sz="1200">
                <a:solidFill>
                  <a:srgbClr val="1E293B"/>
                </a:solidFill>
              </a:rPr>
              <a:t>Arrow function shorthand: nums.map(n =&gt; n * 2)  is the same as  nums.map(function(n){ return n*2; }). You'll see both in real code.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35081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5C68714-74D3-42D1-8F23-68DFB017B2DB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C45A66-7AC6-4062-9C3C-BC9565C61050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OBJECTS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D8D3B8B-C161-4F1C-BF33-AB304A8C813E}"/>
              </a:ext>
            </a:extLst>
          </p:cNvPr>
          <p:cNvSpPr>
            <a:spLocks noGrp="1"/>
          </p:cNvSpPr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F2440"/>
                </a:solidFill>
                <a:latin typeface="Arial Black"/>
                <a:ea typeface="Arial Black"/>
                <a:cs typeface="Arial Black"/>
              </a:rPr>
              <a:t>Objects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6FD35A7-3E6E-4D07-88D5-11B519824014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Group related data and behaviour together — like a real-world thing</a:t>
            </a:r>
            <a:endParaRPr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4D345FB-8C5F-4BB9-92EA-E3C204E0DB7A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8412480" cy="21762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9D13438-690C-45A0-877E-E95B5E64A709}"/>
              </a:ext>
            </a:extLst>
          </p:cNvPr>
          <p:cNvSpPr>
            <a:spLocks noGrp="1"/>
          </p:cNvSpPr>
          <p:nvPr/>
        </p:nvSpPr>
        <p:spPr>
          <a:xfrm>
            <a:off x="475488" y="1508760"/>
            <a:ext cx="8193024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// Object = related key-value pairs</a:t>
            </a:r>
          </a:p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student = {</a:t>
            </a:r>
          </a:p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name: "Karim Uddin", id: 201234,</a:t>
            </a:r>
          </a:p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dept: "CSE", cgpa: 3.85, isActive: true</a:t>
            </a:r>
          </a:p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};</a:t>
            </a:r>
          </a:p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console.log(student.name); // → "Karim Uddin"</a:t>
            </a:r>
          </a:p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student.cgpa = 3.90;       // update</a:t>
            </a:r>
          </a:p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student.year = 3;          // add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6E8F17B-B476-40B2-BDC4-447315BEFAFA}"/>
              </a:ext>
            </a:extLst>
          </p:cNvPr>
          <p:cNvSpPr>
            <a:spLocks noGrp="1"/>
          </p:cNvSpPr>
          <p:nvPr/>
        </p:nvSpPr>
        <p:spPr>
          <a:xfrm>
            <a:off x="365760" y="3282696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Objects can also have methods (functions inside objects):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77A571A-0D50-41DE-8FDE-18F33D5D52DA}"/>
              </a:ext>
            </a:extLst>
          </p:cNvPr>
          <p:cNvSpPr>
            <a:spLocks noGrp="1"/>
          </p:cNvSpPr>
          <p:nvPr/>
        </p:nvSpPr>
        <p:spPr>
          <a:xfrm>
            <a:off x="365760" y="3767328"/>
            <a:ext cx="8412480" cy="96926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6B8AD4B-3B56-4749-A54E-B071110F31D9}"/>
              </a:ext>
            </a:extLst>
          </p:cNvPr>
          <p:cNvSpPr>
            <a:spLocks noGrp="1"/>
          </p:cNvSpPr>
          <p:nvPr/>
        </p:nvSpPr>
        <p:spPr>
          <a:xfrm>
            <a:off x="475488" y="3831336"/>
            <a:ext cx="8193024" cy="6675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student.greet = function() {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return "Hi, I am " + this.name;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};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console.log(student.greet()); // → "Hi, I am Karim"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2B43680-111E-46B8-A9B2-74F27DFE028B}"/>
              </a:ext>
            </a:extLst>
          </p:cNvPr>
          <p:cNvSpPr>
            <a:spLocks noGrp="1"/>
          </p:cNvSpPr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231118C-9E64-4B0E-9A22-4929B841748B}"/>
              </a:ext>
            </a:extLst>
          </p:cNvPr>
          <p:cNvSpPr>
            <a:spLocks noGrp="1"/>
          </p:cNvSpPr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7C3AED"/>
                </a:solidFill>
              </a:rPr>
              <a:t>📌 Info </a:t>
            </a:r>
            <a:r>
              <a:rPr sz="1200">
                <a:solidFill>
                  <a:srgbClr val="1E293B"/>
                </a:solidFill>
              </a:rPr>
              <a:t>Also: student["name"] works the same as student.name — bracket notation is useful when the key is in a variable.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11094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2DAF61-E01B-4094-A64C-28C780F47CD0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2CE997B-01DE-4362-8B8F-C02A5674622D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THE DOM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11A2CE7-FE17-405A-AC40-12DB2752108E}"/>
              </a:ext>
            </a:extLst>
          </p:cNvPr>
          <p:cNvSpPr>
            <a:spLocks noGrp="1"/>
          </p:cNvSpPr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F2440"/>
                </a:solidFill>
                <a:latin typeface="Arial Black"/>
                <a:ea typeface="Arial Black"/>
                <a:cs typeface="Arial Black"/>
              </a:rPr>
              <a:t>The DOM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67159C4-9A15-4065-B432-E804EE5AAA79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Document Object Model — JS's view of your HTML page</a:t>
            </a:r>
            <a:endParaRPr sz="13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E57099E-3918-44C3-BEE2-FB898D0D6958}"/>
              </a:ext>
            </a:extLst>
          </p:cNvPr>
          <p:cNvSpPr>
            <a:spLocks noGrp="1"/>
          </p:cNvSpPr>
          <p:nvPr/>
        </p:nvSpPr>
        <p:spPr>
          <a:xfrm>
            <a:off x="365760" y="1389888"/>
            <a:ext cx="841248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E293B"/>
                </a:solidFill>
              </a:rPr>
              <a:t>When a browser loads your HTML, it creates a "tree" of all elements called the DOM. JavaScript can READ and CHANGE this tree.</a:t>
            </a:r>
            <a:endParaRPr sz="13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F3FC2C2-F607-49BA-B87F-C9DCB2DD8230}"/>
              </a:ext>
            </a:extLst>
          </p:cNvPr>
          <p:cNvSpPr>
            <a:spLocks noGrp="1"/>
          </p:cNvSpPr>
          <p:nvPr/>
        </p:nvSpPr>
        <p:spPr>
          <a:xfrm>
            <a:off x="3931920" y="1965960"/>
            <a:ext cx="1280160" cy="347472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EAE5352-F409-42C7-8856-D026C7A3DD1C}"/>
              </a:ext>
            </a:extLst>
          </p:cNvPr>
          <p:cNvSpPr>
            <a:spLocks noGrp="1"/>
          </p:cNvSpPr>
          <p:nvPr/>
        </p:nvSpPr>
        <p:spPr>
          <a:xfrm>
            <a:off x="3931920" y="1965960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document</a:t>
            </a:r>
            <a:endParaRPr sz="12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2A0C709-987C-42EB-A635-90578550BCD2}"/>
              </a:ext>
            </a:extLst>
          </p:cNvPr>
          <p:cNvSpPr>
            <a:spLocks noGrp="1"/>
          </p:cNvSpPr>
          <p:nvPr/>
        </p:nvSpPr>
        <p:spPr>
          <a:xfrm>
            <a:off x="3931920" y="2487168"/>
            <a:ext cx="12801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E6E7297-8D82-495C-BEC5-5B38CC408BAD}"/>
              </a:ext>
            </a:extLst>
          </p:cNvPr>
          <p:cNvSpPr>
            <a:spLocks noGrp="1"/>
          </p:cNvSpPr>
          <p:nvPr/>
        </p:nvSpPr>
        <p:spPr>
          <a:xfrm>
            <a:off x="3931920" y="2487168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&lt;html&gt;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92DB0EA-1A5D-4352-BF8A-3C03A8B32982}"/>
              </a:ext>
            </a:extLst>
          </p:cNvPr>
          <p:cNvSpPr>
            <a:spLocks noGrp="1"/>
          </p:cNvSpPr>
          <p:nvPr/>
        </p:nvSpPr>
        <p:spPr>
          <a:xfrm>
            <a:off x="2377440" y="2999232"/>
            <a:ext cx="12801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C5242DD-683E-464B-8A82-15517AD1A9DB}"/>
              </a:ext>
            </a:extLst>
          </p:cNvPr>
          <p:cNvSpPr>
            <a:spLocks noGrp="1"/>
          </p:cNvSpPr>
          <p:nvPr/>
        </p:nvSpPr>
        <p:spPr>
          <a:xfrm>
            <a:off x="2377440" y="2999232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&lt;head&gt;</a:t>
            </a:r>
            <a:endParaRPr sz="12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BD666C7-C05A-4343-A564-1308AB2DC6BD}"/>
              </a:ext>
            </a:extLst>
          </p:cNvPr>
          <p:cNvSpPr>
            <a:spLocks noGrp="1"/>
          </p:cNvSpPr>
          <p:nvPr/>
        </p:nvSpPr>
        <p:spPr>
          <a:xfrm>
            <a:off x="5486400" y="2999232"/>
            <a:ext cx="12801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23DD16E-562C-4D71-BBF4-12F0C8A341CB}"/>
              </a:ext>
            </a:extLst>
          </p:cNvPr>
          <p:cNvSpPr>
            <a:spLocks noGrp="1"/>
          </p:cNvSpPr>
          <p:nvPr/>
        </p:nvSpPr>
        <p:spPr>
          <a:xfrm>
            <a:off x="5486400" y="2999232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&lt;body&gt;</a:t>
            </a:r>
            <a:endParaRPr sz="12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15A3B13-3679-4125-85B0-A9CF49083F02}"/>
              </a:ext>
            </a:extLst>
          </p:cNvPr>
          <p:cNvSpPr>
            <a:spLocks noGrp="1"/>
          </p:cNvSpPr>
          <p:nvPr/>
        </p:nvSpPr>
        <p:spPr>
          <a:xfrm>
            <a:off x="1645920" y="3520440"/>
            <a:ext cx="12801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893AFB3-E2BC-4270-96F1-7CC5B9839D1E}"/>
              </a:ext>
            </a:extLst>
          </p:cNvPr>
          <p:cNvSpPr>
            <a:spLocks noGrp="1"/>
          </p:cNvSpPr>
          <p:nvPr/>
        </p:nvSpPr>
        <p:spPr>
          <a:xfrm>
            <a:off x="1645920" y="3520440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&lt;title&gt;</a:t>
            </a:r>
            <a:endParaRPr sz="12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7CF0ED5-5276-4BC7-845E-CAFAC591F113}"/>
              </a:ext>
            </a:extLst>
          </p:cNvPr>
          <p:cNvSpPr>
            <a:spLocks noGrp="1"/>
          </p:cNvSpPr>
          <p:nvPr/>
        </p:nvSpPr>
        <p:spPr>
          <a:xfrm>
            <a:off x="4754880" y="3520440"/>
            <a:ext cx="10058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2877343-EB33-4EFF-A267-0E04D8048286}"/>
              </a:ext>
            </a:extLst>
          </p:cNvPr>
          <p:cNvSpPr>
            <a:spLocks noGrp="1"/>
          </p:cNvSpPr>
          <p:nvPr/>
        </p:nvSpPr>
        <p:spPr>
          <a:xfrm>
            <a:off x="4754880" y="3520440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&lt;h1&gt;</a:t>
            </a:r>
            <a:endParaRPr sz="12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A9BDA9A-EAFA-4173-8BDA-CF7BA24A8440}"/>
              </a:ext>
            </a:extLst>
          </p:cNvPr>
          <p:cNvSpPr>
            <a:spLocks noGrp="1"/>
          </p:cNvSpPr>
          <p:nvPr/>
        </p:nvSpPr>
        <p:spPr>
          <a:xfrm>
            <a:off x="5943600" y="3520440"/>
            <a:ext cx="9144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7C32F86-FBAE-4751-838E-A022A81B0FC2}"/>
              </a:ext>
            </a:extLst>
          </p:cNvPr>
          <p:cNvSpPr>
            <a:spLocks noGrp="1"/>
          </p:cNvSpPr>
          <p:nvPr/>
        </p:nvSpPr>
        <p:spPr>
          <a:xfrm>
            <a:off x="5943600" y="3520440"/>
            <a:ext cx="9144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&lt;p&gt;</a:t>
            </a:r>
            <a:endParaRPr sz="12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B2F6241-8C45-4E19-A9A0-ED551E3F7079}"/>
              </a:ext>
            </a:extLst>
          </p:cNvPr>
          <p:cNvSpPr>
            <a:spLocks noGrp="1"/>
          </p:cNvSpPr>
          <p:nvPr/>
        </p:nvSpPr>
        <p:spPr>
          <a:xfrm>
            <a:off x="6949440" y="3520440"/>
            <a:ext cx="118872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8459538-B784-4D44-86EC-73B57CDF6183}"/>
              </a:ext>
            </a:extLst>
          </p:cNvPr>
          <p:cNvSpPr>
            <a:spLocks noGrp="1"/>
          </p:cNvSpPr>
          <p:nvPr/>
        </p:nvSpPr>
        <p:spPr>
          <a:xfrm>
            <a:off x="6949440" y="3520440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&lt;button&gt;</a:t>
            </a:r>
            <a:endParaRPr sz="12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1A69DBD-96EC-4043-A5B2-49C2FC920D3A}"/>
              </a:ext>
            </a:extLst>
          </p:cNvPr>
          <p:cNvSpPr>
            <a:spLocks noGrp="1"/>
          </p:cNvSpPr>
          <p:nvPr/>
        </p:nvSpPr>
        <p:spPr>
          <a:xfrm>
            <a:off x="4343400" y="2313432"/>
            <a:ext cx="0" cy="17373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D2C6D42-A3BB-462A-B359-01F53B7E7A3F}"/>
              </a:ext>
            </a:extLst>
          </p:cNvPr>
          <p:cNvSpPr>
            <a:spLocks noGrp="1"/>
          </p:cNvSpPr>
          <p:nvPr/>
        </p:nvSpPr>
        <p:spPr>
          <a:xfrm flipH="1">
            <a:off x="3017520" y="2487168"/>
            <a:ext cx="1325880" cy="51206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4D660C5-EDB3-4243-8942-1ADF9508394C}"/>
              </a:ext>
            </a:extLst>
          </p:cNvPr>
          <p:cNvSpPr>
            <a:spLocks noGrp="1"/>
          </p:cNvSpPr>
          <p:nvPr/>
        </p:nvSpPr>
        <p:spPr>
          <a:xfrm>
            <a:off x="4343400" y="2487168"/>
            <a:ext cx="1783080" cy="51206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24FF202-29E9-4E88-B794-9E5118936D70}"/>
              </a:ext>
            </a:extLst>
          </p:cNvPr>
          <p:cNvSpPr>
            <a:spLocks noGrp="1"/>
          </p:cNvSpPr>
          <p:nvPr/>
        </p:nvSpPr>
        <p:spPr>
          <a:xfrm flipH="1">
            <a:off x="2286000" y="3337560"/>
            <a:ext cx="731520" cy="182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5DFEE84-8A74-488D-BBE7-0D3A2F841792}"/>
              </a:ext>
            </a:extLst>
          </p:cNvPr>
          <p:cNvSpPr>
            <a:spLocks noGrp="1"/>
          </p:cNvSpPr>
          <p:nvPr/>
        </p:nvSpPr>
        <p:spPr>
          <a:xfrm flipH="1">
            <a:off x="5257800" y="3337560"/>
            <a:ext cx="868680" cy="182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80DD6A41-7C4C-43E0-8F4D-C526A6F76A1A}"/>
              </a:ext>
            </a:extLst>
          </p:cNvPr>
          <p:cNvSpPr>
            <a:spLocks noGrp="1"/>
          </p:cNvSpPr>
          <p:nvPr/>
        </p:nvSpPr>
        <p:spPr>
          <a:xfrm>
            <a:off x="6126480" y="3337560"/>
            <a:ext cx="274320" cy="182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DF3446F-054E-490C-8F8A-45DC17B17977}"/>
              </a:ext>
            </a:extLst>
          </p:cNvPr>
          <p:cNvSpPr>
            <a:spLocks noGrp="1"/>
          </p:cNvSpPr>
          <p:nvPr/>
        </p:nvSpPr>
        <p:spPr>
          <a:xfrm>
            <a:off x="6126480" y="3337560"/>
            <a:ext cx="1417320" cy="182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056AC27-A5CF-4449-9064-99F4F0FBDDC7}"/>
              </a:ext>
            </a:extLst>
          </p:cNvPr>
          <p:cNvSpPr>
            <a:spLocks noGrp="1"/>
          </p:cNvSpPr>
          <p:nvPr/>
        </p:nvSpPr>
        <p:spPr>
          <a:xfrm>
            <a:off x="365760" y="4005072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i="1">
                <a:solidFill>
                  <a:srgbClr val="64748B"/>
                </a:solidFill>
              </a:rPr>
              <a:t>Think of it like this: your HTML is the blueprint. The DOM is the actual built house. JS can rearrange the furniture anytime.</a:t>
            </a:r>
            <a:endParaRPr sz="120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B74033F7-81CA-48DB-AFE4-1B4581F19388}"/>
              </a:ext>
            </a:extLst>
          </p:cNvPr>
          <p:cNvSpPr>
            <a:spLocks noGrp="1"/>
          </p:cNvSpPr>
          <p:nvPr/>
        </p:nvSpPr>
        <p:spPr>
          <a:xfrm>
            <a:off x="365760" y="4526280"/>
            <a:ext cx="841248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922A018-EDBB-4E60-9277-30E48D6A9D8A}"/>
              </a:ext>
            </a:extLst>
          </p:cNvPr>
          <p:cNvSpPr>
            <a:spLocks noGrp="1"/>
          </p:cNvSpPr>
          <p:nvPr/>
        </p:nvSpPr>
        <p:spPr>
          <a:xfrm>
            <a:off x="502920" y="452628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7C3AED"/>
                </a:solidFill>
              </a:rPr>
              <a:t>📌 Info </a:t>
            </a:r>
            <a:r>
              <a:rPr sz="1200">
                <a:solidFill>
                  <a:srgbClr val="1E293B"/>
                </a:solidFill>
              </a:rPr>
              <a:t>With JavaScript you can: add/remove elements, change text &amp; styles, react to clicks, animate things, fetch data from a server.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35531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B8AD7D-69C7-475D-A7A7-E088186D9024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B0C348-39B2-4FF0-BC2F-15AF6DC8155D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THE DOM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81DB1A-9553-49C6-9D4A-A49DD1094EE3}"/>
              </a:ext>
            </a:extLst>
          </p:cNvPr>
          <p:cNvSpPr>
            <a:spLocks noGrp="1"/>
          </p:cNvSpPr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F2440"/>
                </a:solidFill>
                <a:latin typeface="Arial Black"/>
                <a:ea typeface="Arial Black"/>
                <a:cs typeface="Arial Black"/>
              </a:rPr>
              <a:t>Selecting Elements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526A6A3-B83E-419A-8078-F5AA49851AAF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Find HTML elements so JavaScript can work with them</a:t>
            </a:r>
            <a:endParaRPr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E8CECD9-4818-4D2D-AD60-098E76FDD343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8412480" cy="11155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023A43B-60E4-4D80-AB1E-2EFA46F1F80A}"/>
              </a:ext>
            </a:extLst>
          </p:cNvPr>
          <p:cNvSpPr>
            <a:spLocks noGrp="1"/>
          </p:cNvSpPr>
          <p:nvPr/>
        </p:nvSpPr>
        <p:spPr>
          <a:xfrm>
            <a:off x="502920" y="147218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document.getElementById("id")</a:t>
            </a:r>
            <a:endParaRPr sz="13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1E8A273-32C9-4090-A77C-9E17A782E6E5}"/>
              </a:ext>
            </a:extLst>
          </p:cNvPr>
          <p:cNvSpPr>
            <a:spLocks noGrp="1"/>
          </p:cNvSpPr>
          <p:nvPr/>
        </p:nvSpPr>
        <p:spPr>
          <a:xfrm>
            <a:off x="502920" y="1728216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Select ONE element by its id attribute. Most common method.</a:t>
            </a:r>
            <a:endParaRPr sz="11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9DB6C15-882E-4D11-B1CE-2959BB29B83B}"/>
              </a:ext>
            </a:extLst>
          </p:cNvPr>
          <p:cNvSpPr>
            <a:spLocks noGrp="1"/>
          </p:cNvSpPr>
          <p:nvPr/>
        </p:nvSpPr>
        <p:spPr>
          <a:xfrm>
            <a:off x="502920" y="2002536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el = document.getElementById("title");</a:t>
            </a:r>
            <a:endParaRPr sz="11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8A19832-7044-4B48-AF58-6BAC47345424}"/>
              </a:ext>
            </a:extLst>
          </p:cNvPr>
          <p:cNvSpPr>
            <a:spLocks noGrp="1"/>
          </p:cNvSpPr>
          <p:nvPr/>
        </p:nvSpPr>
        <p:spPr>
          <a:xfrm>
            <a:off x="502920" y="2258568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64748B"/>
                </a:solidFill>
              </a:rPr>
              <a:t>Returns the element, or null if not found.</a:t>
            </a:r>
            <a:endParaRPr sz="10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4A225BD-F78C-49EB-AEB8-50D77971813A}"/>
              </a:ext>
            </a:extLst>
          </p:cNvPr>
          <p:cNvSpPr>
            <a:spLocks noGrp="1"/>
          </p:cNvSpPr>
          <p:nvPr/>
        </p:nvSpPr>
        <p:spPr>
          <a:xfrm>
            <a:off x="365760" y="2624328"/>
            <a:ext cx="8412480" cy="11155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C72E974-7E99-40BE-86CB-C2776F870E7B}"/>
              </a:ext>
            </a:extLst>
          </p:cNvPr>
          <p:cNvSpPr>
            <a:spLocks noGrp="1"/>
          </p:cNvSpPr>
          <p:nvPr/>
        </p:nvSpPr>
        <p:spPr>
          <a:xfrm>
            <a:off x="502920" y="267919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document.querySelector("css")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910CF38-A2C9-4365-BDE9-9BF8D7ECDF18}"/>
              </a:ext>
            </a:extLst>
          </p:cNvPr>
          <p:cNvSpPr>
            <a:spLocks noGrp="1"/>
          </p:cNvSpPr>
          <p:nvPr/>
        </p:nvSpPr>
        <p:spPr>
          <a:xfrm>
            <a:off x="502920" y="2935224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Select the FIRST element matching any CSS selector.</a:t>
            </a:r>
            <a:endParaRPr sz="11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33D9EEF-053F-4050-9627-F095B2B75AC6}"/>
              </a:ext>
            </a:extLst>
          </p:cNvPr>
          <p:cNvSpPr>
            <a:spLocks noGrp="1"/>
          </p:cNvSpPr>
          <p:nvPr/>
        </p:nvSpPr>
        <p:spPr>
          <a:xfrm>
            <a:off x="502920" y="3209544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el = document.querySelector(".info");</a:t>
            </a:r>
            <a:endParaRPr sz="11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FB86DCD-E663-47B4-A033-0328D26A5817}"/>
              </a:ext>
            </a:extLst>
          </p:cNvPr>
          <p:cNvSpPr>
            <a:spLocks noGrp="1"/>
          </p:cNvSpPr>
          <p:nvPr/>
        </p:nvSpPr>
        <p:spPr>
          <a:xfrm>
            <a:off x="502920" y="3465576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64748B"/>
                </a:solidFill>
              </a:rPr>
              <a:t>Use any CSS selector: .class, #id, p, div &gt; span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64774E2-83AF-4089-BAE4-555DEF14081D}"/>
              </a:ext>
            </a:extLst>
          </p:cNvPr>
          <p:cNvSpPr>
            <a:spLocks noGrp="1"/>
          </p:cNvSpPr>
          <p:nvPr/>
        </p:nvSpPr>
        <p:spPr>
          <a:xfrm>
            <a:off x="365760" y="3831336"/>
            <a:ext cx="8412480" cy="11155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358A407-FC72-45B4-97E3-7ED3DAF86AFF}"/>
              </a:ext>
            </a:extLst>
          </p:cNvPr>
          <p:cNvSpPr>
            <a:spLocks noGrp="1"/>
          </p:cNvSpPr>
          <p:nvPr/>
        </p:nvSpPr>
        <p:spPr>
          <a:xfrm>
            <a:off x="502920" y="388620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document.querySelectorAll("css")</a:t>
            </a:r>
            <a:endParaRPr sz="13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B7B3F7C-E08B-4CC7-96EE-C75A161C51A4}"/>
              </a:ext>
            </a:extLst>
          </p:cNvPr>
          <p:cNvSpPr>
            <a:spLocks noGrp="1"/>
          </p:cNvSpPr>
          <p:nvPr/>
        </p:nvSpPr>
        <p:spPr>
          <a:xfrm>
            <a:off x="502920" y="4142232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Select ALL matching elements — returns a NodeList.</a:t>
            </a:r>
            <a:endParaRPr sz="11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29A007A-1F1A-41DF-A940-B2EE7131D62B}"/>
              </a:ext>
            </a:extLst>
          </p:cNvPr>
          <p:cNvSpPr>
            <a:spLocks noGrp="1"/>
          </p:cNvSpPr>
          <p:nvPr/>
        </p:nvSpPr>
        <p:spPr>
          <a:xfrm>
            <a:off x="502920" y="441655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all = document.querySelectorAll("p"); // [p, p]</a:t>
            </a:r>
            <a:endParaRPr sz="11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1A88844-5EB4-45ED-A920-618D8EE34FE4}"/>
              </a:ext>
            </a:extLst>
          </p:cNvPr>
          <p:cNvSpPr>
            <a:spLocks noGrp="1"/>
          </p:cNvSpPr>
          <p:nvPr/>
        </p:nvSpPr>
        <p:spPr>
          <a:xfrm>
            <a:off x="502920" y="4672584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64748B"/>
                </a:solidFill>
              </a:rPr>
              <a:t>Loop through with forEach() to work with each one.</a:t>
            </a:r>
            <a:endParaRPr sz="105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1BD425B-0BE4-4A20-B4D7-01816959029B}"/>
              </a:ext>
            </a:extLst>
          </p:cNvPr>
          <p:cNvSpPr>
            <a:spLocks noGrp="1"/>
          </p:cNvSpPr>
          <p:nvPr/>
        </p:nvSpPr>
        <p:spPr>
          <a:xfrm>
            <a:off x="365760" y="5056632"/>
            <a:ext cx="841248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737BC4D-6016-45D9-BE6C-43CD014DB025}"/>
              </a:ext>
            </a:extLst>
          </p:cNvPr>
          <p:cNvSpPr>
            <a:spLocks noGrp="1"/>
          </p:cNvSpPr>
          <p:nvPr/>
        </p:nvSpPr>
        <p:spPr>
          <a:xfrm>
            <a:off x="502920" y="4946904"/>
            <a:ext cx="8138160" cy="1965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⚠ </a:t>
            </a:r>
            <a:r>
              <a:rPr sz="1100">
                <a:solidFill>
                  <a:srgbClr val="7F1D1D"/>
                </a:solidFill>
                <a:latin typeface="Calibri"/>
                <a:ea typeface="Calibri"/>
                <a:cs typeface="Calibri"/>
              </a:rPr>
              <a:t>Check ID spelling; “Cannot read properties of null” means no element matched.</a:t>
            </a:r>
          </a:p>
        </p:txBody>
      </p:sp>
    </p:spTree>
    <p:extLst>
      <p:ext uri="{BB962C8B-B14F-4D97-AF65-F5344CB8AC3E}">
        <p14:creationId xmlns:p14="http://schemas.microsoft.com/office/powerpoint/2010/main" val="1026482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E6FA4F-8419-44EC-990F-CA80548218B8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78F77F-0BF5-49B0-BECD-88A06588AA52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THE DOM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6D9CC71-29A5-4DDF-B4A1-D86D3D81445C}"/>
              </a:ext>
            </a:extLst>
          </p:cNvPr>
          <p:cNvSpPr>
            <a:spLocks noGrp="1"/>
          </p:cNvSpPr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F2440"/>
                </a:solidFill>
                <a:latin typeface="Arial Black"/>
                <a:ea typeface="Arial Black"/>
                <a:cs typeface="Arial Black"/>
              </a:rPr>
              <a:t>Changing the Page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9AD7D9A-769A-49D1-8490-4BEF1907A54A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Read and update content, attributes, and styles</a:t>
            </a:r>
            <a:endParaRPr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234E707-F426-40F1-AF43-074662FD5BAD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8412480" cy="25877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D909A49-A29F-4694-9979-36A1A56D7C3D}"/>
              </a:ext>
            </a:extLst>
          </p:cNvPr>
          <p:cNvSpPr>
            <a:spLocks noGrp="1"/>
          </p:cNvSpPr>
          <p:nvPr/>
        </p:nvSpPr>
        <p:spPr>
          <a:xfrm>
            <a:off x="475488" y="1508760"/>
            <a:ext cx="8193024" cy="2148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el = document.getElementById("demo");</a:t>
            </a:r>
          </a:p>
          <a:p>
            <a:endParaRPr sz="1200">
              <a:solidFill>
                <a:srgbClr val="7DD3FC"/>
              </a:solidFill>
              <a:latin typeface="Courier New"/>
              <a:ea typeface="Courier New"/>
              <a:cs typeface="Courier New"/>
            </a:endParaRPr>
          </a:p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// CONTENT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el.innerHTML = "&lt;b&gt;Bold text&lt;/b&gt;";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el.textContent = "Plain text only";</a:t>
            </a:r>
          </a:p>
          <a:p>
            <a:endParaRPr sz="1200">
              <a:solidFill>
                <a:srgbClr val="7DD3FC"/>
              </a:solidFill>
              <a:latin typeface="Courier New"/>
              <a:ea typeface="Courier New"/>
              <a:cs typeface="Courier New"/>
            </a:endParaRPr>
          </a:p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// ATTRIBUTES &amp; STYLES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el.setAttribute("class", "highlight");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el.style.color = "red"; el.style.fontSize = "24px";</a:t>
            </a:r>
          </a:p>
          <a:p>
            <a:endParaRPr sz="1200">
              <a:solidFill>
                <a:srgbClr val="7DD3FC"/>
              </a:solidFill>
              <a:latin typeface="Courier New"/>
              <a:ea typeface="Courier New"/>
              <a:cs typeface="Courier New"/>
            </a:endParaRPr>
          </a:p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// CLASSES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el.classList.add("active"); el.classList.toggle("active");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939264B-F8D2-4171-9403-5A1A7B444588}"/>
              </a:ext>
            </a:extLst>
          </p:cNvPr>
          <p:cNvSpPr>
            <a:spLocks noGrp="1"/>
          </p:cNvSpPr>
          <p:nvPr/>
        </p:nvSpPr>
        <p:spPr>
          <a:xfrm>
            <a:off x="365760" y="3995928"/>
            <a:ext cx="8412480" cy="47548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A6792EA-9F4A-4401-A975-D2FA59959B96}"/>
              </a:ext>
            </a:extLst>
          </p:cNvPr>
          <p:cNvSpPr>
            <a:spLocks noGrp="1"/>
          </p:cNvSpPr>
          <p:nvPr/>
        </p:nvSpPr>
        <p:spPr>
          <a:xfrm>
            <a:off x="502920" y="3995928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</a:rPr>
              <a:t>💡 Tip </a:t>
            </a:r>
            <a:r>
              <a:rPr sz="1200">
                <a:solidFill>
                  <a:srgbClr val="1E293B"/>
                </a:solidFill>
              </a:rPr>
              <a:t>innerHTML vs textContent: use textContent when you only want plain text — it's safer. Use innerHTML only when you need to insert actual HTML tags.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136411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4930EA9-CCC8-4966-B51B-0BB3E65CA9A2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4C2AE1-85DD-4CFB-9960-C3DEF07A2337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EVENTS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258E6A5-540B-481B-BEC2-A6DC0D615B65}"/>
              </a:ext>
            </a:extLst>
          </p:cNvPr>
          <p:cNvSpPr>
            <a:spLocks noGrp="1"/>
          </p:cNvSpPr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F2440"/>
                </a:solidFill>
                <a:latin typeface="Arial Black"/>
                <a:ea typeface="Arial Black"/>
                <a:cs typeface="Arial Black"/>
              </a:rPr>
              <a:t>Events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4FDDD5-5C9F-4E71-A12D-D2F73B5465D2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React to things the user does — clicks, typing, hovering</a:t>
            </a:r>
            <a:endParaRPr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C157897-EFF6-4584-AB2B-037CDBEFA5B1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8412480" cy="274320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57C3036-A0C1-4D4E-9792-626F52B6044E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Method 1 — Inline onclick attribute (quick and simple)</a:t>
            </a:r>
            <a:endParaRPr sz="12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D504335-4FFD-4362-9893-67C4C9F72650}"/>
              </a:ext>
            </a:extLst>
          </p:cNvPr>
          <p:cNvSpPr>
            <a:spLocks noGrp="1"/>
          </p:cNvSpPr>
          <p:nvPr/>
        </p:nvSpPr>
        <p:spPr>
          <a:xfrm>
            <a:off x="365760" y="1691640"/>
            <a:ext cx="841248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836C762-DB52-4E5E-8558-9DD2F95CBFDC}"/>
              </a:ext>
            </a:extLst>
          </p:cNvPr>
          <p:cNvSpPr>
            <a:spLocks noGrp="1"/>
          </p:cNvSpPr>
          <p:nvPr/>
        </p:nvSpPr>
        <p:spPr>
          <a:xfrm>
            <a:off x="475488" y="1783080"/>
            <a:ext cx="8193024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&lt;button onclick="sayHello()"&gt;Click Me&lt;/button&gt;</a:t>
            </a:r>
          </a:p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&lt;script&gt;function sayHello(){ alert("Hello!"); }&lt;/script&gt;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FEB6EE7-D723-4AA5-B0BA-437F18EC15CE}"/>
              </a:ext>
            </a:extLst>
          </p:cNvPr>
          <p:cNvSpPr>
            <a:spLocks noGrp="1"/>
          </p:cNvSpPr>
          <p:nvPr/>
        </p:nvSpPr>
        <p:spPr>
          <a:xfrm>
            <a:off x="365760" y="2377440"/>
            <a:ext cx="84124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A0AFD7E-755A-4EA7-994A-1DC9920FF1A4}"/>
              </a:ext>
            </a:extLst>
          </p:cNvPr>
          <p:cNvSpPr>
            <a:spLocks noGrp="1"/>
          </p:cNvSpPr>
          <p:nvPr/>
        </p:nvSpPr>
        <p:spPr>
          <a:xfrm>
            <a:off x="365760" y="237744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Method 2 — addEventListener (preferred, more powerful)</a:t>
            </a:r>
            <a:endParaRPr sz="12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4390792-8978-40D3-AB2E-02586BD4B768}"/>
              </a:ext>
            </a:extLst>
          </p:cNvPr>
          <p:cNvSpPr>
            <a:spLocks noGrp="1"/>
          </p:cNvSpPr>
          <p:nvPr/>
        </p:nvSpPr>
        <p:spPr>
          <a:xfrm>
            <a:off x="365760" y="2651760"/>
            <a:ext cx="8412480" cy="9418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5786BFD-8CEB-4E98-8366-B738136596FD}"/>
              </a:ext>
            </a:extLst>
          </p:cNvPr>
          <p:cNvSpPr>
            <a:spLocks noGrp="1"/>
          </p:cNvSpPr>
          <p:nvPr/>
        </p:nvSpPr>
        <p:spPr>
          <a:xfrm>
            <a:off x="475488" y="2743200"/>
            <a:ext cx="8193024" cy="5577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const btn = document.getElementById("myBtn");</a:t>
            </a:r>
          </a:p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btn.addEventListener("click", () =&gt;</a:t>
            </a:r>
          </a:p>
          <a:p>
            <a:pPr algn="l"/>
            <a:r>
              <a:rPr sz="12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document.getElementById("output").textContent = "Button clicked!");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EA8FAF1-E1A9-4CAE-8117-429D3880465D}"/>
              </a:ext>
            </a:extLst>
          </p:cNvPr>
          <p:cNvSpPr>
            <a:spLocks noGrp="1"/>
          </p:cNvSpPr>
          <p:nvPr/>
        </p:nvSpPr>
        <p:spPr>
          <a:xfrm>
            <a:off x="365760" y="331927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Common events: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33DB127-0873-4B03-8F89-799319EFCB7F}"/>
              </a:ext>
            </a:extLst>
          </p:cNvPr>
          <p:cNvSpPr>
            <a:spLocks noGrp="1"/>
          </p:cNvSpPr>
          <p:nvPr/>
        </p:nvSpPr>
        <p:spPr>
          <a:xfrm>
            <a:off x="365760" y="3776472"/>
            <a:ext cx="4114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DACCD3B-B22C-4878-A6D2-C26E49B28D05}"/>
              </a:ext>
            </a:extLst>
          </p:cNvPr>
          <p:cNvSpPr>
            <a:spLocks noGrp="1"/>
          </p:cNvSpPr>
          <p:nvPr/>
        </p:nvSpPr>
        <p:spPr>
          <a:xfrm>
            <a:off x="457200" y="3776472"/>
            <a:ext cx="1371600" cy="2834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click</a:t>
            </a:r>
            <a:endParaRPr sz="12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874EFEA-5B4D-4531-AFD0-C58BF5466F20}"/>
              </a:ext>
            </a:extLst>
          </p:cNvPr>
          <p:cNvSpPr>
            <a:spLocks noGrp="1"/>
          </p:cNvSpPr>
          <p:nvPr/>
        </p:nvSpPr>
        <p:spPr>
          <a:xfrm>
            <a:off x="1874520" y="3776472"/>
            <a:ext cx="2560320" cy="2834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User clicks an element</a:t>
            </a:r>
            <a:endParaRPr sz="11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3000940-8AD3-4942-AF80-28F2E2B285E6}"/>
              </a:ext>
            </a:extLst>
          </p:cNvPr>
          <p:cNvSpPr>
            <a:spLocks noGrp="1"/>
          </p:cNvSpPr>
          <p:nvPr/>
        </p:nvSpPr>
        <p:spPr>
          <a:xfrm>
            <a:off x="4754880" y="3776472"/>
            <a:ext cx="4114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E50B4C6-64D0-4F28-BC7F-5322B0899295}"/>
              </a:ext>
            </a:extLst>
          </p:cNvPr>
          <p:cNvSpPr>
            <a:spLocks noGrp="1"/>
          </p:cNvSpPr>
          <p:nvPr/>
        </p:nvSpPr>
        <p:spPr>
          <a:xfrm>
            <a:off x="4846320" y="3776472"/>
            <a:ext cx="1371600" cy="2834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mouseover</a:t>
            </a:r>
            <a:endParaRPr sz="12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E5EB939-D060-4167-815E-591D247FE76F}"/>
              </a:ext>
            </a:extLst>
          </p:cNvPr>
          <p:cNvSpPr>
            <a:spLocks noGrp="1"/>
          </p:cNvSpPr>
          <p:nvPr/>
        </p:nvSpPr>
        <p:spPr>
          <a:xfrm>
            <a:off x="6263640" y="3776472"/>
            <a:ext cx="2560320" cy="2834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Mouse moves over element</a:t>
            </a:r>
            <a:endParaRPr sz="115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C0244B2-F888-451E-ACF2-BD64B6B0B42C}"/>
              </a:ext>
            </a:extLst>
          </p:cNvPr>
          <p:cNvSpPr>
            <a:spLocks noGrp="1"/>
          </p:cNvSpPr>
          <p:nvPr/>
        </p:nvSpPr>
        <p:spPr>
          <a:xfrm>
            <a:off x="365760" y="4078224"/>
            <a:ext cx="411480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60D02FC-9A84-45CA-B970-B395B2A89A7C}"/>
              </a:ext>
            </a:extLst>
          </p:cNvPr>
          <p:cNvSpPr>
            <a:spLocks noGrp="1"/>
          </p:cNvSpPr>
          <p:nvPr/>
        </p:nvSpPr>
        <p:spPr>
          <a:xfrm>
            <a:off x="457200" y="4078224"/>
            <a:ext cx="1371600" cy="2834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mouseout</a:t>
            </a:r>
            <a:endParaRPr sz="12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C79F476-531B-4EB9-9075-E1E0A710488C}"/>
              </a:ext>
            </a:extLst>
          </p:cNvPr>
          <p:cNvSpPr>
            <a:spLocks noGrp="1"/>
          </p:cNvSpPr>
          <p:nvPr/>
        </p:nvSpPr>
        <p:spPr>
          <a:xfrm>
            <a:off x="1874520" y="4078224"/>
            <a:ext cx="2560320" cy="2834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Mouse leaves element</a:t>
            </a:r>
            <a:endParaRPr sz="115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3E907C9-6CC5-403B-A30A-4CEC5FA83384}"/>
              </a:ext>
            </a:extLst>
          </p:cNvPr>
          <p:cNvSpPr>
            <a:spLocks noGrp="1"/>
          </p:cNvSpPr>
          <p:nvPr/>
        </p:nvSpPr>
        <p:spPr>
          <a:xfrm>
            <a:off x="4754880" y="4078224"/>
            <a:ext cx="411480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B454530-72AF-41EF-B049-4015ED995B26}"/>
              </a:ext>
            </a:extLst>
          </p:cNvPr>
          <p:cNvSpPr>
            <a:spLocks noGrp="1"/>
          </p:cNvSpPr>
          <p:nvPr/>
        </p:nvSpPr>
        <p:spPr>
          <a:xfrm>
            <a:off x="4846320" y="4078224"/>
            <a:ext cx="1371600" cy="2834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keydown</a:t>
            </a:r>
            <a:endParaRPr sz="12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162080F-D8BE-4E5E-832F-F706A4FC6169}"/>
              </a:ext>
            </a:extLst>
          </p:cNvPr>
          <p:cNvSpPr>
            <a:spLocks noGrp="1"/>
          </p:cNvSpPr>
          <p:nvPr/>
        </p:nvSpPr>
        <p:spPr>
          <a:xfrm>
            <a:off x="6263640" y="4078224"/>
            <a:ext cx="2560320" cy="2834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A key is pressed</a:t>
            </a:r>
            <a:endParaRPr sz="115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41AF85F-9FC9-4031-AD3A-69958F1C0B8A}"/>
              </a:ext>
            </a:extLst>
          </p:cNvPr>
          <p:cNvSpPr>
            <a:spLocks noGrp="1"/>
          </p:cNvSpPr>
          <p:nvPr/>
        </p:nvSpPr>
        <p:spPr>
          <a:xfrm>
            <a:off x="365760" y="4379976"/>
            <a:ext cx="4114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D825ABB-A5C9-47E8-9A24-5DED68152EF9}"/>
              </a:ext>
            </a:extLst>
          </p:cNvPr>
          <p:cNvSpPr>
            <a:spLocks noGrp="1"/>
          </p:cNvSpPr>
          <p:nvPr/>
        </p:nvSpPr>
        <p:spPr>
          <a:xfrm>
            <a:off x="457200" y="4379976"/>
            <a:ext cx="1371600" cy="2834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keyup</a:t>
            </a:r>
            <a:endParaRPr sz="12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EC8CA92-FEC5-4DCD-BF76-79B52D38F6E8}"/>
              </a:ext>
            </a:extLst>
          </p:cNvPr>
          <p:cNvSpPr>
            <a:spLocks noGrp="1"/>
          </p:cNvSpPr>
          <p:nvPr/>
        </p:nvSpPr>
        <p:spPr>
          <a:xfrm>
            <a:off x="1874520" y="4379976"/>
            <a:ext cx="2560320" cy="2834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A key is released</a:t>
            </a:r>
            <a:endParaRPr sz="115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D6E4F8D-22FF-4011-B5E8-59831728C7CB}"/>
              </a:ext>
            </a:extLst>
          </p:cNvPr>
          <p:cNvSpPr>
            <a:spLocks noGrp="1"/>
          </p:cNvSpPr>
          <p:nvPr/>
        </p:nvSpPr>
        <p:spPr>
          <a:xfrm>
            <a:off x="4754880" y="4379976"/>
            <a:ext cx="4114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3DD5507-8590-4475-934C-9C0B34C48586}"/>
              </a:ext>
            </a:extLst>
          </p:cNvPr>
          <p:cNvSpPr>
            <a:spLocks noGrp="1"/>
          </p:cNvSpPr>
          <p:nvPr/>
        </p:nvSpPr>
        <p:spPr>
          <a:xfrm>
            <a:off x="4846320" y="4379976"/>
            <a:ext cx="1371600" cy="2834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input</a:t>
            </a:r>
            <a:endParaRPr sz="12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AEFB447-1053-4EDB-9B9B-1283E34EA67C}"/>
              </a:ext>
            </a:extLst>
          </p:cNvPr>
          <p:cNvSpPr>
            <a:spLocks noGrp="1"/>
          </p:cNvSpPr>
          <p:nvPr/>
        </p:nvSpPr>
        <p:spPr>
          <a:xfrm>
            <a:off x="6263640" y="4379976"/>
            <a:ext cx="2560320" cy="2834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Value of input changes</a:t>
            </a:r>
            <a:endParaRPr sz="115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09EA9F2C-129D-4639-8E97-A8EDEF444A27}"/>
              </a:ext>
            </a:extLst>
          </p:cNvPr>
          <p:cNvSpPr>
            <a:spLocks noGrp="1"/>
          </p:cNvSpPr>
          <p:nvPr/>
        </p:nvSpPr>
        <p:spPr>
          <a:xfrm>
            <a:off x="365760" y="4681728"/>
            <a:ext cx="411480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C442FC3C-8F74-4060-9D1F-E2D66BCA00CD}"/>
              </a:ext>
            </a:extLst>
          </p:cNvPr>
          <p:cNvSpPr>
            <a:spLocks noGrp="1"/>
          </p:cNvSpPr>
          <p:nvPr/>
        </p:nvSpPr>
        <p:spPr>
          <a:xfrm>
            <a:off x="457200" y="4681728"/>
            <a:ext cx="1371600" cy="2834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submit</a:t>
            </a:r>
            <a:endParaRPr sz="120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189CB105-F208-49C6-8DD2-DB57EE616B81}"/>
              </a:ext>
            </a:extLst>
          </p:cNvPr>
          <p:cNvSpPr>
            <a:spLocks noGrp="1"/>
          </p:cNvSpPr>
          <p:nvPr/>
        </p:nvSpPr>
        <p:spPr>
          <a:xfrm>
            <a:off x="1874520" y="4681728"/>
            <a:ext cx="2560320" cy="2834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Form is submitted</a:t>
            </a:r>
            <a:endParaRPr sz="115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C969772E-2341-496A-A85B-7BB710BB910F}"/>
              </a:ext>
            </a:extLst>
          </p:cNvPr>
          <p:cNvSpPr>
            <a:spLocks noGrp="1"/>
          </p:cNvSpPr>
          <p:nvPr/>
        </p:nvSpPr>
        <p:spPr>
          <a:xfrm>
            <a:off x="4754880" y="4681728"/>
            <a:ext cx="411480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41F5FBA2-2B28-4654-9033-276E09FF2978}"/>
              </a:ext>
            </a:extLst>
          </p:cNvPr>
          <p:cNvSpPr>
            <a:spLocks noGrp="1"/>
          </p:cNvSpPr>
          <p:nvPr/>
        </p:nvSpPr>
        <p:spPr>
          <a:xfrm>
            <a:off x="4846320" y="4681728"/>
            <a:ext cx="1371600" cy="2834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load</a:t>
            </a:r>
            <a:endParaRPr sz="120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30629A6-01C7-4CEA-BF07-2A81F2E8EDDF}"/>
              </a:ext>
            </a:extLst>
          </p:cNvPr>
          <p:cNvSpPr>
            <a:spLocks noGrp="1"/>
          </p:cNvSpPr>
          <p:nvPr/>
        </p:nvSpPr>
        <p:spPr>
          <a:xfrm>
            <a:off x="6263640" y="4681728"/>
            <a:ext cx="2560320" cy="2834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Page finishes loading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1337156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57EBE2-FC2C-48CB-8FF9-8BC9A11E5070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FE40ACF-3B6D-4550-9D02-B7895D0054BD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EVENTS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86AE46D-82EE-4AA9-96AD-FB4108B2CEBB}"/>
              </a:ext>
            </a:extLst>
          </p:cNvPr>
          <p:cNvSpPr>
            <a:spLocks noGrp="1"/>
          </p:cNvSpPr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F2440"/>
                </a:solidFill>
                <a:latin typeface="Arial Black"/>
                <a:ea typeface="Arial Black"/>
                <a:cs typeface="Arial Black"/>
              </a:rPr>
              <a:t>Reading User Input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0B834EF-3F8C-4BD7-9381-76DFA7653667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Get what the user typed — and convert it to the right type</a:t>
            </a:r>
            <a:endParaRPr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28E738C-26BE-4B23-BE74-3F29A37B8F79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8412480" cy="28620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5AEA835-CC4C-4227-97F6-34F6E74F205E}"/>
              </a:ext>
            </a:extLst>
          </p:cNvPr>
          <p:cNvSpPr>
            <a:spLocks noGrp="1"/>
          </p:cNvSpPr>
          <p:nvPr/>
        </p:nvSpPr>
        <p:spPr>
          <a:xfrm>
            <a:off x="475488" y="1508760"/>
            <a:ext cx="8193024" cy="2423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&lt;!-- HTML --&gt;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&lt;input id="nameInput" placeholder="Enter your name"&gt;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&lt;input id="ageInput" type="number" placeholder="Enter your age"&gt;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&lt;button onclick="processInput()"&gt;Submit&lt;/button&gt;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&lt;p id="result"&gt;&lt;/p&gt;</a:t>
            </a:r>
          </a:p>
          <a:p>
            <a:endParaRPr sz="1200">
              <a:solidFill>
                <a:srgbClr val="7DD3FC"/>
              </a:solidFill>
              <a:latin typeface="Courier New"/>
              <a:ea typeface="Courier New"/>
              <a:cs typeface="Courier New"/>
            </a:endParaRPr>
          </a:p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// JavaScript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function processInput() {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const name = document.getElementById("nameInput").value;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const age = parseInt(document.getElementById("ageInput").value);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const msg = age &gt;= 18 ? `Welcome ${name}!` : "Too young!";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document.getElementById("result").textContent = msg;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E14C4AB-7B3F-4F69-9021-4D390E4E3844}"/>
              </a:ext>
            </a:extLst>
          </p:cNvPr>
          <p:cNvSpPr>
            <a:spLocks noGrp="1"/>
          </p:cNvSpPr>
          <p:nvPr/>
        </p:nvSpPr>
        <p:spPr>
          <a:xfrm>
            <a:off x="365760" y="4133088"/>
            <a:ext cx="841248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42DF64E-20A2-4974-89BD-DB3217306065}"/>
              </a:ext>
            </a:extLst>
          </p:cNvPr>
          <p:cNvSpPr>
            <a:spLocks noGrp="1"/>
          </p:cNvSpPr>
          <p:nvPr/>
        </p:nvSpPr>
        <p:spPr>
          <a:xfrm>
            <a:off x="502920" y="4133088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DC2626"/>
                </a:solidFill>
              </a:rPr>
              <a:t>⚠ Note </a:t>
            </a:r>
            <a:r>
              <a:rPr sz="1200">
                <a:solidFill>
                  <a:srgbClr val="1E293B"/>
                </a:solidFill>
              </a:rPr>
              <a:t>.value always returns a STRING — even if the input type is 'number'. Always use parseInt() for whole numbers or parseFloat() for decimals before doing maths.</a:t>
            </a:r>
            <a:endParaRPr sz="12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4CCE19A-A499-4B90-82A0-73855F19C6B3}"/>
              </a:ext>
            </a:extLst>
          </p:cNvPr>
          <p:cNvSpPr>
            <a:spLocks noGrp="1"/>
          </p:cNvSpPr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4907912-8C07-44CF-A438-B0B3C208456F}"/>
              </a:ext>
            </a:extLst>
          </p:cNvPr>
          <p:cNvSpPr>
            <a:spLocks noGrp="1"/>
          </p:cNvSpPr>
          <p:nvPr/>
        </p:nvSpPr>
        <p:spPr>
          <a:xfrm>
            <a:off x="502920" y="4663440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D9488"/>
                </a:solidFill>
              </a:rPr>
              <a:t>💡 Tip </a:t>
            </a:r>
            <a:r>
              <a:rPr sz="1200">
                <a:solidFill>
                  <a:srgbClr val="1E293B"/>
                </a:solidFill>
              </a:rPr>
              <a:t>Check for empty input: if (name === '') { alert('Please enter a name'); return; } — the return stops the function early.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335202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A3D9069-CF68-43DD-BA21-D170BF34B53B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B8551F-79BA-418E-94CC-D27C460FD11B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PRACTICAL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A855733-29B3-406F-AB79-4E289902F4FE}"/>
              </a:ext>
            </a:extLst>
          </p:cNvPr>
          <p:cNvSpPr>
            <a:spLocks noGrp="1"/>
          </p:cNvSpPr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F2440"/>
                </a:solidFill>
                <a:latin typeface="Arial Black"/>
                <a:ea typeface="Arial Black"/>
                <a:cs typeface="Arial Black"/>
              </a:rPr>
              <a:t>Putting It All Together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18DEEA1-449F-41D2-ADAC-4B5481F2406D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A working example: colour changer + counter</a:t>
            </a:r>
            <a:endParaRPr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5127A59-1B84-4FD2-A701-2B8288C5E15A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4251960" cy="3726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AA36FFE-9A71-4DF0-8D8B-64B262138791}"/>
              </a:ext>
            </a:extLst>
          </p:cNvPr>
          <p:cNvSpPr>
            <a:spLocks noGrp="1"/>
          </p:cNvSpPr>
          <p:nvPr/>
        </p:nvSpPr>
        <p:spPr>
          <a:xfrm>
            <a:off x="475488" y="1508760"/>
            <a:ext cx="4032504" cy="304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&lt;!-- index.html --&gt;</a:t>
            </a:r>
          </a:p>
          <a:p>
            <a:pPr algn="l"/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&lt;body&gt;</a:t>
            </a:r>
          </a:p>
          <a:p>
            <a:pPr algn="l"/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&lt;h2 id="title"&gt;Hello World&lt;/h2&gt;</a:t>
            </a:r>
          </a:p>
          <a:p>
            <a:pPr algn="l"/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&lt;p&gt;Clicks: &lt;span id="count"&gt;0&lt;/span&gt;&lt;/p&gt;</a:t>
            </a:r>
          </a:p>
          <a:p>
            <a:pPr algn="l"/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&lt;button id="btn"&gt;Change Colour&lt;/button&gt;</a:t>
            </a:r>
          </a:p>
          <a:p>
            <a:pPr algn="l"/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&lt;script src="script.js"&gt;&lt;/script&gt;</a:t>
            </a:r>
          </a:p>
          <a:p>
            <a:pPr algn="l"/>
            <a:r>
              <a:rPr sz="115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&lt;/body&gt;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5FB583F-2D9C-4A27-A164-634E515F1C36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4023360" cy="3726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50800AF-0D63-4E17-9AC7-ADC5933860C4}"/>
              </a:ext>
            </a:extLst>
          </p:cNvPr>
          <p:cNvSpPr>
            <a:spLocks noGrp="1"/>
          </p:cNvSpPr>
          <p:nvPr/>
        </p:nvSpPr>
        <p:spPr>
          <a:xfrm>
            <a:off x="4864608" y="1508760"/>
            <a:ext cx="3803904" cy="304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// script.js</a:t>
            </a:r>
          </a:p>
          <a:p>
            <a:pPr algn="l"/>
            <a:r>
              <a:rPr sz="11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let clicks = 0;</a:t>
            </a:r>
          </a:p>
          <a:p>
            <a:pPr algn="l"/>
            <a:r>
              <a:rPr sz="11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const colors = ["crimson", "teal", "purple", "orange"];</a:t>
            </a:r>
          </a:p>
          <a:p>
            <a:pPr algn="l"/>
            <a:r>
              <a:rPr sz="11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const btn = document.getElementById("btn");</a:t>
            </a:r>
          </a:p>
          <a:p>
            <a:pPr algn="l"/>
            <a:r>
              <a:rPr sz="11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const title = document.getElementById("title");</a:t>
            </a:r>
          </a:p>
          <a:p>
            <a:pPr algn="l"/>
            <a:r>
              <a:rPr sz="11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const count = document.getElementById("count");</a:t>
            </a:r>
          </a:p>
          <a:p>
            <a:endParaRPr sz="1100">
              <a:solidFill>
                <a:srgbClr val="7DD3FC"/>
              </a:solidFill>
              <a:latin typeface="Courier New"/>
              <a:ea typeface="Courier New"/>
              <a:cs typeface="Courier New"/>
            </a:endParaRPr>
          </a:p>
          <a:p>
            <a:pPr algn="l"/>
            <a:r>
              <a:rPr sz="11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btn.addEventListener("click", () =&gt; {</a:t>
            </a:r>
          </a:p>
          <a:p>
            <a:pPr algn="l"/>
            <a:r>
              <a:rPr sz="11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clicks++;</a:t>
            </a:r>
          </a:p>
          <a:p>
            <a:pPr algn="l"/>
            <a:r>
              <a:rPr sz="11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title.style.color = colors[clicks % colors.length];</a:t>
            </a:r>
          </a:p>
          <a:p>
            <a:pPr algn="l"/>
            <a:r>
              <a:rPr sz="11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  count.textContent = clicks;</a:t>
            </a:r>
          </a:p>
          <a:p>
            <a:pPr algn="l"/>
            <a:r>
              <a:rPr sz="110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});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BFCD583-5930-48C1-8346-1B0A167D98E6}"/>
              </a:ext>
            </a:extLst>
          </p:cNvPr>
          <p:cNvSpPr>
            <a:spLocks noGrp="1"/>
          </p:cNvSpPr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50B318F-F17C-4B4B-AB5F-4C8313C284E2}"/>
              </a:ext>
            </a:extLst>
          </p:cNvPr>
          <p:cNvSpPr>
            <a:spLocks noGrp="1"/>
          </p:cNvSpPr>
          <p:nvPr/>
        </p:nvSpPr>
        <p:spPr>
          <a:xfrm>
            <a:off x="502920" y="4846320"/>
            <a:ext cx="8138160" cy="297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  <a:ea typeface="Calibri"/>
                <a:cs typeface="Calibri"/>
              </a:rPr>
              <a:t>📌 Info </a:t>
            </a:r>
            <a:r>
              <a:rPr sz="12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clicks % colors.length cycles through the colour array.</a:t>
            </a:r>
          </a:p>
        </p:txBody>
      </p:sp>
    </p:spTree>
    <p:extLst>
      <p:ext uri="{BB962C8B-B14F-4D97-AF65-F5344CB8AC3E}">
        <p14:creationId xmlns:p14="http://schemas.microsoft.com/office/powerpoint/2010/main" val="1875171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45E4B62-65C0-476E-B862-C9A7FFEE945C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706785-1F46-437A-B875-582D664B47B7}"/>
              </a:ext>
            </a:extLst>
          </p:cNvPr>
          <p:cNvSpPr>
            <a:spLocks noGrp="1"/>
          </p:cNvSpPr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MATH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3DDA508-849D-4F80-8255-C60D6D209D36}"/>
              </a:ext>
            </a:extLst>
          </p:cNvPr>
          <p:cNvSpPr>
            <a:spLocks noGrp="1"/>
          </p:cNvSpPr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0F2440"/>
                </a:solidFill>
                <a:latin typeface="Arial Black"/>
                <a:ea typeface="Arial Black"/>
                <a:cs typeface="Arial Black"/>
              </a:rPr>
              <a:t>The Math Object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0F80478-CF84-4840-B9C9-047CC2598FC6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Built-in maths tools — no import needed</a:t>
            </a:r>
            <a:endParaRPr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20B162D-8AE1-48B5-BD5F-AEE733476FD7}"/>
              </a:ext>
            </a:extLst>
          </p:cNvPr>
          <p:cNvSpPr>
            <a:spLocks noGrp="1"/>
          </p:cNvSpPr>
          <p:nvPr/>
        </p:nvSpPr>
        <p:spPr>
          <a:xfrm>
            <a:off x="365760" y="1417320"/>
            <a:ext cx="8412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743D289-C594-44C1-B12D-CF09CB3A4FC4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Math.round(4.6)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2ECCCBE-1C3D-4A7D-AADB-FF511192FB6B}"/>
              </a:ext>
            </a:extLst>
          </p:cNvPr>
          <p:cNvSpPr>
            <a:spLocks noGrp="1"/>
          </p:cNvSpPr>
          <p:nvPr/>
        </p:nvSpPr>
        <p:spPr>
          <a:xfrm>
            <a:off x="3337560" y="14173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5</a:t>
            </a:r>
            <a:endParaRPr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DDE9D4E-ACD9-4F24-9832-84839965F609}"/>
              </a:ext>
            </a:extLst>
          </p:cNvPr>
          <p:cNvSpPr>
            <a:spLocks noGrp="1"/>
          </p:cNvSpPr>
          <p:nvPr/>
        </p:nvSpPr>
        <p:spPr>
          <a:xfrm>
            <a:off x="4846320" y="1417320"/>
            <a:ext cx="3886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Round to nearest integer</a:t>
            </a:r>
            <a:endParaRPr sz="11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52044DF-9726-4AC3-BABA-E64D58F065C7}"/>
              </a:ext>
            </a:extLst>
          </p:cNvPr>
          <p:cNvSpPr>
            <a:spLocks noGrp="1"/>
          </p:cNvSpPr>
          <p:nvPr/>
        </p:nvSpPr>
        <p:spPr>
          <a:xfrm>
            <a:off x="365760" y="1746504"/>
            <a:ext cx="84124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33485BF-2E59-4B77-A9B1-94EBE87476F9}"/>
              </a:ext>
            </a:extLst>
          </p:cNvPr>
          <p:cNvSpPr>
            <a:spLocks noGrp="1"/>
          </p:cNvSpPr>
          <p:nvPr/>
        </p:nvSpPr>
        <p:spPr>
          <a:xfrm>
            <a:off x="457200" y="1746504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Math.floor(4.9)</a:t>
            </a:r>
            <a:endParaRPr sz="1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03C8278-9417-459F-8983-F4FD4E95C099}"/>
              </a:ext>
            </a:extLst>
          </p:cNvPr>
          <p:cNvSpPr>
            <a:spLocks noGrp="1"/>
          </p:cNvSpPr>
          <p:nvPr/>
        </p:nvSpPr>
        <p:spPr>
          <a:xfrm>
            <a:off x="3337560" y="174650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4</a:t>
            </a:r>
            <a:endParaRPr sz="12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6D12554-D3AD-4AA3-9A04-D8274486E2EE}"/>
              </a:ext>
            </a:extLst>
          </p:cNvPr>
          <p:cNvSpPr>
            <a:spLocks noGrp="1"/>
          </p:cNvSpPr>
          <p:nvPr/>
        </p:nvSpPr>
        <p:spPr>
          <a:xfrm>
            <a:off x="4846320" y="1746504"/>
            <a:ext cx="3886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Always round DOWN</a:t>
            </a:r>
            <a:endParaRPr sz="11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F73767D-C6CC-4B61-8825-31DA2CB7DC05}"/>
              </a:ext>
            </a:extLst>
          </p:cNvPr>
          <p:cNvSpPr>
            <a:spLocks noGrp="1"/>
          </p:cNvSpPr>
          <p:nvPr/>
        </p:nvSpPr>
        <p:spPr>
          <a:xfrm>
            <a:off x="365760" y="2075688"/>
            <a:ext cx="8412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A0ACD26-9BA8-422F-BEC1-2DAF3C847D8B}"/>
              </a:ext>
            </a:extLst>
          </p:cNvPr>
          <p:cNvSpPr>
            <a:spLocks noGrp="1"/>
          </p:cNvSpPr>
          <p:nvPr/>
        </p:nvSpPr>
        <p:spPr>
          <a:xfrm>
            <a:off x="457200" y="2075688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Math.ceil(4.1)</a:t>
            </a:r>
            <a:endParaRPr sz="12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6734DA9-738F-4E4B-ACC9-4261454BD15F}"/>
              </a:ext>
            </a:extLst>
          </p:cNvPr>
          <p:cNvSpPr>
            <a:spLocks noGrp="1"/>
          </p:cNvSpPr>
          <p:nvPr/>
        </p:nvSpPr>
        <p:spPr>
          <a:xfrm>
            <a:off x="3337560" y="2075688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5</a:t>
            </a:r>
            <a:endParaRPr sz="12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9477AAD-54B9-4506-9953-DCBFDB8DC69F}"/>
              </a:ext>
            </a:extLst>
          </p:cNvPr>
          <p:cNvSpPr>
            <a:spLocks noGrp="1"/>
          </p:cNvSpPr>
          <p:nvPr/>
        </p:nvSpPr>
        <p:spPr>
          <a:xfrm>
            <a:off x="4846320" y="2075688"/>
            <a:ext cx="3886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Always round UP</a:t>
            </a:r>
            <a:endParaRPr sz="11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8975138-F0EF-4680-849B-4EB2316861EB}"/>
              </a:ext>
            </a:extLst>
          </p:cNvPr>
          <p:cNvSpPr>
            <a:spLocks noGrp="1"/>
          </p:cNvSpPr>
          <p:nvPr/>
        </p:nvSpPr>
        <p:spPr>
          <a:xfrm>
            <a:off x="365760" y="2404872"/>
            <a:ext cx="84124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717E3D7-FC68-4F79-AA7A-52A7E21B43AE}"/>
              </a:ext>
            </a:extLst>
          </p:cNvPr>
          <p:cNvSpPr>
            <a:spLocks noGrp="1"/>
          </p:cNvSpPr>
          <p:nvPr/>
        </p:nvSpPr>
        <p:spPr>
          <a:xfrm>
            <a:off x="457200" y="2404872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Math.abs(-7)</a:t>
            </a:r>
            <a:endParaRPr sz="12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5B816FA-26E8-4670-B6B2-1230A81B6B91}"/>
              </a:ext>
            </a:extLst>
          </p:cNvPr>
          <p:cNvSpPr>
            <a:spLocks noGrp="1"/>
          </p:cNvSpPr>
          <p:nvPr/>
        </p:nvSpPr>
        <p:spPr>
          <a:xfrm>
            <a:off x="3337560" y="240487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7</a:t>
            </a:r>
            <a:endParaRPr sz="12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AAC3F38-9D89-413B-B150-C7E37854C08F}"/>
              </a:ext>
            </a:extLst>
          </p:cNvPr>
          <p:cNvSpPr>
            <a:spLocks noGrp="1"/>
          </p:cNvSpPr>
          <p:nvPr/>
        </p:nvSpPr>
        <p:spPr>
          <a:xfrm>
            <a:off x="4846320" y="2404872"/>
            <a:ext cx="3886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Absolute value (remove minus sign)</a:t>
            </a:r>
            <a:endParaRPr sz="115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A4314E0-DEFB-4727-81B1-E613E93655A3}"/>
              </a:ext>
            </a:extLst>
          </p:cNvPr>
          <p:cNvSpPr>
            <a:spLocks noGrp="1"/>
          </p:cNvSpPr>
          <p:nvPr/>
        </p:nvSpPr>
        <p:spPr>
          <a:xfrm>
            <a:off x="365760" y="2734056"/>
            <a:ext cx="8412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33213E7-F525-401B-AB51-EAABAB1AF9B5}"/>
              </a:ext>
            </a:extLst>
          </p:cNvPr>
          <p:cNvSpPr>
            <a:spLocks noGrp="1"/>
          </p:cNvSpPr>
          <p:nvPr/>
        </p:nvSpPr>
        <p:spPr>
          <a:xfrm>
            <a:off x="457200" y="2734056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Math.max(3,9,1)</a:t>
            </a:r>
            <a:endParaRPr sz="12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E381BA0-8E04-46CF-984C-045BD08F10B7}"/>
              </a:ext>
            </a:extLst>
          </p:cNvPr>
          <p:cNvSpPr>
            <a:spLocks noGrp="1"/>
          </p:cNvSpPr>
          <p:nvPr/>
        </p:nvSpPr>
        <p:spPr>
          <a:xfrm>
            <a:off x="3337560" y="2734056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9</a:t>
            </a:r>
            <a:endParaRPr sz="12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444FC2C-A4D0-4721-8789-967AD91D12BA}"/>
              </a:ext>
            </a:extLst>
          </p:cNvPr>
          <p:cNvSpPr>
            <a:spLocks noGrp="1"/>
          </p:cNvSpPr>
          <p:nvPr/>
        </p:nvSpPr>
        <p:spPr>
          <a:xfrm>
            <a:off x="4846320" y="2734056"/>
            <a:ext cx="3886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Largest of the values</a:t>
            </a:r>
            <a:endParaRPr sz="115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EBE77E3B-D52C-445B-8A17-029C8B5841A5}"/>
              </a:ext>
            </a:extLst>
          </p:cNvPr>
          <p:cNvSpPr>
            <a:spLocks noGrp="1"/>
          </p:cNvSpPr>
          <p:nvPr/>
        </p:nvSpPr>
        <p:spPr>
          <a:xfrm>
            <a:off x="365760" y="3063240"/>
            <a:ext cx="84124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A49C01B-BB54-46ED-BD1E-714B457DDE0D}"/>
              </a:ext>
            </a:extLst>
          </p:cNvPr>
          <p:cNvSpPr>
            <a:spLocks noGrp="1"/>
          </p:cNvSpPr>
          <p:nvPr/>
        </p:nvSpPr>
        <p:spPr>
          <a:xfrm>
            <a:off x="457200" y="306324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Math.min(3,9,1)</a:t>
            </a:r>
            <a:endParaRPr sz="12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EA186E9-9984-4191-8CCD-DBF043B00C89}"/>
              </a:ext>
            </a:extLst>
          </p:cNvPr>
          <p:cNvSpPr>
            <a:spLocks noGrp="1"/>
          </p:cNvSpPr>
          <p:nvPr/>
        </p:nvSpPr>
        <p:spPr>
          <a:xfrm>
            <a:off x="3337560" y="306324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1</a:t>
            </a:r>
            <a:endParaRPr sz="12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CD8C947-EBEC-426B-845C-24FBB847C292}"/>
              </a:ext>
            </a:extLst>
          </p:cNvPr>
          <p:cNvSpPr>
            <a:spLocks noGrp="1"/>
          </p:cNvSpPr>
          <p:nvPr/>
        </p:nvSpPr>
        <p:spPr>
          <a:xfrm>
            <a:off x="4846320" y="3063240"/>
            <a:ext cx="3886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Smallest of the values</a:t>
            </a:r>
            <a:endParaRPr sz="115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6CD4CFDF-6566-443A-9456-33CA2602A90D}"/>
              </a:ext>
            </a:extLst>
          </p:cNvPr>
          <p:cNvSpPr>
            <a:spLocks noGrp="1"/>
          </p:cNvSpPr>
          <p:nvPr/>
        </p:nvSpPr>
        <p:spPr>
          <a:xfrm>
            <a:off x="365760" y="3392424"/>
            <a:ext cx="8412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04617EC-A970-48CA-B392-C3303AA2DBE6}"/>
              </a:ext>
            </a:extLst>
          </p:cNvPr>
          <p:cNvSpPr>
            <a:spLocks noGrp="1"/>
          </p:cNvSpPr>
          <p:nvPr/>
        </p:nvSpPr>
        <p:spPr>
          <a:xfrm>
            <a:off x="457200" y="3392424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Math.pow(2,8)</a:t>
            </a:r>
            <a:endParaRPr sz="12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ABF89756-ABD9-4584-B453-41A1BE24CF0A}"/>
              </a:ext>
            </a:extLst>
          </p:cNvPr>
          <p:cNvSpPr>
            <a:spLocks noGrp="1"/>
          </p:cNvSpPr>
          <p:nvPr/>
        </p:nvSpPr>
        <p:spPr>
          <a:xfrm>
            <a:off x="3337560" y="339242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256</a:t>
            </a:r>
            <a:endParaRPr sz="12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BF58B5AF-9C71-499F-A8BE-7967DA6EFA38}"/>
              </a:ext>
            </a:extLst>
          </p:cNvPr>
          <p:cNvSpPr>
            <a:spLocks noGrp="1"/>
          </p:cNvSpPr>
          <p:nvPr/>
        </p:nvSpPr>
        <p:spPr>
          <a:xfrm>
            <a:off x="4846320" y="3392424"/>
            <a:ext cx="3886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2 to the power of 8</a:t>
            </a:r>
            <a:endParaRPr sz="115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6252D3BD-FCCF-4872-A9D6-478CE027246E}"/>
              </a:ext>
            </a:extLst>
          </p:cNvPr>
          <p:cNvSpPr>
            <a:spLocks noGrp="1"/>
          </p:cNvSpPr>
          <p:nvPr/>
        </p:nvSpPr>
        <p:spPr>
          <a:xfrm>
            <a:off x="365760" y="3721608"/>
            <a:ext cx="84124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C8EF301E-CFA3-4F33-8318-EFB936568757}"/>
              </a:ext>
            </a:extLst>
          </p:cNvPr>
          <p:cNvSpPr>
            <a:spLocks noGrp="1"/>
          </p:cNvSpPr>
          <p:nvPr/>
        </p:nvSpPr>
        <p:spPr>
          <a:xfrm>
            <a:off x="457200" y="3721608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Math.sqrt(144)</a:t>
            </a:r>
            <a:endParaRPr sz="120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C7D0B3F-4DBE-4198-B34C-3A79AA59EB10}"/>
              </a:ext>
            </a:extLst>
          </p:cNvPr>
          <p:cNvSpPr>
            <a:spLocks noGrp="1"/>
          </p:cNvSpPr>
          <p:nvPr/>
        </p:nvSpPr>
        <p:spPr>
          <a:xfrm>
            <a:off x="3337560" y="3721608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12</a:t>
            </a:r>
            <a:endParaRPr sz="120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502EFCDD-9FB2-4B25-AD79-286392E7BAB3}"/>
              </a:ext>
            </a:extLst>
          </p:cNvPr>
          <p:cNvSpPr>
            <a:spLocks noGrp="1"/>
          </p:cNvSpPr>
          <p:nvPr/>
        </p:nvSpPr>
        <p:spPr>
          <a:xfrm>
            <a:off x="4846320" y="3721608"/>
            <a:ext cx="3886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Square root</a:t>
            </a:r>
            <a:endParaRPr sz="115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6B57B7EC-A0D6-4057-B9B5-E656D5BDBB6A}"/>
              </a:ext>
            </a:extLst>
          </p:cNvPr>
          <p:cNvSpPr>
            <a:spLocks noGrp="1"/>
          </p:cNvSpPr>
          <p:nvPr/>
        </p:nvSpPr>
        <p:spPr>
          <a:xfrm>
            <a:off x="365760" y="4050792"/>
            <a:ext cx="8412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76B7AE1D-3292-4507-BF90-F91873E61DC7}"/>
              </a:ext>
            </a:extLst>
          </p:cNvPr>
          <p:cNvSpPr>
            <a:spLocks noGrp="1"/>
          </p:cNvSpPr>
          <p:nvPr/>
        </p:nvSpPr>
        <p:spPr>
          <a:xfrm>
            <a:off x="457200" y="4050792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Math.PI</a:t>
            </a:r>
            <a:endParaRPr sz="120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2F1EDA7-3C0B-466B-A7CA-882956838B1A}"/>
              </a:ext>
            </a:extLst>
          </p:cNvPr>
          <p:cNvSpPr>
            <a:spLocks noGrp="1"/>
          </p:cNvSpPr>
          <p:nvPr/>
        </p:nvSpPr>
        <p:spPr>
          <a:xfrm>
            <a:off x="3337560" y="405079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3.14159…</a:t>
            </a:r>
            <a:endParaRPr sz="120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D8EB38DE-79BF-4DB3-9D35-25570E42564B}"/>
              </a:ext>
            </a:extLst>
          </p:cNvPr>
          <p:cNvSpPr>
            <a:spLocks noGrp="1"/>
          </p:cNvSpPr>
          <p:nvPr/>
        </p:nvSpPr>
        <p:spPr>
          <a:xfrm>
            <a:off x="4846320" y="4050792"/>
            <a:ext cx="3886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The constant π</a:t>
            </a:r>
            <a:endParaRPr sz="115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01CA98C3-CF03-4E19-BC70-365518BC519D}"/>
              </a:ext>
            </a:extLst>
          </p:cNvPr>
          <p:cNvSpPr>
            <a:spLocks noGrp="1"/>
          </p:cNvSpPr>
          <p:nvPr/>
        </p:nvSpPr>
        <p:spPr>
          <a:xfrm>
            <a:off x="365760" y="4379976"/>
            <a:ext cx="84124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EEE0E623-ABE6-42B1-A284-EC5E75DAD5AE}"/>
              </a:ext>
            </a:extLst>
          </p:cNvPr>
          <p:cNvSpPr>
            <a:spLocks noGrp="1"/>
          </p:cNvSpPr>
          <p:nvPr/>
        </p:nvSpPr>
        <p:spPr>
          <a:xfrm>
            <a:off x="457200" y="4379976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D9488"/>
                </a:solidFill>
                <a:latin typeface="Courier New"/>
                <a:ea typeface="Courier New"/>
                <a:cs typeface="Courier New"/>
              </a:rPr>
              <a:t>Math.random()</a:t>
            </a:r>
            <a:endParaRPr sz="120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9CD65BF6-2C74-4225-A9EA-23EE54F9515F}"/>
              </a:ext>
            </a:extLst>
          </p:cNvPr>
          <p:cNvSpPr>
            <a:spLocks noGrp="1"/>
          </p:cNvSpPr>
          <p:nvPr/>
        </p:nvSpPr>
        <p:spPr>
          <a:xfrm>
            <a:off x="3337560" y="4379976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→ 0.0–0.99…</a:t>
            </a:r>
            <a:endParaRPr sz="120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8EB10940-232B-4E75-AB81-FB3740E3A88E}"/>
              </a:ext>
            </a:extLst>
          </p:cNvPr>
          <p:cNvSpPr>
            <a:spLocks noGrp="1"/>
          </p:cNvSpPr>
          <p:nvPr/>
        </p:nvSpPr>
        <p:spPr>
          <a:xfrm>
            <a:off x="4846320" y="4379976"/>
            <a:ext cx="3886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93B"/>
                </a:solidFill>
              </a:rPr>
              <a:t>Random decimal (0 to &lt;1)</a:t>
            </a:r>
            <a:endParaRPr sz="115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35A2F01F-5739-4865-8898-E9D5D6BB0F00}"/>
              </a:ext>
            </a:extLst>
          </p:cNvPr>
          <p:cNvSpPr>
            <a:spLocks noGrp="1"/>
          </p:cNvSpPr>
          <p:nvPr/>
        </p:nvSpPr>
        <p:spPr>
          <a:xfrm>
            <a:off x="365760" y="4736592"/>
            <a:ext cx="841248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683B58F5-AECC-47F9-A260-C67C3FE6FFC3}"/>
              </a:ext>
            </a:extLst>
          </p:cNvPr>
          <p:cNvSpPr>
            <a:spLocks noGrp="1"/>
          </p:cNvSpPr>
          <p:nvPr/>
        </p:nvSpPr>
        <p:spPr>
          <a:xfrm>
            <a:off x="502920" y="4736592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Random integer 1–100:  </a:t>
            </a:r>
            <a:r>
              <a:rPr sz="1200" b="1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Math.floor(Math.random() * 100) + 1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0573149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804D9A-16BF-4429-899C-0907D95270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C0933C2-97CD-4089-B770-A04635623440}"/>
              </a:ext>
            </a:extLst>
          </p:cNvPr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pic>
        <p:nvPicPr>
          <p:cNvPr id="5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28600"/>
            <a:ext cx="1371600" cy="13716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24F6253-AD0C-410F-9D96-BF68E0719F99}"/>
              </a:ext>
            </a:extLst>
          </p:cNvPr>
          <p:cNvSpPr>
            <a:spLocks noGrp="1"/>
          </p:cNvSpPr>
          <p:nvPr/>
        </p:nvSpPr>
        <p:spPr>
          <a:xfrm>
            <a:off x="365760" y="256032"/>
            <a:ext cx="685800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What You've Learned</a:t>
            </a:r>
            <a:endParaRPr sz="30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D544A09-8418-4132-ABBE-864F69D20CE8}"/>
              </a:ext>
            </a:extLst>
          </p:cNvPr>
          <p:cNvSpPr>
            <a:spLocks noGrp="1"/>
          </p:cNvSpPr>
          <p:nvPr/>
        </p:nvSpPr>
        <p:spPr>
          <a:xfrm>
            <a:off x="365760" y="859536"/>
            <a:ext cx="3657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BA0206A-C2C7-42C2-AFE0-F5B4A9562078}"/>
              </a:ext>
            </a:extLst>
          </p:cNvPr>
          <p:cNvSpPr>
            <a:spLocks noGrp="1"/>
          </p:cNvSpPr>
          <p:nvPr/>
        </p:nvSpPr>
        <p:spPr>
          <a:xfrm>
            <a:off x="365760" y="1051560"/>
            <a:ext cx="4114800" cy="420624"/>
          </a:xfrm>
          <a:prstGeom prst="rect">
            <a:avLst/>
          </a:prstGeom>
          <a:solidFill>
            <a:srgbClr val="1A3254"/>
          </a:solidFill>
          <a:ln w="12700">
            <a:solidFill>
              <a:srgbClr val="1A3254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616FE50-DEEC-4A6B-B2ED-CDC84512CCE3}"/>
              </a:ext>
            </a:extLst>
          </p:cNvPr>
          <p:cNvSpPr>
            <a:spLocks noGrp="1"/>
          </p:cNvSpPr>
          <p:nvPr/>
        </p:nvSpPr>
        <p:spPr>
          <a:xfrm>
            <a:off x="438912" y="1051560"/>
            <a:ext cx="347472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D9488"/>
                </a:solidFill>
              </a:rPr>
              <a:t>✓</a:t>
            </a:r>
            <a:endParaRPr sz="14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205A05A-9A3B-4FBE-A33B-A7AA0764165F}"/>
              </a:ext>
            </a:extLst>
          </p:cNvPr>
          <p:cNvSpPr>
            <a:spLocks noGrp="1"/>
          </p:cNvSpPr>
          <p:nvPr/>
        </p:nvSpPr>
        <p:spPr>
          <a:xfrm>
            <a:off x="822960" y="1051560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FFFFFF"/>
                </a:solidFill>
              </a:rPr>
              <a:t>Variables &amp; Data Types</a:t>
            </a:r>
            <a:endParaRPr sz="12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291131E-4118-4308-87E3-453FF4942026}"/>
              </a:ext>
            </a:extLst>
          </p:cNvPr>
          <p:cNvSpPr>
            <a:spLocks noGrp="1"/>
          </p:cNvSpPr>
          <p:nvPr/>
        </p:nvSpPr>
        <p:spPr>
          <a:xfrm>
            <a:off x="2697480" y="1051560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14B8A6"/>
                </a:solidFill>
              </a:rPr>
              <a:t>let, const — string, number, boolean</a:t>
            </a:r>
            <a:endParaRPr sz="105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063AE09-1F98-4954-9205-C68EE8A3F283}"/>
              </a:ext>
            </a:extLst>
          </p:cNvPr>
          <p:cNvSpPr>
            <a:spLocks noGrp="1"/>
          </p:cNvSpPr>
          <p:nvPr/>
        </p:nvSpPr>
        <p:spPr>
          <a:xfrm>
            <a:off x="4754880" y="1051560"/>
            <a:ext cx="4114800" cy="420624"/>
          </a:xfrm>
          <a:prstGeom prst="rect">
            <a:avLst/>
          </a:prstGeom>
          <a:solidFill>
            <a:srgbClr val="1A3254"/>
          </a:solidFill>
          <a:ln w="12700">
            <a:solidFill>
              <a:srgbClr val="1A3254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E485A5E-0CC8-46C5-B1B4-4308685A676F}"/>
              </a:ext>
            </a:extLst>
          </p:cNvPr>
          <p:cNvSpPr>
            <a:spLocks noGrp="1"/>
          </p:cNvSpPr>
          <p:nvPr/>
        </p:nvSpPr>
        <p:spPr>
          <a:xfrm>
            <a:off x="4828032" y="1051560"/>
            <a:ext cx="347472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D9488"/>
                </a:solidFill>
              </a:rPr>
              <a:t>✓</a:t>
            </a:r>
            <a:endParaRPr sz="14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2588716-D03B-4F8C-B699-3938FECAEC74}"/>
              </a:ext>
            </a:extLst>
          </p:cNvPr>
          <p:cNvSpPr>
            <a:spLocks noGrp="1"/>
          </p:cNvSpPr>
          <p:nvPr/>
        </p:nvSpPr>
        <p:spPr>
          <a:xfrm>
            <a:off x="5212080" y="1051560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FFFFFF"/>
                </a:solidFill>
              </a:rPr>
              <a:t>Operators</a:t>
            </a:r>
            <a:endParaRPr sz="12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116AB92-64F2-4AD9-948B-E3912508121A}"/>
              </a:ext>
            </a:extLst>
          </p:cNvPr>
          <p:cNvSpPr>
            <a:spLocks noGrp="1"/>
          </p:cNvSpPr>
          <p:nvPr/>
        </p:nvSpPr>
        <p:spPr>
          <a:xfrm>
            <a:off x="7086600" y="1051560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14B8A6"/>
                </a:solidFill>
              </a:rPr>
              <a:t>Arithmetic, comparison, assignment</a:t>
            </a:r>
            <a:endParaRPr sz="105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9D203963-A977-439C-B0CC-339EE8FB9F6C}"/>
              </a:ext>
            </a:extLst>
          </p:cNvPr>
          <p:cNvSpPr>
            <a:spLocks noGrp="1"/>
          </p:cNvSpPr>
          <p:nvPr/>
        </p:nvSpPr>
        <p:spPr>
          <a:xfrm>
            <a:off x="365760" y="1527048"/>
            <a:ext cx="4114800" cy="420624"/>
          </a:xfrm>
          <a:prstGeom prst="rect">
            <a:avLst/>
          </a:prstGeom>
          <a:solidFill>
            <a:srgbClr val="1A3254"/>
          </a:solidFill>
          <a:ln w="12700">
            <a:solidFill>
              <a:srgbClr val="1A3254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5DA8A17-8E94-410B-9B20-3CE2A00F7935}"/>
              </a:ext>
            </a:extLst>
          </p:cNvPr>
          <p:cNvSpPr>
            <a:spLocks noGrp="1"/>
          </p:cNvSpPr>
          <p:nvPr/>
        </p:nvSpPr>
        <p:spPr>
          <a:xfrm>
            <a:off x="438912" y="1527048"/>
            <a:ext cx="347472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D9488"/>
                </a:solidFill>
              </a:rPr>
              <a:t>✓</a:t>
            </a:r>
            <a:endParaRPr sz="14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72B68558-84D2-47A9-922A-542485448A98}"/>
              </a:ext>
            </a:extLst>
          </p:cNvPr>
          <p:cNvSpPr>
            <a:spLocks noGrp="1"/>
          </p:cNvSpPr>
          <p:nvPr/>
        </p:nvSpPr>
        <p:spPr>
          <a:xfrm>
            <a:off x="822960" y="1527048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FFFFFF"/>
                </a:solidFill>
              </a:rPr>
              <a:t>Strings</a:t>
            </a:r>
            <a:endParaRPr sz="12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7816F38-5EC6-4014-B516-328159EAEB93}"/>
              </a:ext>
            </a:extLst>
          </p:cNvPr>
          <p:cNvSpPr>
            <a:spLocks noGrp="1"/>
          </p:cNvSpPr>
          <p:nvPr/>
        </p:nvSpPr>
        <p:spPr>
          <a:xfrm>
            <a:off x="2697480" y="1527048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14B8A6"/>
                </a:solidFill>
              </a:rPr>
              <a:t>Methods, template literals</a:t>
            </a:r>
            <a:endParaRPr sz="10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9019F65-C3F7-49B0-8A0A-904E2F36C78C}"/>
              </a:ext>
            </a:extLst>
          </p:cNvPr>
          <p:cNvSpPr>
            <a:spLocks noGrp="1"/>
          </p:cNvSpPr>
          <p:nvPr/>
        </p:nvSpPr>
        <p:spPr>
          <a:xfrm>
            <a:off x="4754880" y="1527048"/>
            <a:ext cx="4114800" cy="420624"/>
          </a:xfrm>
          <a:prstGeom prst="rect">
            <a:avLst/>
          </a:prstGeom>
          <a:solidFill>
            <a:srgbClr val="1A3254"/>
          </a:solidFill>
          <a:ln w="12700">
            <a:solidFill>
              <a:srgbClr val="1A3254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D2632EC-48D0-4B45-A95E-85F361E1C26C}"/>
              </a:ext>
            </a:extLst>
          </p:cNvPr>
          <p:cNvSpPr>
            <a:spLocks noGrp="1"/>
          </p:cNvSpPr>
          <p:nvPr/>
        </p:nvSpPr>
        <p:spPr>
          <a:xfrm>
            <a:off x="4828032" y="1527048"/>
            <a:ext cx="347472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D9488"/>
                </a:solidFill>
              </a:rPr>
              <a:t>✓</a:t>
            </a:r>
            <a:endParaRPr sz="14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79119C99-E620-4787-B1B6-0BB0AF33E50B}"/>
              </a:ext>
            </a:extLst>
          </p:cNvPr>
          <p:cNvSpPr>
            <a:spLocks noGrp="1"/>
          </p:cNvSpPr>
          <p:nvPr/>
        </p:nvSpPr>
        <p:spPr>
          <a:xfrm>
            <a:off x="5212080" y="1527048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FFFFFF"/>
                </a:solidFill>
              </a:rPr>
              <a:t>Conditions</a:t>
            </a:r>
            <a:endParaRPr sz="12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B30661E1-743C-4367-AE97-E84373FF5C5D}"/>
              </a:ext>
            </a:extLst>
          </p:cNvPr>
          <p:cNvSpPr>
            <a:spLocks noGrp="1"/>
          </p:cNvSpPr>
          <p:nvPr/>
        </p:nvSpPr>
        <p:spPr>
          <a:xfrm>
            <a:off x="7086600" y="1527048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14B8A6"/>
                </a:solidFill>
              </a:rPr>
              <a:t>if/else if/else, switch</a:t>
            </a:r>
            <a:endParaRPr sz="105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2AC302ED-69DE-4BEF-BBA3-A0E87464DB73}"/>
              </a:ext>
            </a:extLst>
          </p:cNvPr>
          <p:cNvSpPr>
            <a:spLocks noGrp="1"/>
          </p:cNvSpPr>
          <p:nvPr/>
        </p:nvSpPr>
        <p:spPr>
          <a:xfrm>
            <a:off x="365760" y="2002536"/>
            <a:ext cx="4114800" cy="420624"/>
          </a:xfrm>
          <a:prstGeom prst="rect">
            <a:avLst/>
          </a:prstGeom>
          <a:solidFill>
            <a:srgbClr val="1A3254"/>
          </a:solidFill>
          <a:ln w="12700">
            <a:solidFill>
              <a:srgbClr val="1A3254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33E16192-B596-493E-995A-877A7C78FB70}"/>
              </a:ext>
            </a:extLst>
          </p:cNvPr>
          <p:cNvSpPr>
            <a:spLocks noGrp="1"/>
          </p:cNvSpPr>
          <p:nvPr/>
        </p:nvSpPr>
        <p:spPr>
          <a:xfrm>
            <a:off x="438912" y="2002536"/>
            <a:ext cx="347472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D9488"/>
                </a:solidFill>
              </a:rPr>
              <a:t>✓</a:t>
            </a:r>
            <a:endParaRPr sz="140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621DE4F0-6759-4422-B56F-4A9A41755635}"/>
              </a:ext>
            </a:extLst>
          </p:cNvPr>
          <p:cNvSpPr>
            <a:spLocks noGrp="1"/>
          </p:cNvSpPr>
          <p:nvPr/>
        </p:nvSpPr>
        <p:spPr>
          <a:xfrm>
            <a:off x="822960" y="2002536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FFFFFF"/>
                </a:solidFill>
              </a:rPr>
              <a:t>Loops</a:t>
            </a:r>
            <a:endParaRPr sz="120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647B9318-110A-49EA-A6D5-6648F311ACB0}"/>
              </a:ext>
            </a:extLst>
          </p:cNvPr>
          <p:cNvSpPr>
            <a:spLocks noGrp="1"/>
          </p:cNvSpPr>
          <p:nvPr/>
        </p:nvSpPr>
        <p:spPr>
          <a:xfrm>
            <a:off x="2697480" y="2002536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14B8A6"/>
                </a:solidFill>
              </a:rPr>
              <a:t>for, while — repeat code</a:t>
            </a:r>
            <a:endParaRPr sz="105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5D789DBB-5625-4EF1-9550-19ADF9DE7749}"/>
              </a:ext>
            </a:extLst>
          </p:cNvPr>
          <p:cNvSpPr>
            <a:spLocks noGrp="1"/>
          </p:cNvSpPr>
          <p:nvPr/>
        </p:nvSpPr>
        <p:spPr>
          <a:xfrm>
            <a:off x="4754880" y="2002536"/>
            <a:ext cx="4114800" cy="420624"/>
          </a:xfrm>
          <a:prstGeom prst="rect">
            <a:avLst/>
          </a:prstGeom>
          <a:solidFill>
            <a:srgbClr val="1A3254"/>
          </a:solidFill>
          <a:ln w="12700">
            <a:solidFill>
              <a:srgbClr val="1A3254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DEA04916-291C-4294-8EC8-7CDD7E1860C7}"/>
              </a:ext>
            </a:extLst>
          </p:cNvPr>
          <p:cNvSpPr>
            <a:spLocks noGrp="1"/>
          </p:cNvSpPr>
          <p:nvPr/>
        </p:nvSpPr>
        <p:spPr>
          <a:xfrm>
            <a:off x="4828032" y="2002536"/>
            <a:ext cx="347472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D9488"/>
                </a:solidFill>
              </a:rPr>
              <a:t>✓</a:t>
            </a:r>
            <a:endParaRPr sz="140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7D3B408F-1975-4F4D-9213-43FCE86A84C8}"/>
              </a:ext>
            </a:extLst>
          </p:cNvPr>
          <p:cNvSpPr>
            <a:spLocks noGrp="1"/>
          </p:cNvSpPr>
          <p:nvPr/>
        </p:nvSpPr>
        <p:spPr>
          <a:xfrm>
            <a:off x="5212080" y="2002536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FFFFFF"/>
                </a:solidFill>
              </a:rPr>
              <a:t>Functions</a:t>
            </a:r>
            <a:endParaRPr sz="120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806DB53F-F48F-401E-AB47-2CB6CE76A115}"/>
              </a:ext>
            </a:extLst>
          </p:cNvPr>
          <p:cNvSpPr>
            <a:spLocks noGrp="1"/>
          </p:cNvSpPr>
          <p:nvPr/>
        </p:nvSpPr>
        <p:spPr>
          <a:xfrm>
            <a:off x="7086600" y="2002536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14B8A6"/>
                </a:solidFill>
              </a:rPr>
              <a:t>Define, call, parameters, return</a:t>
            </a:r>
            <a:endParaRPr sz="105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EE5BE347-6469-40D8-BE8B-EAB789489FBD}"/>
              </a:ext>
            </a:extLst>
          </p:cNvPr>
          <p:cNvSpPr>
            <a:spLocks noGrp="1"/>
          </p:cNvSpPr>
          <p:nvPr/>
        </p:nvSpPr>
        <p:spPr>
          <a:xfrm>
            <a:off x="365760" y="2478024"/>
            <a:ext cx="4114800" cy="420624"/>
          </a:xfrm>
          <a:prstGeom prst="rect">
            <a:avLst/>
          </a:prstGeom>
          <a:solidFill>
            <a:srgbClr val="1A3254"/>
          </a:solidFill>
          <a:ln w="12700">
            <a:solidFill>
              <a:srgbClr val="1A3254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EC62A784-9AFF-4903-905B-31D2661931D3}"/>
              </a:ext>
            </a:extLst>
          </p:cNvPr>
          <p:cNvSpPr>
            <a:spLocks noGrp="1"/>
          </p:cNvSpPr>
          <p:nvPr/>
        </p:nvSpPr>
        <p:spPr>
          <a:xfrm>
            <a:off x="438912" y="2478024"/>
            <a:ext cx="347472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D9488"/>
                </a:solidFill>
              </a:rPr>
              <a:t>✓</a:t>
            </a:r>
            <a:endParaRPr sz="140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4BA80C3D-7D2B-4FDB-A57C-AC8B314E7097}"/>
              </a:ext>
            </a:extLst>
          </p:cNvPr>
          <p:cNvSpPr>
            <a:spLocks noGrp="1"/>
          </p:cNvSpPr>
          <p:nvPr/>
        </p:nvSpPr>
        <p:spPr>
          <a:xfrm>
            <a:off x="822960" y="2478024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FFFFFF"/>
                </a:solidFill>
              </a:rPr>
              <a:t>Arrays</a:t>
            </a:r>
            <a:endParaRPr sz="120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02C49E44-ECB8-4B4C-8F26-15EF8A597CD7}"/>
              </a:ext>
            </a:extLst>
          </p:cNvPr>
          <p:cNvSpPr>
            <a:spLocks noGrp="1"/>
          </p:cNvSpPr>
          <p:nvPr/>
        </p:nvSpPr>
        <p:spPr>
          <a:xfrm>
            <a:off x="2697480" y="2478024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14B8A6"/>
                </a:solidFill>
              </a:rPr>
              <a:t>Lists, push/pop, map/filter/forEach</a:t>
            </a:r>
            <a:endParaRPr sz="105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6B6A63F9-159F-4558-AE98-546A6B9A28D1}"/>
              </a:ext>
            </a:extLst>
          </p:cNvPr>
          <p:cNvSpPr>
            <a:spLocks noGrp="1"/>
          </p:cNvSpPr>
          <p:nvPr/>
        </p:nvSpPr>
        <p:spPr>
          <a:xfrm>
            <a:off x="4754880" y="2478024"/>
            <a:ext cx="4114800" cy="420624"/>
          </a:xfrm>
          <a:prstGeom prst="rect">
            <a:avLst/>
          </a:prstGeom>
          <a:solidFill>
            <a:srgbClr val="1A3254"/>
          </a:solidFill>
          <a:ln w="12700">
            <a:solidFill>
              <a:srgbClr val="1A3254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C30B61B0-A44D-462F-926A-472024901F13}"/>
              </a:ext>
            </a:extLst>
          </p:cNvPr>
          <p:cNvSpPr>
            <a:spLocks noGrp="1"/>
          </p:cNvSpPr>
          <p:nvPr/>
        </p:nvSpPr>
        <p:spPr>
          <a:xfrm>
            <a:off x="4828032" y="2478024"/>
            <a:ext cx="347472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D9488"/>
                </a:solidFill>
              </a:rPr>
              <a:t>✓</a:t>
            </a:r>
            <a:endParaRPr sz="140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6615C173-B1BF-4640-8353-23223DD34501}"/>
              </a:ext>
            </a:extLst>
          </p:cNvPr>
          <p:cNvSpPr>
            <a:spLocks noGrp="1"/>
          </p:cNvSpPr>
          <p:nvPr/>
        </p:nvSpPr>
        <p:spPr>
          <a:xfrm>
            <a:off x="5212080" y="2478024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FFFFFF"/>
                </a:solidFill>
              </a:rPr>
              <a:t>Objects</a:t>
            </a:r>
            <a:endParaRPr sz="120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281AF3E5-4A6E-4D9E-A0DB-E958F8043308}"/>
              </a:ext>
            </a:extLst>
          </p:cNvPr>
          <p:cNvSpPr>
            <a:spLocks noGrp="1"/>
          </p:cNvSpPr>
          <p:nvPr/>
        </p:nvSpPr>
        <p:spPr>
          <a:xfrm>
            <a:off x="7086600" y="2478024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14B8A6"/>
                </a:solidFill>
              </a:rPr>
              <a:t>Key-value pairs, methods</a:t>
            </a:r>
            <a:endParaRPr sz="105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133A0CB8-4175-4823-B4A8-5E4C7D92952F}"/>
              </a:ext>
            </a:extLst>
          </p:cNvPr>
          <p:cNvSpPr>
            <a:spLocks noGrp="1"/>
          </p:cNvSpPr>
          <p:nvPr/>
        </p:nvSpPr>
        <p:spPr>
          <a:xfrm>
            <a:off x="365760" y="2953512"/>
            <a:ext cx="4114800" cy="420624"/>
          </a:xfrm>
          <a:prstGeom prst="rect">
            <a:avLst/>
          </a:prstGeom>
          <a:solidFill>
            <a:srgbClr val="1A3254"/>
          </a:solidFill>
          <a:ln w="12700">
            <a:solidFill>
              <a:srgbClr val="1A3254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70E60650-F753-45B2-813C-6B9680F2AA36}"/>
              </a:ext>
            </a:extLst>
          </p:cNvPr>
          <p:cNvSpPr>
            <a:spLocks noGrp="1"/>
          </p:cNvSpPr>
          <p:nvPr/>
        </p:nvSpPr>
        <p:spPr>
          <a:xfrm>
            <a:off x="438912" y="2953512"/>
            <a:ext cx="347472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D9488"/>
                </a:solidFill>
              </a:rPr>
              <a:t>✓</a:t>
            </a:r>
            <a:endParaRPr sz="140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7050431C-2F9B-436F-8773-CEED74F87317}"/>
              </a:ext>
            </a:extLst>
          </p:cNvPr>
          <p:cNvSpPr>
            <a:spLocks noGrp="1"/>
          </p:cNvSpPr>
          <p:nvPr/>
        </p:nvSpPr>
        <p:spPr>
          <a:xfrm>
            <a:off x="822960" y="2953512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FFFFFF"/>
                </a:solidFill>
              </a:rPr>
              <a:t>The DOM</a:t>
            </a:r>
            <a:endParaRPr sz="120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E40681BD-B4F0-43BE-9F2D-7B2C7D8150C6}"/>
              </a:ext>
            </a:extLst>
          </p:cNvPr>
          <p:cNvSpPr>
            <a:spLocks noGrp="1"/>
          </p:cNvSpPr>
          <p:nvPr/>
        </p:nvSpPr>
        <p:spPr>
          <a:xfrm>
            <a:off x="2697480" y="2953512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14B8A6"/>
                </a:solidFill>
              </a:rPr>
              <a:t>Select, change, add/remove elements</a:t>
            </a:r>
            <a:endParaRPr sz="1050"/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13ED9DCD-1176-418F-81FD-439F3912FF00}"/>
              </a:ext>
            </a:extLst>
          </p:cNvPr>
          <p:cNvSpPr>
            <a:spLocks noGrp="1"/>
          </p:cNvSpPr>
          <p:nvPr/>
        </p:nvSpPr>
        <p:spPr>
          <a:xfrm>
            <a:off x="4754880" y="2953512"/>
            <a:ext cx="4114800" cy="420624"/>
          </a:xfrm>
          <a:prstGeom prst="rect">
            <a:avLst/>
          </a:prstGeom>
          <a:solidFill>
            <a:srgbClr val="1A3254"/>
          </a:solidFill>
          <a:ln w="12700">
            <a:solidFill>
              <a:srgbClr val="1A3254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F38DAEA3-62F7-4BFD-B2F8-003A7DE2324E}"/>
              </a:ext>
            </a:extLst>
          </p:cNvPr>
          <p:cNvSpPr>
            <a:spLocks noGrp="1"/>
          </p:cNvSpPr>
          <p:nvPr/>
        </p:nvSpPr>
        <p:spPr>
          <a:xfrm>
            <a:off x="4828032" y="2953512"/>
            <a:ext cx="347472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D9488"/>
                </a:solidFill>
              </a:rPr>
              <a:t>✓</a:t>
            </a:r>
            <a:endParaRPr sz="1400"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4D9F5C36-03A4-4E34-91EB-E2D1A449AE44}"/>
              </a:ext>
            </a:extLst>
          </p:cNvPr>
          <p:cNvSpPr>
            <a:spLocks noGrp="1"/>
          </p:cNvSpPr>
          <p:nvPr/>
        </p:nvSpPr>
        <p:spPr>
          <a:xfrm>
            <a:off x="5212080" y="2953512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FFFFFF"/>
                </a:solidFill>
              </a:rPr>
              <a:t>Events</a:t>
            </a:r>
            <a:endParaRPr sz="120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DA0B20B4-1C26-419E-89B3-369D73D83307}"/>
              </a:ext>
            </a:extLst>
          </p:cNvPr>
          <p:cNvSpPr>
            <a:spLocks noGrp="1"/>
          </p:cNvSpPr>
          <p:nvPr/>
        </p:nvSpPr>
        <p:spPr>
          <a:xfrm>
            <a:off x="7086600" y="2953512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14B8A6"/>
                </a:solidFill>
              </a:rPr>
              <a:t>onclick, addEventListener, input</a:t>
            </a:r>
            <a:endParaRPr sz="1050"/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570AD5FF-9511-4300-BAA3-F68D9223C0BD}"/>
              </a:ext>
            </a:extLst>
          </p:cNvPr>
          <p:cNvSpPr>
            <a:spLocks noGrp="1"/>
          </p:cNvSpPr>
          <p:nvPr/>
        </p:nvSpPr>
        <p:spPr>
          <a:xfrm>
            <a:off x="365760" y="38404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4B8A6"/>
                </a:solidFill>
              </a:rPr>
              <a:t>What to learn next →</a:t>
            </a:r>
            <a:endParaRPr sz="1300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BD89731B-1949-4C2C-AE4A-8AB322C993D4}"/>
              </a:ext>
            </a:extLst>
          </p:cNvPr>
          <p:cNvSpPr>
            <a:spLocks noGrp="1"/>
          </p:cNvSpPr>
          <p:nvPr/>
        </p:nvSpPr>
        <p:spPr>
          <a:xfrm>
            <a:off x="457200" y="4114800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E2E8F0"/>
                </a:solidFill>
              </a:rPr>
              <a:t>• Fetch API &amp; JSON (get data from internet)</a:t>
            </a:r>
            <a:endParaRPr sz="1100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A7B15676-ED42-4A8B-8523-A2A68E79632E}"/>
              </a:ext>
            </a:extLst>
          </p:cNvPr>
          <p:cNvSpPr>
            <a:spLocks noGrp="1"/>
          </p:cNvSpPr>
          <p:nvPr/>
        </p:nvSpPr>
        <p:spPr>
          <a:xfrm>
            <a:off x="457200" y="432511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E2E8F0"/>
                </a:solidFill>
              </a:rPr>
              <a:t>• ES6+ features: spread, destructuring, modules</a:t>
            </a:r>
            <a:endParaRPr sz="1100"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B7A97F69-6B69-4D5B-85BF-84E6D475ACF4}"/>
              </a:ext>
            </a:extLst>
          </p:cNvPr>
          <p:cNvSpPr>
            <a:spLocks noGrp="1"/>
          </p:cNvSpPr>
          <p:nvPr/>
        </p:nvSpPr>
        <p:spPr>
          <a:xfrm>
            <a:off x="457200" y="4535424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E2E8F0"/>
                </a:solidFill>
              </a:rPr>
              <a:t>• JavaScript frameworks: React, Vue</a:t>
            </a:r>
            <a:endParaRPr sz="1100"/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0D26E76D-34E1-4EE4-B9EB-E609174412B9}"/>
              </a:ext>
            </a:extLst>
          </p:cNvPr>
          <p:cNvSpPr>
            <a:spLocks noGrp="1"/>
          </p:cNvSpPr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Reference: w3schools.com/js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983505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3775</Words>
  <Application>Microsoft Office PowerPoint</Application>
  <DocSecurity>0</DocSecurity>
  <PresentationFormat>On-screen Show (16:9)</PresentationFormat>
  <Paragraphs>565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Arial Black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student</cp:lastModifiedBy>
  <cp:revision>2</cp:revision>
  <dcterms:created xsi:type="dcterms:W3CDTF">2026-08-30T02:59:33Z</dcterms:created>
  <dcterms:modified xsi:type="dcterms:W3CDTF">2026-09-01T05:36:50Z</dcterms:modified>
</cp:coreProperties>
</file>