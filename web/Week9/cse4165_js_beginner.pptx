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71" d="100"/>
          <a:sy n="171" d="100"/>
        </p:scale>
        <p:origin x="4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13458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4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365760"/>
            <a:ext cx="1828800" cy="1828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411480"/>
            <a:ext cx="219456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6" name="Text 3"/>
          <p:cNvSpPr/>
          <p:nvPr/>
        </p:nvSpPr>
        <p:spPr>
          <a:xfrm>
            <a:off x="365760" y="4114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CSE 4165 — Web Programming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365760" y="108650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JavaScript</a:t>
            </a:r>
            <a:endParaRPr lang="en-US" sz="6800" dirty="0"/>
          </a:p>
        </p:txBody>
      </p:sp>
      <p:sp>
        <p:nvSpPr>
          <p:cNvPr id="9" name="Shape 6"/>
          <p:cNvSpPr/>
          <p:nvPr/>
        </p:nvSpPr>
        <p:spPr>
          <a:xfrm>
            <a:off x="365760" y="2743200"/>
            <a:ext cx="41148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2" name="Text 9"/>
          <p:cNvSpPr/>
          <p:nvPr/>
        </p:nvSpPr>
        <p:spPr>
          <a:xfrm>
            <a:off x="365760" y="4800600"/>
            <a:ext cx="84124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Reference: w3schools.com/js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INTRO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24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JavaScript?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117043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The third layer of the web — after HTML and CSS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508760"/>
            <a:ext cx="2606040" cy="2560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BD"/>
          </a:p>
        </p:txBody>
      </p:sp>
      <p:sp>
        <p:nvSpPr>
          <p:cNvPr id="7" name="Shape 5"/>
          <p:cNvSpPr/>
          <p:nvPr/>
        </p:nvSpPr>
        <p:spPr>
          <a:xfrm>
            <a:off x="365760" y="1508760"/>
            <a:ext cx="2606040" cy="5486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600200"/>
            <a:ext cx="594360" cy="5943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65760" y="221284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A580C"/>
                </a:solidFill>
              </a:rPr>
              <a:t>HTML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502920" y="2578608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Defines the "bones" — headings, paragraphs, buttons, images. The content.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200400" y="1508760"/>
            <a:ext cx="2606040" cy="2560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BD"/>
          </a:p>
        </p:txBody>
      </p:sp>
      <p:sp>
        <p:nvSpPr>
          <p:cNvPr id="12" name="Shape 9"/>
          <p:cNvSpPr/>
          <p:nvPr/>
        </p:nvSpPr>
        <p:spPr>
          <a:xfrm>
            <a:off x="3200400" y="1508760"/>
            <a:ext cx="260604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0" y="1600200"/>
            <a:ext cx="594360" cy="5943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200400" y="221284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C3AED"/>
                </a:solidFill>
              </a:rPr>
              <a:t>CSS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3337560" y="2578608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Adds the "skin" — colours, fonts, spacing, layout. How it looks.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035040" y="1508760"/>
            <a:ext cx="2606040" cy="2560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BD"/>
          </a:p>
        </p:txBody>
      </p:sp>
      <p:sp>
        <p:nvSpPr>
          <p:cNvPr id="17" name="Shape 13"/>
          <p:cNvSpPr/>
          <p:nvPr/>
        </p:nvSpPr>
        <p:spPr>
          <a:xfrm>
            <a:off x="6035040" y="1508760"/>
            <a:ext cx="260604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0880" y="1600200"/>
            <a:ext cx="594360" cy="5943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035040" y="221284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9488"/>
                </a:solidFill>
              </a:rPr>
              <a:t>JS</a:t>
            </a:r>
            <a:endParaRPr lang="en-US" sz="2200" dirty="0"/>
          </a:p>
        </p:txBody>
      </p:sp>
      <p:sp>
        <p:nvSpPr>
          <p:cNvPr id="20" name="Text 15"/>
          <p:cNvSpPr/>
          <p:nvPr/>
        </p:nvSpPr>
        <p:spPr>
          <a:xfrm>
            <a:off x="6172200" y="2578608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Adds the "muscles" — makes things move, react, calculate, show/hide. Behaviour.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365760" y="4206240"/>
            <a:ext cx="8412480" cy="658368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22" name="Text 17"/>
          <p:cNvSpPr/>
          <p:nvPr/>
        </p:nvSpPr>
        <p:spPr>
          <a:xfrm>
            <a:off x="502920" y="4206240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</a:rPr>
              <a:t>💡 Tip </a:t>
            </a:r>
            <a:r>
              <a:rPr lang="en-US" sz="1200" dirty="0">
                <a:solidFill>
                  <a:srgbClr val="1E293B"/>
                </a:solidFill>
              </a:rPr>
              <a:t>JavaScript runs directly in your browser — no installation needed! Open DevTools (F12) → Console and type: 2 + 2 → press Enter. It replies: 4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SETUP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24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Where to Write JavaScript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117043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Two places — inline &lt;script&gt; tag, or an external .js file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4023360" cy="320040"/>
          </a:xfrm>
          <a:prstGeom prst="rect">
            <a:avLst/>
          </a:prstGeom>
          <a:solidFill>
            <a:srgbClr val="0F2440"/>
          </a:solidFill>
          <a:ln w="12700">
            <a:solidFill>
              <a:srgbClr val="0F2440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7" name="Text 5"/>
          <p:cNvSpPr/>
          <p:nvPr/>
        </p:nvSpPr>
        <p:spPr>
          <a:xfrm>
            <a:off x="365760" y="14173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Option 1 — Inside the HTML file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737360"/>
            <a:ext cx="4023360" cy="1828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9" name="Text 7"/>
          <p:cNvSpPr/>
          <p:nvPr/>
        </p:nvSpPr>
        <p:spPr>
          <a:xfrm>
            <a:off x="475488" y="1828800"/>
            <a:ext cx="38039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&lt;!DOCTYPE html&gt;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&lt;html&gt;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&lt;body&gt;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&lt;h1&gt;Hello&lt;/h1&gt;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&lt;script&gt;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alert("I am JavaScript!");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&lt;/script&gt;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&lt;/body&gt;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&lt;/html&gt;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54880" y="1417320"/>
            <a:ext cx="402336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1" name="Text 9"/>
          <p:cNvSpPr/>
          <p:nvPr/>
        </p:nvSpPr>
        <p:spPr>
          <a:xfrm>
            <a:off x="4754880" y="14173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Option 2 — External .js file (preferred)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1737360"/>
            <a:ext cx="4023360" cy="1828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3" name="Text 11"/>
          <p:cNvSpPr/>
          <p:nvPr/>
        </p:nvSpPr>
        <p:spPr>
          <a:xfrm>
            <a:off x="4864608" y="1828800"/>
            <a:ext cx="38039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index.html --&gt;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&lt;body&gt;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&lt;h1&gt;Hello&lt;/h1&gt;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&lt;script src="script.js"&gt;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&lt;/script&gt;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&lt;/body&gt;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script.js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alert("External JS!");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3703320"/>
            <a:ext cx="8412480" cy="475488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5" name="Text 13"/>
          <p:cNvSpPr/>
          <p:nvPr/>
        </p:nvSpPr>
        <p:spPr>
          <a:xfrm>
            <a:off x="502920" y="370332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</a:rPr>
              <a:t>⚠ Note </a:t>
            </a:r>
            <a:r>
              <a:rPr lang="en-US" sz="1200" dirty="0">
                <a:solidFill>
                  <a:srgbClr val="1E293B"/>
                </a:solidFill>
              </a:rPr>
              <a:t>Always place &lt;script&gt; at the BOTTOM of &lt;body&gt; — this ensures your HTML elements load before JS tries to use them.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4251960"/>
            <a:ext cx="8412480" cy="594360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7" name="Text 15"/>
          <p:cNvSpPr/>
          <p:nvPr/>
        </p:nvSpPr>
        <p:spPr>
          <a:xfrm>
            <a:off x="502920" y="425196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</a:rPr>
              <a:t>💡 Tip </a:t>
            </a:r>
            <a:r>
              <a:rPr lang="en-US" sz="1200" dirty="0">
                <a:solidFill>
                  <a:srgbClr val="1E293B"/>
                </a:solidFill>
              </a:rPr>
              <a:t>External files keep code organised. Your .html and .js files must be in the same folder. Link with: &lt;script src="script.js"&gt;&lt;/script&gt;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OUTPUT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24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Displaying Output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117043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Four ways JavaScript can show something to you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4023360" cy="16642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BD"/>
          </a:p>
        </p:txBody>
      </p:sp>
      <p:sp>
        <p:nvSpPr>
          <p:cNvPr id="7" name="Shape 5"/>
          <p:cNvSpPr/>
          <p:nvPr/>
        </p:nvSpPr>
        <p:spPr>
          <a:xfrm>
            <a:off x="365760" y="1417320"/>
            <a:ext cx="64008" cy="16642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8" name="Text 6"/>
          <p:cNvSpPr/>
          <p:nvPr/>
        </p:nvSpPr>
        <p:spPr>
          <a:xfrm>
            <a:off x="548640" y="149047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alert()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178308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Pops up a dialog box.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Good for quick demos.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5488" y="2404872"/>
            <a:ext cx="3803904" cy="5486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1" name="Text 9"/>
          <p:cNvSpPr/>
          <p:nvPr/>
        </p:nvSpPr>
        <p:spPr>
          <a:xfrm>
            <a:off x="585216" y="2496312"/>
            <a:ext cx="3584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alert("Hello World!");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754880" y="1417320"/>
            <a:ext cx="4023360" cy="16642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BD"/>
          </a:p>
        </p:txBody>
      </p:sp>
      <p:sp>
        <p:nvSpPr>
          <p:cNvPr id="13" name="Shape 11"/>
          <p:cNvSpPr/>
          <p:nvPr/>
        </p:nvSpPr>
        <p:spPr>
          <a:xfrm>
            <a:off x="4754880" y="1417320"/>
            <a:ext cx="64008" cy="16642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4" name="Text 12"/>
          <p:cNvSpPr/>
          <p:nvPr/>
        </p:nvSpPr>
        <p:spPr>
          <a:xfrm>
            <a:off x="4937760" y="149047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937760" y="178308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Prints to browser console (F12).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Best for debugging.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864608" y="2404872"/>
            <a:ext cx="3803904" cy="5486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7" name="Text 15"/>
          <p:cNvSpPr/>
          <p:nvPr/>
        </p:nvSpPr>
        <p:spPr>
          <a:xfrm>
            <a:off x="4974336" y="2496312"/>
            <a:ext cx="3584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console.log("Hello!");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65760" y="3246120"/>
            <a:ext cx="4023360" cy="16642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BD"/>
          </a:p>
        </p:txBody>
      </p:sp>
      <p:sp>
        <p:nvSpPr>
          <p:cNvPr id="19" name="Shape 17"/>
          <p:cNvSpPr/>
          <p:nvPr/>
        </p:nvSpPr>
        <p:spPr>
          <a:xfrm>
            <a:off x="365760" y="3246120"/>
            <a:ext cx="64008" cy="16642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20" name="Text 18"/>
          <p:cNvSpPr/>
          <p:nvPr/>
        </p:nvSpPr>
        <p:spPr>
          <a:xfrm>
            <a:off x="548640" y="331927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document.write()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48640" y="361188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Writes directly into the page.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(Rarely used in real projects.)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75488" y="4233672"/>
            <a:ext cx="3803904" cy="5486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23" name="Text 21"/>
          <p:cNvSpPr/>
          <p:nvPr/>
        </p:nvSpPr>
        <p:spPr>
          <a:xfrm>
            <a:off x="585216" y="4325112"/>
            <a:ext cx="3584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document.write("Hi!");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754880" y="3246120"/>
            <a:ext cx="4023360" cy="16642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BD"/>
          </a:p>
        </p:txBody>
      </p:sp>
      <p:sp>
        <p:nvSpPr>
          <p:cNvPr id="25" name="Shape 23"/>
          <p:cNvSpPr/>
          <p:nvPr/>
        </p:nvSpPr>
        <p:spPr>
          <a:xfrm>
            <a:off x="4754880" y="3246120"/>
            <a:ext cx="64008" cy="166420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26" name="Text 24"/>
          <p:cNvSpPr/>
          <p:nvPr/>
        </p:nvSpPr>
        <p:spPr>
          <a:xfrm>
            <a:off x="4937760" y="331927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A58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innerHTML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937760" y="361188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Changes content of an HTML element.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Most common in practice.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864608" y="4233672"/>
            <a:ext cx="3803904" cy="5486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29" name="Text 27"/>
          <p:cNvSpPr/>
          <p:nvPr/>
        </p:nvSpPr>
        <p:spPr>
          <a:xfrm>
            <a:off x="4974336" y="4325112"/>
            <a:ext cx="3584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el.innerHTML = "Hi!";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VARIABLES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24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Variables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117043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Store data to use later — like labelled boxes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8412480" cy="16002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7" name="Text 5"/>
          <p:cNvSpPr/>
          <p:nvPr/>
        </p:nvSpPr>
        <p:spPr>
          <a:xfrm>
            <a:off x="475488" y="1508760"/>
            <a:ext cx="819302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  name    = "Pranta";   // can be changed later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PI      = 3.14159;    // cannot be changed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  oldVar  = "avoid";    // old way — causes bugs, avoid it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x = 10;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20;                    // OK — let allows reassignment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3218688"/>
            <a:ext cx="265176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BD"/>
          </a:p>
        </p:txBody>
      </p:sp>
      <p:sp>
        <p:nvSpPr>
          <p:cNvPr id="9" name="Shape 7"/>
          <p:cNvSpPr/>
          <p:nvPr/>
        </p:nvSpPr>
        <p:spPr>
          <a:xfrm>
            <a:off x="365760" y="3218688"/>
            <a:ext cx="265176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0" name="Text 8"/>
          <p:cNvSpPr/>
          <p:nvPr/>
        </p:nvSpPr>
        <p:spPr>
          <a:xfrm>
            <a:off x="475488" y="331012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75488" y="3639312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Declare a variable that CAN change.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Use this for most things.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00400" y="3218688"/>
            <a:ext cx="265176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BD"/>
          </a:p>
        </p:txBody>
      </p:sp>
      <p:sp>
        <p:nvSpPr>
          <p:cNvPr id="13" name="Shape 11"/>
          <p:cNvSpPr/>
          <p:nvPr/>
        </p:nvSpPr>
        <p:spPr>
          <a:xfrm>
            <a:off x="3200400" y="3218688"/>
            <a:ext cx="265176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4" name="Text 12"/>
          <p:cNvSpPr/>
          <p:nvPr/>
        </p:nvSpPr>
        <p:spPr>
          <a:xfrm>
            <a:off x="3310128" y="331012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310128" y="3639312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Declare a constant that CANNOT change.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Use this for fixed values like PI.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035040" y="3218688"/>
            <a:ext cx="265176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BD"/>
          </a:p>
        </p:txBody>
      </p:sp>
      <p:sp>
        <p:nvSpPr>
          <p:cNvPr id="17" name="Shape 15"/>
          <p:cNvSpPr/>
          <p:nvPr/>
        </p:nvSpPr>
        <p:spPr>
          <a:xfrm>
            <a:off x="6035040" y="3218688"/>
            <a:ext cx="265176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8" name="Text 16"/>
          <p:cNvSpPr/>
          <p:nvPr/>
        </p:nvSpPr>
        <p:spPr>
          <a:xfrm>
            <a:off x="6144768" y="331012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144768" y="3639312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Old-style declaration. Avoid it —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it causes scoping bugs.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65760" y="4727448"/>
            <a:ext cx="8412480" cy="292608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21" name="Text 19"/>
          <p:cNvSpPr/>
          <p:nvPr/>
        </p:nvSpPr>
        <p:spPr>
          <a:xfrm>
            <a:off x="502920" y="472744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</a:rPr>
              <a:t>💡 Tip </a:t>
            </a:r>
            <a:r>
              <a:rPr lang="en-US" sz="1200" dirty="0">
                <a:solidFill>
                  <a:srgbClr val="1E293B"/>
                </a:solidFill>
              </a:rPr>
              <a:t>Rule of thumb: always use const first. If you need to change the value later, switch to let.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DATA TYPES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24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Types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117043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JavaScript has 8 types — here are the 5 you'll use most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444752"/>
            <a:ext cx="2651760" cy="1600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BD"/>
          </a:p>
        </p:txBody>
      </p:sp>
      <p:sp>
        <p:nvSpPr>
          <p:cNvPr id="7" name="Shape 5"/>
          <p:cNvSpPr/>
          <p:nvPr/>
        </p:nvSpPr>
        <p:spPr>
          <a:xfrm>
            <a:off x="365760" y="1444752"/>
            <a:ext cx="265176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8" name="Text 6"/>
          <p:cNvSpPr/>
          <p:nvPr/>
        </p:nvSpPr>
        <p:spPr>
          <a:xfrm>
            <a:off x="475488" y="1536192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9488"/>
                </a:solidFill>
              </a:rPr>
              <a:t>String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75488" y="1828800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Text — always in quotes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" y="2194560"/>
            <a:ext cx="24323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"Hello"  "UIU"  "42"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91840" y="1444752"/>
            <a:ext cx="2651760" cy="1600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BD"/>
          </a:p>
        </p:txBody>
      </p:sp>
      <p:sp>
        <p:nvSpPr>
          <p:cNvPr id="12" name="Shape 10"/>
          <p:cNvSpPr/>
          <p:nvPr/>
        </p:nvSpPr>
        <p:spPr>
          <a:xfrm>
            <a:off x="3291840" y="1444752"/>
            <a:ext cx="265176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3" name="Text 11"/>
          <p:cNvSpPr/>
          <p:nvPr/>
        </p:nvSpPr>
        <p:spPr>
          <a:xfrm>
            <a:off x="3401568" y="1536192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9E0B"/>
                </a:solidFill>
              </a:rPr>
              <a:t>Number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01568" y="1828800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Numbers (integers &amp; decimals)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01568" y="2194560"/>
            <a:ext cx="24323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   3.14   -100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1444752"/>
            <a:ext cx="2651760" cy="1600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BD"/>
          </a:p>
        </p:txBody>
      </p:sp>
      <p:sp>
        <p:nvSpPr>
          <p:cNvPr id="17" name="Shape 15"/>
          <p:cNvSpPr/>
          <p:nvPr/>
        </p:nvSpPr>
        <p:spPr>
          <a:xfrm>
            <a:off x="6217920" y="1444752"/>
            <a:ext cx="2651760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8" name="Text 16"/>
          <p:cNvSpPr/>
          <p:nvPr/>
        </p:nvSpPr>
        <p:spPr>
          <a:xfrm>
            <a:off x="6327648" y="1536192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A34A"/>
                </a:solidFill>
              </a:rPr>
              <a:t>Boolean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327648" y="1828800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Yes/No, On/Off values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27648" y="2194560"/>
            <a:ext cx="24323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   false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3246120"/>
            <a:ext cx="2651760" cy="1600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BD"/>
          </a:p>
        </p:txBody>
      </p:sp>
      <p:sp>
        <p:nvSpPr>
          <p:cNvPr id="22" name="Shape 20"/>
          <p:cNvSpPr/>
          <p:nvPr/>
        </p:nvSpPr>
        <p:spPr>
          <a:xfrm>
            <a:off x="365760" y="3246120"/>
            <a:ext cx="2651760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23" name="Text 21"/>
          <p:cNvSpPr/>
          <p:nvPr/>
        </p:nvSpPr>
        <p:spPr>
          <a:xfrm>
            <a:off x="475488" y="3337560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4748B"/>
                </a:solidFill>
              </a:rPr>
              <a:t>Undefined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75488" y="3630168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Declared but not assigned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5488" y="3995928"/>
            <a:ext cx="24323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x;  → undefined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91840" y="3246120"/>
            <a:ext cx="2651760" cy="1600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BD"/>
          </a:p>
        </p:txBody>
      </p:sp>
      <p:sp>
        <p:nvSpPr>
          <p:cNvPr id="27" name="Shape 25"/>
          <p:cNvSpPr/>
          <p:nvPr/>
        </p:nvSpPr>
        <p:spPr>
          <a:xfrm>
            <a:off x="3291840" y="3246120"/>
            <a:ext cx="265176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28" name="Text 26"/>
          <p:cNvSpPr/>
          <p:nvPr/>
        </p:nvSpPr>
        <p:spPr>
          <a:xfrm>
            <a:off x="3401568" y="3337560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C2626"/>
                </a:solidFill>
              </a:rPr>
              <a:t>Null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3401568" y="3630168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Intentionally empty value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401568" y="3995928"/>
            <a:ext cx="24323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x = null;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4773168"/>
            <a:ext cx="8412480" cy="274320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32" name="Text 30"/>
          <p:cNvSpPr/>
          <p:nvPr/>
        </p:nvSpPr>
        <p:spPr>
          <a:xfrm>
            <a:off x="502920" y="477316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</a:rPr>
              <a:t>📌 Info </a:t>
            </a:r>
            <a:r>
              <a:rPr lang="en-US" sz="1200" dirty="0">
                <a:solidFill>
                  <a:srgbClr val="1E293B"/>
                </a:solidFill>
              </a:rPr>
              <a:t>typeof "hello" → "string"   typeof 42 → "number"   typeof true → "boolean"  (use typeof to check)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OPERATORS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24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Operators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117043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Perform operations on values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41732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440"/>
                </a:solidFill>
              </a:rPr>
              <a:t>Arithmetic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737360"/>
            <a:ext cx="3931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17373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Addition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697480" y="17373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+ 3  →  8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212848"/>
            <a:ext cx="393192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2" name="Text 10"/>
          <p:cNvSpPr/>
          <p:nvPr/>
        </p:nvSpPr>
        <p:spPr>
          <a:xfrm>
            <a:off x="457200" y="2212848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14400" y="221284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Subtraction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97480" y="221284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10 - 4  →  6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688336"/>
            <a:ext cx="3931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6" name="Text 14"/>
          <p:cNvSpPr/>
          <p:nvPr/>
        </p:nvSpPr>
        <p:spPr>
          <a:xfrm>
            <a:off x="457200" y="2688336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14400" y="268833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Multiplication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697480" y="2688336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* 4  →  12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163824"/>
            <a:ext cx="393192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20" name="Text 18"/>
          <p:cNvSpPr/>
          <p:nvPr/>
        </p:nvSpPr>
        <p:spPr>
          <a:xfrm>
            <a:off x="457200" y="3163824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14400" y="3163824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Division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697480" y="3163824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/ 3  →  5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639312"/>
            <a:ext cx="3931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24" name="Text 22"/>
          <p:cNvSpPr/>
          <p:nvPr/>
        </p:nvSpPr>
        <p:spPr>
          <a:xfrm>
            <a:off x="457200" y="3639312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14400" y="363931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Remainder (modulus)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697480" y="363931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10 % 3  →  1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4114800"/>
            <a:ext cx="393192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28" name="Text 26"/>
          <p:cNvSpPr/>
          <p:nvPr/>
        </p:nvSpPr>
        <p:spPr>
          <a:xfrm>
            <a:off x="457200" y="411480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**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14400" y="41148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Exponent (power)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697480" y="41148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** 3  →  8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754880" y="141732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440"/>
                </a:solidFill>
              </a:rPr>
              <a:t>Comparison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754880" y="1737360"/>
            <a:ext cx="4023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33" name="Text 31"/>
          <p:cNvSpPr/>
          <p:nvPr/>
        </p:nvSpPr>
        <p:spPr>
          <a:xfrm>
            <a:off x="4846320" y="17373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080760" y="17373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Strictly equal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754880" y="2212848"/>
            <a:ext cx="402336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36" name="Text 34"/>
          <p:cNvSpPr/>
          <p:nvPr/>
        </p:nvSpPr>
        <p:spPr>
          <a:xfrm>
            <a:off x="4846320" y="221284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!==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080760" y="221284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Not equal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754880" y="2688336"/>
            <a:ext cx="4023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39" name="Text 37"/>
          <p:cNvSpPr/>
          <p:nvPr/>
        </p:nvSpPr>
        <p:spPr>
          <a:xfrm>
            <a:off x="4846320" y="2688336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  /  &gt;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080760" y="2688336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Less / greater than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754880" y="3163824"/>
            <a:ext cx="402336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42" name="Text 40"/>
          <p:cNvSpPr/>
          <p:nvPr/>
        </p:nvSpPr>
        <p:spPr>
          <a:xfrm>
            <a:off x="4846320" y="316382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&lt;=  /  &gt;=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080760" y="3163824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Less/greater or equal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754880" y="365760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440"/>
                </a:solidFill>
              </a:rPr>
              <a:t>Assignment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4754880" y="3968496"/>
            <a:ext cx="402336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46" name="Text 44"/>
          <p:cNvSpPr/>
          <p:nvPr/>
        </p:nvSpPr>
        <p:spPr>
          <a:xfrm>
            <a:off x="4846320" y="3968496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5349240" y="3968496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5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754880" y="4334256"/>
            <a:ext cx="4023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49" name="Text 47"/>
          <p:cNvSpPr/>
          <p:nvPr/>
        </p:nvSpPr>
        <p:spPr>
          <a:xfrm>
            <a:off x="4846320" y="4334256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+=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5349240" y="4334256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+= 3  (same as x = x + 3)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754880" y="4700016"/>
            <a:ext cx="402336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52" name="Text 50"/>
          <p:cNvSpPr/>
          <p:nvPr/>
        </p:nvSpPr>
        <p:spPr>
          <a:xfrm>
            <a:off x="4846320" y="4700016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++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5349240" y="4700016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x++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365760" y="4828032"/>
            <a:ext cx="8412480" cy="256032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55" name="Text 53"/>
          <p:cNvSpPr/>
          <p:nvPr/>
        </p:nvSpPr>
        <p:spPr>
          <a:xfrm>
            <a:off x="502920" y="4828032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</a:rPr>
              <a:t>⚠ Note </a:t>
            </a:r>
            <a:r>
              <a:rPr lang="en-US" sz="1200" dirty="0">
                <a:solidFill>
                  <a:srgbClr val="1E293B"/>
                </a:solidFill>
              </a:rPr>
              <a:t>Always use === (strict equality), not == (loose equality). "5" == 5 is true (wrong!), "5" === 5 is false (correct!).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STRINGS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24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Working with Strings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117043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Strings are text. JavaScript has many built-in tools for them.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8412480" cy="7772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7" name="Text 5"/>
          <p:cNvSpPr/>
          <p:nvPr/>
        </p:nvSpPr>
        <p:spPr>
          <a:xfrm>
            <a:off x="475488" y="1508760"/>
            <a:ext cx="81930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city = "Dhaka";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city.length        // → 5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city.toUpperCase() // → "DHAKA"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331720"/>
            <a:ext cx="84124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9" name="Text 7"/>
          <p:cNvSpPr/>
          <p:nvPr/>
        </p:nvSpPr>
        <p:spPr>
          <a:xfrm>
            <a:off x="457200" y="23317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length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606040" y="23317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"Dhaka".length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0" y="23317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5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60920" y="23317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Number of characters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670048"/>
            <a:ext cx="84124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4" name="Text 12"/>
          <p:cNvSpPr/>
          <p:nvPr/>
        </p:nvSpPr>
        <p:spPr>
          <a:xfrm>
            <a:off x="457200" y="267004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toUpperCase()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606040" y="267004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"hello".toUpperCase()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669280" y="267004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"HELLO"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60920" y="267004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Convert to uppercase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3008376"/>
            <a:ext cx="84124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9" name="Text 17"/>
          <p:cNvSpPr/>
          <p:nvPr/>
        </p:nvSpPr>
        <p:spPr>
          <a:xfrm>
            <a:off x="457200" y="300837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toLowerCase()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606040" y="300837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"HELLO".toLowerCase()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669280" y="3008376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"hello"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60920" y="300837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Convert to lowercase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3346704"/>
            <a:ext cx="84124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24" name="Text 22"/>
          <p:cNvSpPr/>
          <p:nvPr/>
        </p:nvSpPr>
        <p:spPr>
          <a:xfrm>
            <a:off x="457200" y="334670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trim()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606040" y="3346704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 hi  ".trim()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669280" y="334670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"hi"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360920" y="334670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Remove whitespace from ends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3685032"/>
            <a:ext cx="84124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29" name="Text 27"/>
          <p:cNvSpPr/>
          <p:nvPr/>
        </p:nvSpPr>
        <p:spPr>
          <a:xfrm>
            <a:off x="457200" y="368503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includes()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606040" y="368503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"JavaScript".includes("Script")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669280" y="368503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true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360920" y="368503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Check if text is inside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65760" y="4023360"/>
            <a:ext cx="84124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34" name="Text 32"/>
          <p:cNvSpPr/>
          <p:nvPr/>
        </p:nvSpPr>
        <p:spPr>
          <a:xfrm>
            <a:off x="457200" y="40233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slice(start,end)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606040" y="40233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"JavaScript".slice(0,4)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669280" y="40233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"Java"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360920" y="40233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Extract part of string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65760" y="4361688"/>
            <a:ext cx="84124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39" name="Text 37"/>
          <p:cNvSpPr/>
          <p:nvPr/>
        </p:nvSpPr>
        <p:spPr>
          <a:xfrm>
            <a:off x="457200" y="436168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replace()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2606040" y="436168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"Hello".replace("Hello","Hi")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669280" y="436168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"Hi"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360920" y="436168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Replace text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65760" y="4700016"/>
            <a:ext cx="84124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44" name="Text 42"/>
          <p:cNvSpPr/>
          <p:nvPr/>
        </p:nvSpPr>
        <p:spPr>
          <a:xfrm>
            <a:off x="457200" y="470001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split()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2606040" y="470001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"a,b,c".split(",")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669280" y="4700016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["a","b","c"]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360920" y="470001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Split into array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STRINGS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24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Template Literals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117043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The modern, readable way to build strings with variables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8412480" cy="3200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7" name="Text 5"/>
          <p:cNvSpPr/>
          <p:nvPr/>
        </p:nvSpPr>
        <p:spPr>
          <a:xfrm>
            <a:off x="365760" y="14173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❌  Old way — messy string concatenation with +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737360"/>
            <a:ext cx="8412480" cy="5486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9" name="Text 7"/>
          <p:cNvSpPr/>
          <p:nvPr/>
        </p:nvSpPr>
        <p:spPr>
          <a:xfrm>
            <a:off x="475488" y="1828800"/>
            <a:ext cx="8193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name = "Pranta";  let age = 27;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msg = "Hello, my name is " + name + " and I am " + age + " years old.";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65760" y="2423160"/>
            <a:ext cx="841248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1" name="Text 9"/>
          <p:cNvSpPr/>
          <p:nvPr/>
        </p:nvSpPr>
        <p:spPr>
          <a:xfrm>
            <a:off x="365760" y="24231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✅  New way — Template Literals with backticks ` `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743200"/>
            <a:ext cx="8412480" cy="685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3" name="Text 11"/>
          <p:cNvSpPr/>
          <p:nvPr/>
        </p:nvSpPr>
        <p:spPr>
          <a:xfrm>
            <a:off x="475488" y="2834640"/>
            <a:ext cx="8193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name = "Pranta";  let age = 27;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msg = `Hello, my name is ${name} and I am ${age} years old.`;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65760" y="3493008"/>
            <a:ext cx="8412480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5" name="Text 13"/>
          <p:cNvSpPr/>
          <p:nvPr/>
        </p:nvSpPr>
        <p:spPr>
          <a:xfrm>
            <a:off x="475488" y="3547872"/>
            <a:ext cx="8193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Output: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5488" y="3749040"/>
            <a:ext cx="819302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Hello, my name is Pranta and I am 27 years old.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65760" y="4114800"/>
            <a:ext cx="8412480" cy="502920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8" name="Text 16"/>
          <p:cNvSpPr/>
          <p:nvPr/>
        </p:nvSpPr>
        <p:spPr>
          <a:xfrm>
            <a:off x="502920" y="411480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</a:rPr>
              <a:t>💡 Tip </a:t>
            </a:r>
            <a:r>
              <a:rPr lang="en-US" sz="1200" dirty="0">
                <a:solidFill>
                  <a:srgbClr val="1E293B"/>
                </a:solidFill>
              </a:rPr>
              <a:t>Use backticks ` ` (not quotes!) and wrap variables/expressions in ${ }. You can even do maths: `Result: ${5 + 3}` → 'Result: 8'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5760" y="469087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You can also write multi-line strings: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4919472"/>
            <a:ext cx="8412480" cy="4572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21" name="Text 19"/>
          <p:cNvSpPr/>
          <p:nvPr/>
        </p:nvSpPr>
        <p:spPr>
          <a:xfrm>
            <a:off x="475488" y="5010912"/>
            <a:ext cx="8193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poem = `Line one\nLine two\nLine three`;  // \n = new line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CONDITIONS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24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Conditional Statements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117043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Make decisions — run different code based on a condition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4663440" cy="2971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7" name="Text 5"/>
          <p:cNvSpPr/>
          <p:nvPr/>
        </p:nvSpPr>
        <p:spPr>
          <a:xfrm>
            <a:off x="475488" y="1508760"/>
            <a:ext cx="4443984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score = 85;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(score &gt;= 90) {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console.log("Excellent!");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else if (score &gt;= 70) {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console.log("Good job!");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else if (score &gt;= 50) {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console.log("You passed.");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else {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console.log("Try again.");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Output: Good job!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230368" y="1417320"/>
            <a:ext cx="3547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440"/>
                </a:solidFill>
              </a:rPr>
              <a:t>How it works: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230368" y="1783080"/>
            <a:ext cx="3547872" cy="8046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0" name="Text 8"/>
          <p:cNvSpPr/>
          <p:nvPr/>
        </p:nvSpPr>
        <p:spPr>
          <a:xfrm>
            <a:off x="5321808" y="183794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321808" y="2112264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Test the first condition. If true, run this block and skip the rest.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230368" y="2679192"/>
            <a:ext cx="3547872" cy="8046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3" name="Text 11"/>
          <p:cNvSpPr/>
          <p:nvPr/>
        </p:nvSpPr>
        <p:spPr>
          <a:xfrm>
            <a:off x="5321808" y="273405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 if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21808" y="3008376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Only checked if the above condition was false. Test another condition.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230368" y="3575304"/>
            <a:ext cx="3547872" cy="8046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6" name="Text 14"/>
          <p:cNvSpPr/>
          <p:nvPr/>
        </p:nvSpPr>
        <p:spPr>
          <a:xfrm>
            <a:off x="5321808" y="36301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321808" y="3904488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Catch-all. Runs if ALL previous conditions were false.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65760" y="4507992"/>
            <a:ext cx="8412480" cy="548640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9" name="Text 17"/>
          <p:cNvSpPr/>
          <p:nvPr/>
        </p:nvSpPr>
        <p:spPr>
          <a:xfrm>
            <a:off x="502920" y="4507992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</a:rPr>
              <a:t>💡 Tip </a:t>
            </a:r>
            <a:r>
              <a:rPr lang="en-US" sz="1200" dirty="0">
                <a:solidFill>
                  <a:srgbClr val="1E293B"/>
                </a:solidFill>
              </a:rPr>
              <a:t>You can chain as many else if blocks as you need. Only ONE block will ever run — JS stops checking once it finds a true condition.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CONDITIONS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24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Switch Statement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117043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When you're checking one variable against many specific values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4663440" cy="33375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7" name="Text 5"/>
          <p:cNvSpPr/>
          <p:nvPr/>
        </p:nvSpPr>
        <p:spPr>
          <a:xfrm>
            <a:off x="475488" y="1508760"/>
            <a:ext cx="4443984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day = "Monday";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 (day)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case "Monday":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console.log("Start of week");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break;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case "Friday":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console.log("Almost weekend!");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break;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case "Saturday":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case "Sunday":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console.log("Weekend!");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break;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default: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console.log("Midweek");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230368" y="1417320"/>
            <a:ext cx="3547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440"/>
                </a:solidFill>
              </a:rPr>
              <a:t>Key rules: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230368" y="1783080"/>
            <a:ext cx="3547872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0" name="Text 8"/>
          <p:cNvSpPr/>
          <p:nvPr/>
        </p:nvSpPr>
        <p:spPr>
          <a:xfrm>
            <a:off x="5321808" y="183794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switch(x)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321808" y="2093976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Evaluates x once, then jumps to the matching case.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230368" y="2532888"/>
            <a:ext cx="3547872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3" name="Text 11"/>
          <p:cNvSpPr/>
          <p:nvPr/>
        </p:nvSpPr>
        <p:spPr>
          <a:xfrm>
            <a:off x="5321808" y="258775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case: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21808" y="2843784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Each possible value gets a case. Uses === to compare.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230368" y="3282696"/>
            <a:ext cx="3547872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6" name="Text 14"/>
          <p:cNvSpPr/>
          <p:nvPr/>
        </p:nvSpPr>
        <p:spPr>
          <a:xfrm>
            <a:off x="5321808" y="333756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break;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321808" y="3593592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REQUIRED after each case — stops falling through to the next case.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230368" y="4032504"/>
            <a:ext cx="3547872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9" name="Text 17"/>
          <p:cNvSpPr/>
          <p:nvPr/>
        </p:nvSpPr>
        <p:spPr>
          <a:xfrm>
            <a:off x="5321808" y="408736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default: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321808" y="434340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Like else — runs if no case matched. Optional but good practice.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22" name="Text 20"/>
          <p:cNvSpPr/>
          <p:nvPr/>
        </p:nvSpPr>
        <p:spPr>
          <a:xfrm>
            <a:off x="502920" y="486460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</a:rPr>
              <a:t>⚠ Note </a:t>
            </a:r>
            <a:r>
              <a:rPr lang="en-US" sz="1200" dirty="0">
                <a:solidFill>
                  <a:srgbClr val="1E293B"/>
                </a:solidFill>
              </a:rPr>
              <a:t>Forget break; → JS will run every case below the matching one (called 'fall-through'). Almost always a bug.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LOOPS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24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for Loop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117043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Repeat a block of code a specific number of times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8412480" cy="80467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7" name="Text 5"/>
          <p:cNvSpPr/>
          <p:nvPr/>
        </p:nvSpPr>
        <p:spPr>
          <a:xfrm>
            <a:off x="475488" y="1508760"/>
            <a:ext cx="81930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 START      CONDITION     UPDATE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 let i = 0;  i &lt; 5;      i++ ) 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console.log("Number: " + i);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359152"/>
            <a:ext cx="4023360" cy="1325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9" name="Text 7"/>
          <p:cNvSpPr/>
          <p:nvPr/>
        </p:nvSpPr>
        <p:spPr>
          <a:xfrm>
            <a:off x="475488" y="2414016"/>
            <a:ext cx="3803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Output: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5488" y="2615184"/>
            <a:ext cx="3803904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Number: 0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Number: 1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Number: 2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Number: 3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Number: 4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617720" y="2359152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440"/>
                </a:solidFill>
              </a:rPr>
              <a:t>The 3 parts: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17720" y="2706624"/>
            <a:ext cx="416052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3" name="Text 11"/>
          <p:cNvSpPr/>
          <p:nvPr/>
        </p:nvSpPr>
        <p:spPr>
          <a:xfrm>
            <a:off x="4709160" y="270662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i = 0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126480" y="2706624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Start — runs once at the beginning. Sets i to 0.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17720" y="3035808"/>
            <a:ext cx="416052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6" name="Text 14"/>
          <p:cNvSpPr/>
          <p:nvPr/>
        </p:nvSpPr>
        <p:spPr>
          <a:xfrm>
            <a:off x="4709160" y="303580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&lt; 5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26480" y="303580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Condition — checked before each loop. If false, loop stops.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17720" y="3364992"/>
            <a:ext cx="416052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9" name="Text 17"/>
          <p:cNvSpPr/>
          <p:nvPr/>
        </p:nvSpPr>
        <p:spPr>
          <a:xfrm>
            <a:off x="4709160" y="336499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i++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26480" y="336499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Update — runs after each loop. Adds 1 to i.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3822192"/>
            <a:ext cx="8412480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22" name="Text 20"/>
          <p:cNvSpPr/>
          <p:nvPr/>
        </p:nvSpPr>
        <p:spPr>
          <a:xfrm>
            <a:off x="475488" y="3913632"/>
            <a:ext cx="81930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Loop through an array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fruits = ["apple","banana","mango"];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(let i = 0; i &lt; fruits.length; i++)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console.log(fruits[i]);  // apple, banana, mango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4617720"/>
            <a:ext cx="8412480" cy="27432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24" name="Text 22"/>
          <p:cNvSpPr/>
          <p:nvPr/>
        </p:nvSpPr>
        <p:spPr>
          <a:xfrm>
            <a:off x="502920" y="461772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</a:rPr>
              <a:t>⚠ Note </a:t>
            </a:r>
            <a:r>
              <a:rPr lang="en-US" sz="1200" dirty="0">
                <a:solidFill>
                  <a:srgbClr val="1E293B"/>
                </a:solidFill>
              </a:rPr>
              <a:t>i starts at 0 (not 1!) because arrays are indexed from 0. Always: i &lt; array.length, not i &lt;= array.length.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LOOPS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24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While &amp; Do...While Loops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117043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Repeat while a condition is true — when you don't know how many times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4023360" cy="320040"/>
          </a:xfrm>
          <a:prstGeom prst="rect">
            <a:avLst/>
          </a:prstGeom>
          <a:solidFill>
            <a:srgbClr val="0F2440"/>
          </a:solidFill>
          <a:ln w="12700">
            <a:solidFill>
              <a:srgbClr val="0F2440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7" name="Text 5"/>
          <p:cNvSpPr/>
          <p:nvPr/>
        </p:nvSpPr>
        <p:spPr>
          <a:xfrm>
            <a:off x="365760" y="14173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while loop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737360"/>
            <a:ext cx="4023360" cy="16002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9" name="Text 7"/>
          <p:cNvSpPr/>
          <p:nvPr/>
        </p:nvSpPr>
        <p:spPr>
          <a:xfrm>
            <a:off x="475488" y="1828800"/>
            <a:ext cx="380390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count = 1;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(count &lt;= 5) {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console.log(count);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count++;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Prints: 1 2 3 4 5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754880" y="1417320"/>
            <a:ext cx="402336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1" name="Text 9"/>
          <p:cNvSpPr/>
          <p:nvPr/>
        </p:nvSpPr>
        <p:spPr>
          <a:xfrm>
            <a:off x="4754880" y="14173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do...while loop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54880" y="1737360"/>
            <a:ext cx="4023360" cy="16002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3" name="Text 11"/>
          <p:cNvSpPr/>
          <p:nvPr/>
        </p:nvSpPr>
        <p:spPr>
          <a:xfrm>
            <a:off x="4864608" y="1828800"/>
            <a:ext cx="380390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count = 1;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 {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console.log(count);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count++;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while (count &lt;= 5);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Prints: 1 2 3 4 5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65760" y="3493008"/>
            <a:ext cx="4023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BD"/>
          </a:p>
        </p:txBody>
      </p:sp>
      <p:sp>
        <p:nvSpPr>
          <p:cNvPr id="15" name="Shape 13"/>
          <p:cNvSpPr/>
          <p:nvPr/>
        </p:nvSpPr>
        <p:spPr>
          <a:xfrm>
            <a:off x="365760" y="3493008"/>
            <a:ext cx="54864" cy="804672"/>
          </a:xfrm>
          <a:prstGeom prst="rect">
            <a:avLst/>
          </a:prstGeom>
          <a:solidFill>
            <a:srgbClr val="0F2440"/>
          </a:solidFill>
          <a:ln w="12700">
            <a:solidFill>
              <a:srgbClr val="0F2440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6" name="Text 14"/>
          <p:cNvSpPr/>
          <p:nvPr/>
        </p:nvSpPr>
        <p:spPr>
          <a:xfrm>
            <a:off x="530352" y="3566160"/>
            <a:ext cx="3767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440"/>
                </a:solidFill>
              </a:rPr>
              <a:t>while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30352" y="3822192"/>
            <a:ext cx="3767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Checks condition FIRST. If it starts false, the block never runs.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54880" y="3493008"/>
            <a:ext cx="4023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BD"/>
          </a:p>
        </p:txBody>
      </p:sp>
      <p:sp>
        <p:nvSpPr>
          <p:cNvPr id="19" name="Shape 17"/>
          <p:cNvSpPr/>
          <p:nvPr/>
        </p:nvSpPr>
        <p:spPr>
          <a:xfrm>
            <a:off x="4754880" y="3493008"/>
            <a:ext cx="54864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20" name="Text 18"/>
          <p:cNvSpPr/>
          <p:nvPr/>
        </p:nvSpPr>
        <p:spPr>
          <a:xfrm>
            <a:off x="4919472" y="3566160"/>
            <a:ext cx="3767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440"/>
                </a:solidFill>
              </a:rPr>
              <a:t>do...while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19472" y="3822192"/>
            <a:ext cx="3767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Runs the block FIRST, then checks. Always runs at least once.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4434840"/>
            <a:ext cx="8412480" cy="475488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23" name="Text 21"/>
          <p:cNvSpPr/>
          <p:nvPr/>
        </p:nvSpPr>
        <p:spPr>
          <a:xfrm>
            <a:off x="502920" y="443484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</a:rPr>
              <a:t>⚠ Note </a:t>
            </a:r>
            <a:r>
              <a:rPr lang="en-US" sz="1200" dirty="0">
                <a:solidFill>
                  <a:srgbClr val="1E293B"/>
                </a:solidFill>
              </a:rPr>
              <a:t>Always make sure your loop will eventually stop! If the condition is always true, you get an infinite loop that freezes the browser.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5029200"/>
            <a:ext cx="8412480" cy="38404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25" name="Text 23"/>
          <p:cNvSpPr/>
          <p:nvPr/>
        </p:nvSpPr>
        <p:spPr>
          <a:xfrm>
            <a:off x="475488" y="5120640"/>
            <a:ext cx="8193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Also useful: for...of loop for arrays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(let fruit of ["apple","banana"]) { console.log(fruit); }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FUNCTIONS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24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Functions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117043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A reusable block of code. Write once, run many times.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8412480" cy="10515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7" name="Text 5"/>
          <p:cNvSpPr/>
          <p:nvPr/>
        </p:nvSpPr>
        <p:spPr>
          <a:xfrm>
            <a:off x="475488" y="1508760"/>
            <a:ext cx="81930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DEFINE a function (name it, write the code inside {})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greet() {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console.log("Hello from a function!");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CALL the function (run it)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greet();    // → Hello from a function!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greet();    // → Hello from a function!  (runs again!)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65760" y="263347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440"/>
                </a:solidFill>
              </a:rPr>
              <a:t>Why use functions?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2971800"/>
            <a:ext cx="2651760" cy="1417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BD"/>
          </a:p>
        </p:txBody>
      </p:sp>
      <p:sp>
        <p:nvSpPr>
          <p:cNvPr id="10" name="Text 8"/>
          <p:cNvSpPr/>
          <p:nvPr/>
        </p:nvSpPr>
        <p:spPr>
          <a:xfrm>
            <a:off x="365760" y="299923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♻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75488" y="345643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440"/>
                </a:solidFill>
              </a:rPr>
              <a:t>Reusable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5488" y="3730752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Write code once, run it wherever you need it — no copy-pasting.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0" y="2971800"/>
            <a:ext cx="2651760" cy="1417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BD"/>
          </a:p>
        </p:txBody>
      </p:sp>
      <p:sp>
        <p:nvSpPr>
          <p:cNvPr id="14" name="Text 12"/>
          <p:cNvSpPr/>
          <p:nvPr/>
        </p:nvSpPr>
        <p:spPr>
          <a:xfrm>
            <a:off x="3200400" y="299923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🧹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310128" y="345643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440"/>
                </a:solidFill>
              </a:rPr>
              <a:t>Organised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10128" y="3730752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Break big problems into small named pieces. Easier to read and debug.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35040" y="2971800"/>
            <a:ext cx="2651760" cy="1417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BD"/>
          </a:p>
        </p:txBody>
      </p:sp>
      <p:sp>
        <p:nvSpPr>
          <p:cNvPr id="18" name="Text 16"/>
          <p:cNvSpPr/>
          <p:nvPr/>
        </p:nvSpPr>
        <p:spPr>
          <a:xfrm>
            <a:off x="6035040" y="299923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🔧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144768" y="345643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440"/>
                </a:solidFill>
              </a:rPr>
              <a:t>Maintainable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44768" y="3730752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Fix a bug in one place instead of hunting it down in 10 places.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4507992"/>
            <a:ext cx="8412480" cy="475488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22" name="Text 20"/>
          <p:cNvSpPr/>
          <p:nvPr/>
        </p:nvSpPr>
        <p:spPr>
          <a:xfrm>
            <a:off x="502920" y="4507992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</a:rPr>
              <a:t>💡 Tip </a:t>
            </a:r>
            <a:r>
              <a:rPr lang="en-US" sz="1200" dirty="0">
                <a:solidFill>
                  <a:srgbClr val="1E293B"/>
                </a:solidFill>
              </a:rPr>
              <a:t>Function names should describe what they do: calculateTotal(), showMessage(), hideMenu() — not f1() or doStuff().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FUNCTIONS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24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Parameters &amp; Return Values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117043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Functions can accept input and give back a result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8412480" cy="292608"/>
          </a:xfrm>
          <a:prstGeom prst="rect">
            <a:avLst/>
          </a:prstGeom>
          <a:solidFill>
            <a:srgbClr val="0F2440"/>
          </a:solidFill>
          <a:ln w="12700">
            <a:solidFill>
              <a:srgbClr val="0F2440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7" name="Text 5"/>
          <p:cNvSpPr/>
          <p:nvPr/>
        </p:nvSpPr>
        <p:spPr>
          <a:xfrm>
            <a:off x="365760" y="14173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Parameters — pass data INTO a function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709928"/>
            <a:ext cx="8412480" cy="84124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9" name="Text 7"/>
          <p:cNvSpPr/>
          <p:nvPr/>
        </p:nvSpPr>
        <p:spPr>
          <a:xfrm>
            <a:off x="475488" y="1801368"/>
            <a:ext cx="81930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greet(name, city) {          // name &amp; city are PARAMETERS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console.log(`Hello ${name} from ${city}!`);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greet("Pranta", "Dhaka");              // "Pranta" &amp; "Dhaka" are ARGUMENTS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Output: Hello Pranta from Dhaka!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65760" y="2679192"/>
            <a:ext cx="841248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1" name="Text 9"/>
          <p:cNvSpPr/>
          <p:nvPr/>
        </p:nvSpPr>
        <p:spPr>
          <a:xfrm>
            <a:off x="365760" y="267919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return — send data BACK from a function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971800"/>
            <a:ext cx="8412480" cy="10058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3" name="Text 11"/>
          <p:cNvSpPr/>
          <p:nvPr/>
        </p:nvSpPr>
        <p:spPr>
          <a:xfrm>
            <a:off x="475488" y="3063240"/>
            <a:ext cx="81930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add(a, b) {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a + b;         // sends the result back to the caller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result = add(10, 5);   // result = 15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console.log(result);       // → 15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console.log(add(3, 7));    // → 10  (can use directly)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65760" y="4096512"/>
            <a:ext cx="8412480" cy="475488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5" name="Text 13"/>
          <p:cNvSpPr/>
          <p:nvPr/>
        </p:nvSpPr>
        <p:spPr>
          <a:xfrm>
            <a:off x="502920" y="4096512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</a:rPr>
              <a:t>⚠ Note </a:t>
            </a:r>
            <a:r>
              <a:rPr lang="en-US" sz="1200" dirty="0">
                <a:solidFill>
                  <a:srgbClr val="1E293B"/>
                </a:solidFill>
              </a:rPr>
              <a:t>A function stops running as soon as it hits return. Anything written after return in the same block is never executed.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4663440"/>
            <a:ext cx="8412480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7" name="Text 15"/>
          <p:cNvSpPr/>
          <p:nvPr/>
        </p:nvSpPr>
        <p:spPr>
          <a:xfrm>
            <a:off x="475488" y="4754880"/>
            <a:ext cx="81930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Arrow function — shorter syntax (modern JS)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add = (a, b) =&gt; a + b;    // same as the function above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ARRAYS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24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Arrays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117043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Store multiple values in one variable — like a list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8412480" cy="102412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7" name="Text 5"/>
          <p:cNvSpPr/>
          <p:nvPr/>
        </p:nvSpPr>
        <p:spPr>
          <a:xfrm>
            <a:off x="475488" y="1508760"/>
            <a:ext cx="819302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Create an array with square brackets []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fruits = ["apple", "banana", "mango", "orange"];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         [0]       [1]        [2]       [3]      ← INDEX (starts at 0!)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console.log(fruits[0]);       // → "apple"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console.log(fruits.length);   // → 4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65760" y="257860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440"/>
                </a:solidFill>
              </a:rPr>
              <a:t>Common array operations: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2926080"/>
            <a:ext cx="841248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0" name="Text 8"/>
          <p:cNvSpPr/>
          <p:nvPr/>
        </p:nvSpPr>
        <p:spPr>
          <a:xfrm>
            <a:off x="457200" y="29260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fruits.push("grape")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703320" y="29260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Add to END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035040" y="29260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array now has 5 items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200400"/>
            <a:ext cx="8412480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4" name="Text 12"/>
          <p:cNvSpPr/>
          <p:nvPr/>
        </p:nvSpPr>
        <p:spPr>
          <a:xfrm>
            <a:off x="457200" y="32004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fruits.pop()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703320" y="32004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Remove from END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035040" y="32004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removes "orange"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474720"/>
            <a:ext cx="841248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8" name="Text 16"/>
          <p:cNvSpPr/>
          <p:nvPr/>
        </p:nvSpPr>
        <p:spPr>
          <a:xfrm>
            <a:off x="457200" y="34747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fruits.unshift("fig")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703320" y="34747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Add to BEGINNING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035040" y="34747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array now starts with "fig"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3749040"/>
            <a:ext cx="8412480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22" name="Text 20"/>
          <p:cNvSpPr/>
          <p:nvPr/>
        </p:nvSpPr>
        <p:spPr>
          <a:xfrm>
            <a:off x="457200" y="37490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fruits.shift()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703320" y="37490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Remove from BEGINNING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035040" y="37490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removes first item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4023360"/>
            <a:ext cx="841248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26" name="Text 24"/>
          <p:cNvSpPr/>
          <p:nvPr/>
        </p:nvSpPr>
        <p:spPr>
          <a:xfrm>
            <a:off x="457200" y="40233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fruits.indexOf("banana")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703320" y="40233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Find position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035040" y="40233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returns 1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297680"/>
            <a:ext cx="8412480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30" name="Text 28"/>
          <p:cNvSpPr/>
          <p:nvPr/>
        </p:nvSpPr>
        <p:spPr>
          <a:xfrm>
            <a:off x="457200" y="42976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fruits.includes("mango")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703320" y="42976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Check if exists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035040" y="42976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returns true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65760" y="4572000"/>
            <a:ext cx="841248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34" name="Text 32"/>
          <p:cNvSpPr/>
          <p:nvPr/>
        </p:nvSpPr>
        <p:spPr>
          <a:xfrm>
            <a:off x="457200" y="45720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fruits.join(", ")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703320" y="45720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Convert to string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035040" y="45720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"apple, banana, mango"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65760" y="4846320"/>
            <a:ext cx="8412480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38" name="Text 36"/>
          <p:cNvSpPr/>
          <p:nvPr/>
        </p:nvSpPr>
        <p:spPr>
          <a:xfrm>
            <a:off x="457200" y="48463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fruits.reverse()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703320" y="48463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Reverse order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035040" y="48463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last item becomes first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ARRAYS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24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Useful Array Methods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117043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forEach, map, filter — the big three for working with lists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8412480" cy="292608"/>
          </a:xfrm>
          <a:prstGeom prst="rect">
            <a:avLst/>
          </a:prstGeom>
          <a:solidFill>
            <a:srgbClr val="0F2440"/>
          </a:solidFill>
          <a:ln w="12700">
            <a:solidFill>
              <a:srgbClr val="0F2440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7" name="Text 5"/>
          <p:cNvSpPr/>
          <p:nvPr/>
        </p:nvSpPr>
        <p:spPr>
          <a:xfrm>
            <a:off x="365760" y="14173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forEach — do something for each item (no new array returned)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709928"/>
            <a:ext cx="8412480" cy="5943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9" name="Text 7"/>
          <p:cNvSpPr/>
          <p:nvPr/>
        </p:nvSpPr>
        <p:spPr>
          <a:xfrm>
            <a:off x="475488" y="1801368"/>
            <a:ext cx="8193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nums = [1, 2, 3, 4, 5];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nums.forEach(function(n) { console.log(n * 2); });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Output: 2  4  6  8  10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65760" y="2432304"/>
            <a:ext cx="841248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1" name="Text 9"/>
          <p:cNvSpPr/>
          <p:nvPr/>
        </p:nvSpPr>
        <p:spPr>
          <a:xfrm>
            <a:off x="365760" y="2432304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map — transform each item → returns a NEW array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724912"/>
            <a:ext cx="8412480" cy="5943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3" name="Text 11"/>
          <p:cNvSpPr/>
          <p:nvPr/>
        </p:nvSpPr>
        <p:spPr>
          <a:xfrm>
            <a:off x="475488" y="2816352"/>
            <a:ext cx="8193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nums = [1, 2, 3, 4, 5];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doubled = nums.map(function(n) { return n * 2; });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doubled = [2, 4, 6, 8, 10]   ← original nums is unchanged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65760" y="3447288"/>
            <a:ext cx="8412480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5" name="Text 13"/>
          <p:cNvSpPr/>
          <p:nvPr/>
        </p:nvSpPr>
        <p:spPr>
          <a:xfrm>
            <a:off x="365760" y="344728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filter — keep only items that pass a test → returns a NEW array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739896"/>
            <a:ext cx="8412480" cy="5943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7" name="Text 15"/>
          <p:cNvSpPr/>
          <p:nvPr/>
        </p:nvSpPr>
        <p:spPr>
          <a:xfrm>
            <a:off x="475488" y="3831336"/>
            <a:ext cx="8193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nums = [1, 2, 3, 4, 5, 6];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evens = nums.filter(function(n) { return n % 2 === 0; });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evens = [2, 4, 6]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65760" y="4462272"/>
            <a:ext cx="8412480" cy="475488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9" name="Text 17"/>
          <p:cNvSpPr/>
          <p:nvPr/>
        </p:nvSpPr>
        <p:spPr>
          <a:xfrm>
            <a:off x="502920" y="4462272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</a:rPr>
              <a:t>📌 Info </a:t>
            </a:r>
            <a:r>
              <a:rPr lang="en-US" sz="1200" dirty="0">
                <a:solidFill>
                  <a:srgbClr val="1E293B"/>
                </a:solidFill>
              </a:rPr>
              <a:t>Arrow function shorthand: nums.map(n =&gt; n * 2)  is the same as  nums.map(function(n){ return n*2; }). You'll see both in real code.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OBJECTS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24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Objects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117043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Group related data and behaviour together — like a real-world thing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8412480" cy="19202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7" name="Text 5"/>
          <p:cNvSpPr/>
          <p:nvPr/>
        </p:nvSpPr>
        <p:spPr>
          <a:xfrm>
            <a:off x="475488" y="1508760"/>
            <a:ext cx="819302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Create an object with curly braces {}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student = {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name:    "Karim Uddin",       // property: value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id:      201234,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dept:    "CSE",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cgpa:    3.85,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isActive: true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Access properties with dot notation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console.log(student.name);     // → "Karim Uddin"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console.log(student.cgpa);     // → 3.85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student.cgpa = 3.90;           // Update a property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student.year = 3;              // Add a new property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65760" y="345643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Objects can also have methods (functions inside objects):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3767328"/>
            <a:ext cx="8412480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0" name="Text 8"/>
          <p:cNvSpPr/>
          <p:nvPr/>
        </p:nvSpPr>
        <p:spPr>
          <a:xfrm>
            <a:off x="475488" y="3858768"/>
            <a:ext cx="81930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student =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name: "Karim",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greet: function() { return "Hi, I am " + this.name; 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console.log(student.greet());  // → "Hi, I am Karim"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4617720"/>
            <a:ext cx="8412480" cy="274320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2" name="Text 10"/>
          <p:cNvSpPr/>
          <p:nvPr/>
        </p:nvSpPr>
        <p:spPr>
          <a:xfrm>
            <a:off x="502920" y="461772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</a:rPr>
              <a:t>📌 Info </a:t>
            </a:r>
            <a:r>
              <a:rPr lang="en-US" sz="1200" dirty="0">
                <a:solidFill>
                  <a:srgbClr val="1E293B"/>
                </a:solidFill>
              </a:rPr>
              <a:t>Also: student["name"] works the same as student.name — bracket notation is useful when the key is in a variable.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THE DOM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24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DOM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117043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Document Object Model — JS's view of your HTML page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38988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When a browser loads your HTML, it creates a "tree" of all elements called the DOM. JavaScript can READ and CHANGE this tree.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931920" y="1965960"/>
            <a:ext cx="1280160" cy="347472"/>
          </a:xfrm>
          <a:prstGeom prst="rect">
            <a:avLst/>
          </a:prstGeom>
          <a:solidFill>
            <a:srgbClr val="0F2440"/>
          </a:solidFill>
          <a:ln w="12700">
            <a:solidFill>
              <a:srgbClr val="0F244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BD"/>
          </a:p>
        </p:txBody>
      </p:sp>
      <p:sp>
        <p:nvSpPr>
          <p:cNvPr id="8" name="Text 6"/>
          <p:cNvSpPr/>
          <p:nvPr/>
        </p:nvSpPr>
        <p:spPr>
          <a:xfrm>
            <a:off x="3931920" y="196596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document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931920" y="2487168"/>
            <a:ext cx="128016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BD"/>
          </a:p>
        </p:txBody>
      </p:sp>
      <p:sp>
        <p:nvSpPr>
          <p:cNvPr id="10" name="Text 8"/>
          <p:cNvSpPr/>
          <p:nvPr/>
        </p:nvSpPr>
        <p:spPr>
          <a:xfrm>
            <a:off x="3931920" y="248716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&lt;html&gt;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377440" y="2999232"/>
            <a:ext cx="128016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BD"/>
          </a:p>
        </p:txBody>
      </p:sp>
      <p:sp>
        <p:nvSpPr>
          <p:cNvPr id="12" name="Text 10"/>
          <p:cNvSpPr/>
          <p:nvPr/>
        </p:nvSpPr>
        <p:spPr>
          <a:xfrm>
            <a:off x="2377440" y="299923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&lt;head&gt;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0" y="2999232"/>
            <a:ext cx="128016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BD"/>
          </a:p>
        </p:txBody>
      </p:sp>
      <p:sp>
        <p:nvSpPr>
          <p:cNvPr id="14" name="Text 12"/>
          <p:cNvSpPr/>
          <p:nvPr/>
        </p:nvSpPr>
        <p:spPr>
          <a:xfrm>
            <a:off x="5486400" y="299923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&lt;body&gt;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645920" y="3520440"/>
            <a:ext cx="128016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BD"/>
          </a:p>
        </p:txBody>
      </p:sp>
      <p:sp>
        <p:nvSpPr>
          <p:cNvPr id="16" name="Text 14"/>
          <p:cNvSpPr/>
          <p:nvPr/>
        </p:nvSpPr>
        <p:spPr>
          <a:xfrm>
            <a:off x="1645920" y="352044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&lt;title&gt;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0" y="3520440"/>
            <a:ext cx="100584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BD"/>
          </a:p>
        </p:txBody>
      </p:sp>
      <p:sp>
        <p:nvSpPr>
          <p:cNvPr id="18" name="Text 16"/>
          <p:cNvSpPr/>
          <p:nvPr/>
        </p:nvSpPr>
        <p:spPr>
          <a:xfrm>
            <a:off x="4754880" y="352044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&lt;h1&gt;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943600" y="3520440"/>
            <a:ext cx="91440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BD"/>
          </a:p>
        </p:txBody>
      </p:sp>
      <p:sp>
        <p:nvSpPr>
          <p:cNvPr id="20" name="Text 18"/>
          <p:cNvSpPr/>
          <p:nvPr/>
        </p:nvSpPr>
        <p:spPr>
          <a:xfrm>
            <a:off x="5943600" y="352044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&lt;p&gt;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949440" y="3520440"/>
            <a:ext cx="1188720" cy="34747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BD"/>
          </a:p>
        </p:txBody>
      </p:sp>
      <p:sp>
        <p:nvSpPr>
          <p:cNvPr id="22" name="Text 20"/>
          <p:cNvSpPr/>
          <p:nvPr/>
        </p:nvSpPr>
        <p:spPr>
          <a:xfrm>
            <a:off x="6949440" y="352044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&lt;button&gt;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343400" y="2313432"/>
            <a:ext cx="0" cy="173736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24" name="Shape 22"/>
          <p:cNvSpPr/>
          <p:nvPr/>
        </p:nvSpPr>
        <p:spPr>
          <a:xfrm>
            <a:off x="4343400" y="2487168"/>
            <a:ext cx="0" cy="512064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25" name="Shape 23"/>
          <p:cNvSpPr/>
          <p:nvPr/>
        </p:nvSpPr>
        <p:spPr>
          <a:xfrm>
            <a:off x="4343400" y="2487168"/>
            <a:ext cx="1783080" cy="512064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26" name="Shape 24"/>
          <p:cNvSpPr/>
          <p:nvPr/>
        </p:nvSpPr>
        <p:spPr>
          <a:xfrm>
            <a:off x="3017520" y="3337560"/>
            <a:ext cx="0" cy="18288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27" name="Shape 25"/>
          <p:cNvSpPr/>
          <p:nvPr/>
        </p:nvSpPr>
        <p:spPr>
          <a:xfrm>
            <a:off x="6126480" y="3337560"/>
            <a:ext cx="0" cy="18288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28" name="Shape 26"/>
          <p:cNvSpPr/>
          <p:nvPr/>
        </p:nvSpPr>
        <p:spPr>
          <a:xfrm>
            <a:off x="6126480" y="3337560"/>
            <a:ext cx="274320" cy="18288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29" name="Shape 27"/>
          <p:cNvSpPr/>
          <p:nvPr/>
        </p:nvSpPr>
        <p:spPr>
          <a:xfrm>
            <a:off x="6126480" y="3337560"/>
            <a:ext cx="1417320" cy="18288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30" name="Text 28"/>
          <p:cNvSpPr/>
          <p:nvPr/>
        </p:nvSpPr>
        <p:spPr>
          <a:xfrm>
            <a:off x="365760" y="400507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</a:rPr>
              <a:t>Think of it like this: your HTML is the blueprint. The DOM is the actual built house. JS can rearrange the furniture anytime.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65760" y="4526280"/>
            <a:ext cx="8412480" cy="502920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32" name="Text 30"/>
          <p:cNvSpPr/>
          <p:nvPr/>
        </p:nvSpPr>
        <p:spPr>
          <a:xfrm>
            <a:off x="502920" y="452628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</a:rPr>
              <a:t>📌 Info </a:t>
            </a:r>
            <a:r>
              <a:rPr lang="en-US" sz="1200" dirty="0">
                <a:solidFill>
                  <a:srgbClr val="1E293B"/>
                </a:solidFill>
              </a:rPr>
              <a:t>With JavaScript you can: add/remove elements, change text &amp; styles, react to clicks, animate things, fetch data from a server.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THE DOM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24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Selecting Elements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117043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Find HTML elements so JavaScript can work with them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8412480" cy="111556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7" name="Text 5"/>
          <p:cNvSpPr/>
          <p:nvPr/>
        </p:nvSpPr>
        <p:spPr>
          <a:xfrm>
            <a:off x="502920" y="14721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document.getElementById("id")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72821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Select ONE element by its id attribute. Most common method.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02920" y="2002536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el = document.getElementById("title");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25856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</a:rPr>
              <a:t>Returns the element, or null if not found.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2624328"/>
            <a:ext cx="8412480" cy="111556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2" name="Text 10"/>
          <p:cNvSpPr/>
          <p:nvPr/>
        </p:nvSpPr>
        <p:spPr>
          <a:xfrm>
            <a:off x="502920" y="26791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document.querySelector("css")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293522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Select the FIRST element matching any CSS selector.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02920" y="3209544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el = document.querySelector(".info");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3465576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</a:rPr>
              <a:t>Use any CSS selector: .class, #id, p, div &gt; span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3831336"/>
            <a:ext cx="8412480" cy="111556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7" name="Text 15"/>
          <p:cNvSpPr/>
          <p:nvPr/>
        </p:nvSpPr>
        <p:spPr>
          <a:xfrm>
            <a:off x="502920" y="38862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document.querySelectorAll("css")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414223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Select ALL matching elements — returns a NodeList.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02920" y="4416552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all = document.querySelectorAll("p"); // [p, p]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4672584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</a:rPr>
              <a:t>Loop through with forEach() to work with each one.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5056632"/>
            <a:ext cx="8412480" cy="256032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22" name="Text 20"/>
          <p:cNvSpPr/>
          <p:nvPr/>
        </p:nvSpPr>
        <p:spPr>
          <a:xfrm>
            <a:off x="502920" y="5056632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</a:rPr>
              <a:t>⚠ Note </a:t>
            </a:r>
            <a:r>
              <a:rPr lang="en-US" sz="1200" dirty="0">
                <a:solidFill>
                  <a:srgbClr val="1E293B"/>
                </a:solidFill>
              </a:rPr>
              <a:t>Always check your id spelling! The most common error: "Cannot read properties of null" means getElementById found nothing.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THE DOM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24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Changing the Page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117043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Read and update content, attributes, and styles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8412480" cy="23317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7" name="Text 5"/>
          <p:cNvSpPr/>
          <p:nvPr/>
        </p:nvSpPr>
        <p:spPr>
          <a:xfrm>
            <a:off x="475488" y="1508760"/>
            <a:ext cx="819302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el = document.getElementById("demo");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 CONTENT ────────────────────────────────────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el.innerHTML  = "&lt;b&gt;Bold text&lt;/b&gt;";  // can include HTML tags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el.textContent = "Plain text only";  // safer — no HTML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 ATTRIBUTES ─────────────────────────────────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el.setAttribute("class", "highlight");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el.getAttribute("id");               // → "demo"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 STYLES ──────────────────────────────────────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el.style.color           = "red";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el.style.fontSize        = "24px";   // camelCase, not font-size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el.style.backgroundColor = "yellow";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 CLASSES ─────────────────────────────────────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el.classList.add("active");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el.classList.remove("active");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el.classList.toggle("active");       // add if absent, remove if present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3995928"/>
            <a:ext cx="8412480" cy="475488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9" name="Text 7"/>
          <p:cNvSpPr/>
          <p:nvPr/>
        </p:nvSpPr>
        <p:spPr>
          <a:xfrm>
            <a:off x="502920" y="3995928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</a:rPr>
              <a:t>💡 Tip </a:t>
            </a:r>
            <a:r>
              <a:rPr lang="en-US" sz="1200" dirty="0">
                <a:solidFill>
                  <a:srgbClr val="1E293B"/>
                </a:solidFill>
              </a:rPr>
              <a:t>innerHTML vs textContent: use textContent when you only want plain text — it's safer. Use innerHTML only when you need to insert actual HTML tags.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EVENTS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24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Events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117043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React to things the user does — clicks, typing, hovering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8412480" cy="274320"/>
          </a:xfrm>
          <a:prstGeom prst="rect">
            <a:avLst/>
          </a:prstGeom>
          <a:solidFill>
            <a:srgbClr val="0F2440"/>
          </a:solidFill>
          <a:ln w="12700">
            <a:solidFill>
              <a:srgbClr val="0F2440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7" name="Text 5"/>
          <p:cNvSpPr/>
          <p:nvPr/>
        </p:nvSpPr>
        <p:spPr>
          <a:xfrm>
            <a:off x="365760" y="14173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Method 1 — Inline onclick attribute (quick and simple)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691640"/>
            <a:ext cx="8412480" cy="56692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9" name="Text 7"/>
          <p:cNvSpPr/>
          <p:nvPr/>
        </p:nvSpPr>
        <p:spPr>
          <a:xfrm>
            <a:off x="475488" y="1783080"/>
            <a:ext cx="8193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HTML --&gt;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 onclick="sayHello()"&gt;Click Me&lt;/button&gt;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JS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sayHello() { alert("Hello!"); }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65760" y="2377440"/>
            <a:ext cx="841248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1" name="Text 9"/>
          <p:cNvSpPr/>
          <p:nvPr/>
        </p:nvSpPr>
        <p:spPr>
          <a:xfrm>
            <a:off x="365760" y="23774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Method 2 — addEventListener (preferred, more powerful)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651760"/>
            <a:ext cx="8412480" cy="685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3" name="Text 11"/>
          <p:cNvSpPr/>
          <p:nvPr/>
        </p:nvSpPr>
        <p:spPr>
          <a:xfrm>
            <a:off x="475488" y="2743200"/>
            <a:ext cx="8193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btn = document.getElementById("myBtn");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btn.addEventListener("click", function() {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document.getElementById("output").innerHTML = "Button clicked!";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65760" y="345643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440"/>
                </a:solidFill>
              </a:rPr>
              <a:t>Common events: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5760" y="3776472"/>
            <a:ext cx="411480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6" name="Text 14"/>
          <p:cNvSpPr/>
          <p:nvPr/>
        </p:nvSpPr>
        <p:spPr>
          <a:xfrm>
            <a:off x="457200" y="3776472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click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874520" y="3776472"/>
            <a:ext cx="25603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User clicks an element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754880" y="3776472"/>
            <a:ext cx="411480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9" name="Text 17"/>
          <p:cNvSpPr/>
          <p:nvPr/>
        </p:nvSpPr>
        <p:spPr>
          <a:xfrm>
            <a:off x="4846320" y="3776472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mouseover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63640" y="3776472"/>
            <a:ext cx="25603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Mouse moves over element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65760" y="4078224"/>
            <a:ext cx="4114800" cy="28346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22" name="Text 20"/>
          <p:cNvSpPr/>
          <p:nvPr/>
        </p:nvSpPr>
        <p:spPr>
          <a:xfrm>
            <a:off x="457200" y="4078224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mouseout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874520" y="4078224"/>
            <a:ext cx="25603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Mouse leaves element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754880" y="4078224"/>
            <a:ext cx="4114800" cy="28346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25" name="Text 23"/>
          <p:cNvSpPr/>
          <p:nvPr/>
        </p:nvSpPr>
        <p:spPr>
          <a:xfrm>
            <a:off x="4846320" y="4078224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keydown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263640" y="4078224"/>
            <a:ext cx="25603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A key is pressed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365760" y="4379976"/>
            <a:ext cx="411480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28" name="Text 26"/>
          <p:cNvSpPr/>
          <p:nvPr/>
        </p:nvSpPr>
        <p:spPr>
          <a:xfrm>
            <a:off x="457200" y="4379976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keyup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874520" y="4379976"/>
            <a:ext cx="25603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A key is released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754880" y="4379976"/>
            <a:ext cx="411480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31" name="Text 29"/>
          <p:cNvSpPr/>
          <p:nvPr/>
        </p:nvSpPr>
        <p:spPr>
          <a:xfrm>
            <a:off x="4846320" y="4379976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263640" y="4379976"/>
            <a:ext cx="25603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Value of input changes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365760" y="4681728"/>
            <a:ext cx="4114800" cy="28346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34" name="Text 32"/>
          <p:cNvSpPr/>
          <p:nvPr/>
        </p:nvSpPr>
        <p:spPr>
          <a:xfrm>
            <a:off x="457200" y="4681728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submit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874520" y="4681728"/>
            <a:ext cx="25603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Form is submitted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4754880" y="4681728"/>
            <a:ext cx="4114800" cy="28346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37" name="Text 35"/>
          <p:cNvSpPr/>
          <p:nvPr/>
        </p:nvSpPr>
        <p:spPr>
          <a:xfrm>
            <a:off x="4846320" y="4681728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263640" y="4681728"/>
            <a:ext cx="25603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Page finishes loading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EVENTS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24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Reading User Input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117043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Get what the user typed — and convert it to the right type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8412480" cy="26060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7" name="Text 5"/>
          <p:cNvSpPr/>
          <p:nvPr/>
        </p:nvSpPr>
        <p:spPr>
          <a:xfrm>
            <a:off x="475488" y="1508760"/>
            <a:ext cx="8193024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HTML --&gt;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 type="text" id="nameInput" placeholder="Enter your name"&gt;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 type="number" id="ageInput" placeholder="Enter your age"&gt;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 onclick="processInput()"&gt;Submit&lt;/button&gt;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 id="result"&gt;&lt;/p&gt;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JavaScript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processInput()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let name = document.getElementById("nameInput").value;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let ageStr = document.getElementById("ageInput").value;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let age = parseInt(ageStr);   // .value is ALWAYS a string — convert!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(age &gt;= 18)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document.getElementById("result").innerHTML =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`Welcome ${name}! You are ${age} years old.`;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else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document.getElementById("result").innerHTML = "Too young!";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4133088"/>
            <a:ext cx="8412480" cy="475488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9" name="Text 7"/>
          <p:cNvSpPr/>
          <p:nvPr/>
        </p:nvSpPr>
        <p:spPr>
          <a:xfrm>
            <a:off x="502920" y="4133088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</a:rPr>
              <a:t>⚠ Note </a:t>
            </a:r>
            <a:r>
              <a:rPr lang="en-US" sz="1200" dirty="0">
                <a:solidFill>
                  <a:srgbClr val="1E293B"/>
                </a:solidFill>
              </a:rPr>
              <a:t>.value always returns a STRING — even if the input type is 'number'. Always use parseInt() for whole numbers or parseFloat() for decimals before doing maths.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4663440"/>
            <a:ext cx="8412480" cy="384048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1" name="Text 9"/>
          <p:cNvSpPr/>
          <p:nvPr/>
        </p:nvSpPr>
        <p:spPr>
          <a:xfrm>
            <a:off x="502920" y="4663440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</a:rPr>
              <a:t>💡 Tip </a:t>
            </a:r>
            <a:r>
              <a:rPr lang="en-US" sz="1200" dirty="0">
                <a:solidFill>
                  <a:srgbClr val="1E293B"/>
                </a:solidFill>
              </a:rPr>
              <a:t>Check for empty input: if (name === '') { alert('Please enter a name'); return; } — the return stops the function early.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PRACTICAL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24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Putting It All Together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117043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A working example: colour changer + counter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4251960" cy="36118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7" name="Text 5"/>
          <p:cNvSpPr/>
          <p:nvPr/>
        </p:nvSpPr>
        <p:spPr>
          <a:xfrm>
            <a:off x="475488" y="1508760"/>
            <a:ext cx="4032504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index.html --&gt;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&lt;body&gt;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&lt;h2 id='title'&gt;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Hello World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&lt;/h2&gt;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&lt;p&gt;Clicks: 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&lt;span id='count'&gt;0&lt;/span&gt;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&lt;/p&gt;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&lt;button id="btn"&gt;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Change Colour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&lt;/button&gt;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&lt;script src="script.js"&gt;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&lt;/script&gt;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&lt;/body&gt;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54880" y="1417320"/>
            <a:ext cx="4023360" cy="36118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9" name="Text 7"/>
          <p:cNvSpPr/>
          <p:nvPr/>
        </p:nvSpPr>
        <p:spPr>
          <a:xfrm>
            <a:off x="4864608" y="1508760"/>
            <a:ext cx="3803904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script.js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clicks = 0;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colors = [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"crimson","teal",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"purple","orange"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btn = document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.getElementById("btn");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btn.addEventListener(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"click",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function()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clicks++;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c = colors[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clicks % colors.length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];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t = document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.getElementById("title");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t.style.color = c;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document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.getElementById("count")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.textContent = clicks;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5166360"/>
            <a:ext cx="8412480" cy="256032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1" name="Text 9"/>
          <p:cNvSpPr/>
          <p:nvPr/>
        </p:nvSpPr>
        <p:spPr>
          <a:xfrm>
            <a:off x="502920" y="516636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</a:rPr>
              <a:t>📌 Info </a:t>
            </a:r>
            <a:r>
              <a:rPr lang="en-US" sz="1200" dirty="0">
                <a:solidFill>
                  <a:srgbClr val="1E293B"/>
                </a:solidFill>
              </a:rPr>
              <a:t>clicks % colors.length wraps back to 0 when clicks exceeds the array length — a classic cycling trick.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MATH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24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Math Object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117043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Built-in maths tools — no import needed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84124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Math.round(4.6)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337560" y="141732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5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46320" y="1417320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Round to nearest integer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" y="1746504"/>
            <a:ext cx="841248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1" name="Text 9"/>
          <p:cNvSpPr/>
          <p:nvPr/>
        </p:nvSpPr>
        <p:spPr>
          <a:xfrm>
            <a:off x="457200" y="1746504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Math.floor(4.9)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37560" y="1746504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4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46320" y="1746504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Always round DOWN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2075688"/>
            <a:ext cx="84124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5" name="Text 13"/>
          <p:cNvSpPr/>
          <p:nvPr/>
        </p:nvSpPr>
        <p:spPr>
          <a:xfrm>
            <a:off x="457200" y="207568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Math.ceil(4.1)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37560" y="2075688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5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46320" y="2075688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Always round UP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65760" y="2404872"/>
            <a:ext cx="841248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19" name="Text 17"/>
          <p:cNvSpPr/>
          <p:nvPr/>
        </p:nvSpPr>
        <p:spPr>
          <a:xfrm>
            <a:off x="457200" y="2404872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Math.abs(-7)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337560" y="240487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7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46320" y="2404872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Absolute value (remove minus sign)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65760" y="2734056"/>
            <a:ext cx="84124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23" name="Text 21"/>
          <p:cNvSpPr/>
          <p:nvPr/>
        </p:nvSpPr>
        <p:spPr>
          <a:xfrm>
            <a:off x="457200" y="2734056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Math.max(3,9,1)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37560" y="2734056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9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46320" y="2734056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Largest of the values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65760" y="3063240"/>
            <a:ext cx="841248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27" name="Text 25"/>
          <p:cNvSpPr/>
          <p:nvPr/>
        </p:nvSpPr>
        <p:spPr>
          <a:xfrm>
            <a:off x="457200" y="306324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Math.min(3,9,1)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337560" y="306324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1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46320" y="3063240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Smallest of the values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65760" y="3392424"/>
            <a:ext cx="84124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31" name="Text 29"/>
          <p:cNvSpPr/>
          <p:nvPr/>
        </p:nvSpPr>
        <p:spPr>
          <a:xfrm>
            <a:off x="457200" y="3392424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Math.pow(2,8)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337560" y="3392424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256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846320" y="3392424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2 to the power of 8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365760" y="3721608"/>
            <a:ext cx="841248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35" name="Text 33"/>
          <p:cNvSpPr/>
          <p:nvPr/>
        </p:nvSpPr>
        <p:spPr>
          <a:xfrm>
            <a:off x="457200" y="372160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Math.sqrt(144)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337560" y="3721608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12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846320" y="3721608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Square root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365760" y="4050792"/>
            <a:ext cx="84124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39" name="Text 37"/>
          <p:cNvSpPr/>
          <p:nvPr/>
        </p:nvSpPr>
        <p:spPr>
          <a:xfrm>
            <a:off x="457200" y="4050792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Math.PI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337560" y="405079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3.14159…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846320" y="4050792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The constant π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365760" y="4379976"/>
            <a:ext cx="841248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43" name="Text 41"/>
          <p:cNvSpPr/>
          <p:nvPr/>
        </p:nvSpPr>
        <p:spPr>
          <a:xfrm>
            <a:off x="457200" y="4379976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Math.random()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3337560" y="4379976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0.0–0.99…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846320" y="4379976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Random decimal (0 to &lt;1)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365760" y="4736592"/>
            <a:ext cx="8412480" cy="384048"/>
          </a:xfrm>
          <a:prstGeom prst="rect">
            <a:avLst/>
          </a:prstGeom>
          <a:solidFill>
            <a:srgbClr val="0F172A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47" name="Text 45"/>
          <p:cNvSpPr/>
          <p:nvPr/>
        </p:nvSpPr>
        <p:spPr>
          <a:xfrm>
            <a:off x="502920" y="473659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 integer 1–100:  </a:t>
            </a:r>
            <a:r>
              <a:rPr lang="en-US" sz="1200" b="1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Math.floor(Math.random() * 100) + 1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3977</Words>
  <Application>Microsoft Macintosh PowerPoint</Application>
  <PresentationFormat>On-screen Show (16:9)</PresentationFormat>
  <Paragraphs>627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Arial Black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JavaScript for Beginners — CSE 4165</dc:title>
  <dc:subject>PptxGenJS Presentation</dc:subject>
  <dc:creator>UIU CSE</dc:creator>
  <cp:lastModifiedBy>Pranta Biswas</cp:lastModifiedBy>
  <cp:revision>3</cp:revision>
  <dcterms:created xsi:type="dcterms:W3CDTF">2026-04-25T03:49:42Z</dcterms:created>
  <dcterms:modified xsi:type="dcterms:W3CDTF">2026-04-25T05:08:45Z</dcterms:modified>
</cp:coreProperties>
</file>