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719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B19CD9">
              <a:alpha val="2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601200" y="3657600"/>
            <a:ext cx="3657600" cy="3657600"/>
          </a:xfrm>
          <a:prstGeom prst="ellipse">
            <a:avLst/>
          </a:prstGeom>
          <a:solidFill>
            <a:srgbClr val="5EEAD4">
              <a:alpha val="15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Fundamentals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5669280"/>
            <a:ext cx="2743200" cy="0"/>
          </a:xfrm>
          <a:prstGeom prst="line">
            <a:avLst/>
          </a:prstGeom>
          <a:noFill/>
          <a:ln w="38100">
            <a:solidFill>
              <a:srgbClr val="B19C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Pranta Biswas, Lecturer, United International University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PHP?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484632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PHP: Hypertext Preprocessor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server-side scripting language. The web server runs PHP code, and only the resulting HTML is sent to the browser. The user never sees PHP.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(MediaWiki)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(originally)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Mailchimp, Etsy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flow: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5029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→ first script → variables → forms → loops → arrays → functions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371600"/>
            <a:ext cx="5303520" cy="14630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583680" y="14630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created (Rasmus Lerdorf)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063240"/>
            <a:ext cx="5303520" cy="14630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583680" y="3154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583680" y="4069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websites with known server-side language (W3Techs, 2026)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4754880"/>
            <a:ext cx="5303520" cy="14630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583680" y="4846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.php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6583680" y="5760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extension you'll write today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PHP running on your machine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XAMPP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16184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Bundle: Apache web server + PHP + MySQL. Free, cross-platform.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502920" cy="502920"/>
          </a:xfrm>
          <a:prstGeom prst="ellipse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htdocs folder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C:\xampp\htdocs\  — your code lives here.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502920" cy="502920"/>
          </a:xfrm>
          <a:prstGeom prst="ellipse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Apache from XAMPP control panel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97280" y="353872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http://localhost/ to confirm it's serving pages.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 in htdocs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44988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extensions: PHP IntelliSense, PHP Server, Live Server.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502920" cy="502920"/>
          </a:xfrm>
          <a:prstGeom prst="ellipse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PHP path in VS Code settings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45896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VS Code to C:\xampp\php\php.exe for IntelliSense.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1325880"/>
            <a:ext cx="4754880" cy="475488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13232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PHP request works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178040" y="1920240"/>
            <a:ext cx="4297680" cy="685800"/>
          </a:xfrm>
          <a:prstGeom prst="rect">
            <a:avLst/>
          </a:prstGeom>
          <a:solidFill>
            <a:srgbClr val="0F1530"/>
          </a:solidFill>
          <a:ln w="1905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315200" y="1965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31520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.php URL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26334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78040" y="2880360"/>
            <a:ext cx="4297680" cy="685800"/>
          </a:xfrm>
          <a:prstGeom prst="rect">
            <a:avLst/>
          </a:prstGeom>
          <a:solidFill>
            <a:srgbClr val="0F1530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315200" y="2926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server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request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35935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78040" y="3840480"/>
            <a:ext cx="4297680" cy="685800"/>
          </a:xfrm>
          <a:prstGeom prst="rect">
            <a:avLst/>
          </a:prstGeom>
          <a:solidFill>
            <a:srgbClr val="0F1530"/>
          </a:solidFill>
          <a:ln w="19050">
            <a:solidFill>
              <a:srgbClr val="B19C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7315200" y="3886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engine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0" y="4206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script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45537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178040" y="4800600"/>
            <a:ext cx="4297680" cy="685800"/>
          </a:xfrm>
          <a:prstGeom prst="rect">
            <a:avLst/>
          </a:prstGeom>
          <a:solidFill>
            <a:srgbClr val="0F1530"/>
          </a:solidFill>
          <a:ln w="19050">
            <a:solidFill>
              <a:srgbClr val="78D88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7315200" y="4846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8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output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315200" y="5166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back to browser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FIRST SCRIPT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syntax, echo, comments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0" cy="411480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411480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6126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&lt;?php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single-line comment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/* multi-line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comment */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CSE 4165!"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"&lt;h1&gt;Welcome&lt;/h1&gt;"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4663440" cy="118872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040880" y="1371600"/>
            <a:ext cx="4663440" cy="4572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22376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&lt;?php  ?&gt;  tags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8745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between these tags is PHP code.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outside is plain HTML, sent as-is.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2697480"/>
            <a:ext cx="4663440" cy="118872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040880" y="2697480"/>
            <a:ext cx="4663440" cy="4572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223760" y="2807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32004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text/HTML to the browser.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use " " or ' '. End every statement with ;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4023360"/>
            <a:ext cx="4663440" cy="118872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040880" y="4023360"/>
            <a:ext cx="4663440" cy="45720"/>
          </a:xfrm>
          <a:prstGeom prst="rect">
            <a:avLst/>
          </a:prstGeom>
          <a:solidFill>
            <a:srgbClr val="F5C2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223760" y="41330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Comments: //  and  /* */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452628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 by PHP. Use // for one line,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/* */ for multiple lines.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5349240"/>
            <a:ext cx="4663440" cy="7772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178040" y="5440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File must end in .php and live in htdocs/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78040" y="57607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via http://localhost/yourfile.php — never double-click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VARIABLES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&amp;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029200" cy="219456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029200" cy="4572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variables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start with $   (e.g.  $name)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  ($Name ≠ $name)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digits, underscore — must NOT start with a digit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 declaration — PHP figures it out (loosely typed)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03320"/>
            <a:ext cx="5029200" cy="246888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" y="3703320"/>
            <a:ext cx="54864" cy="246888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813048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"Pranta"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$age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$gpa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3.85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$isLecturer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 $name, age $age"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 Pranta, age 27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1371600"/>
            <a:ext cx="2743200" cy="224028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12648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26480" y="2057400"/>
            <a:ext cx="2377440" cy="64008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17220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— " " or ' '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69680" y="1371600"/>
            <a:ext cx="2743200" cy="224028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052560" y="1508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052560" y="2057400"/>
            <a:ext cx="2377440" cy="64008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098280" y="2103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52560" y="28346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numbers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3794760"/>
            <a:ext cx="2743200" cy="224028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12648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126480" y="4480560"/>
            <a:ext cx="2377440" cy="64008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172200" y="4526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26480" y="5257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numbers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869680" y="3794760"/>
            <a:ext cx="2743200" cy="224028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9052560" y="39319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052560" y="4480560"/>
            <a:ext cx="2377440" cy="64008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9098280" y="4526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/ false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52560" y="5257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Yes-or-no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62636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var_dump($x);  → shows the type and value of any variable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ARITHMETIC &amp; MATH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built-in functions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572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5120640" cy="37033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19C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19C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19C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2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$a + $b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2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$a - $b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2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$a * $b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2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$a / $b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2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Modulus (remainder)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$a % $b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2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**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$a ** $b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2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++ --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 / Decrement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$a++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2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+= -= *= /=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8EC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assignment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EEA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$a += 5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126480" y="1371600"/>
            <a:ext cx="5577840" cy="228600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6"/>
          <p:cNvSpPr/>
          <p:nvPr/>
        </p:nvSpPr>
        <p:spPr>
          <a:xfrm>
            <a:off x="6126480" y="1371600"/>
            <a:ext cx="5577840" cy="45720"/>
          </a:xfrm>
          <a:prstGeom prst="rect">
            <a:avLst/>
          </a:prstGeom>
          <a:solidFill>
            <a:srgbClr val="F5C2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30936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math functions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309360" y="187452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abs($x)</a:t>
            </a: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absolute value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round($x), floor($x), ceil($x)</a:t>
            </a: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rounding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pow($a, $b), sqrt($x)</a:t>
            </a: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power, root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max(...), min(...)</a:t>
            </a: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largest / smallest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pi(),  M_PI</a:t>
            </a: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π constant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rand($min, $max)</a:t>
            </a:r>
            <a:r>
              <a:rPr lang="en-US" sz="1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random integer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3749040"/>
            <a:ext cx="5577840" cy="246888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6126480" y="3749040"/>
            <a:ext cx="54864" cy="246888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309360" y="3858768"/>
            <a:ext cx="5303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$radius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$area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M_PI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($radius,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($area,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78.54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e.g. 47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FORMS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$_GET and $_POST — getting input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577840" cy="23774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577840" cy="4572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$_GET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appears in the URL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?name=Pranta&amp;age=27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Visible, bookmarkable, cached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searches &amp; filters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371600"/>
            <a:ext cx="5577840" cy="23774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5577840" cy="4572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309360" y="15087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hidden in the request body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visible in the URL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payloads allowed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passwords, sign-up, uploads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6949440" cy="228600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4864" cy="228600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" y="3995928"/>
            <a:ext cx="6675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index.html --&gt;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action="greet.php" method="post"&gt;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name="username"&gt;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&lt;button&gt;Submit&lt;/button&gt;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  // greet.php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 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.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"username"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?&gt;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89520" y="3886200"/>
            <a:ext cx="4114800" cy="2286000"/>
          </a:xfrm>
          <a:prstGeom prst="rect">
            <a:avLst/>
          </a:prstGeom>
          <a:solidFill>
            <a:srgbClr val="1A2245"/>
          </a:solidFill>
          <a:ln w="1905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7724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Both are NOT secure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0" y="4434840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hides data from the URL but it's not encrypted. Anything sensitive must use HTTPS, plus we sanitize and validate every input (covered in Class 2).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CONDITIONALS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elseif / else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228600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00" cy="4572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212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equal value          </a:t>
            </a: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equal value &amp; type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not equal             </a:t>
            </a: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!==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strict not equal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&lt;  &gt;=  &lt;=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greater / less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5486400" cy="23774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457200" y="3794760"/>
            <a:ext cx="5486400" cy="4572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3931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5212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— all must be true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OR  — at least one true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NOT — flips true ↔ false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</a:t>
            </a: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$age</a:t>
            </a:r>
            <a:r>
              <a:rPr lang="en-US" sz="12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</a:t>
            </a: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$hasID</a:t>
            </a:r>
            <a:r>
              <a:rPr lang="en-US" sz="12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5577840" cy="480060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54864" cy="480060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309360" y="1481328"/>
            <a:ext cx="53035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$age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(int)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"age"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$age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"Invalid"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$age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"Child"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elseif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$age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"Teen"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"Adult"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Ternary shorthand: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$age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?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"Yes"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SWITCH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branching for many cases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0" cy="480060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480060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61264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$grade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$grade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"Excellent"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"Good"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"Fair"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"Unknown"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4663440" cy="155448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040880" y="1371600"/>
            <a:ext cx="4663440" cy="4572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22376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switch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8745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discrete values for the same variable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cleaner than 5+ if / elseif chains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3017520"/>
            <a:ext cx="4663440" cy="155448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040880" y="3017520"/>
            <a:ext cx="4663440" cy="45720"/>
          </a:xfrm>
          <a:prstGeom prst="rect">
            <a:avLst/>
          </a:prstGeom>
          <a:solidFill>
            <a:srgbClr val="F5C2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223760" y="3127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forget break;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352044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break, execution falls through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next case — usually a bug.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4663440"/>
            <a:ext cx="4663440" cy="150876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040880" y="4663440"/>
            <a:ext cx="4663440" cy="4572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223760" y="47731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51663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fallback when no case matches.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it for safety.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LOOPS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for, while, do-while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86400" cy="233172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73152" cy="233172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— known number of repetitions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212080" cy="173736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54864" cy="173736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22960" y="1984248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&lt;=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++)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 $i 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 1 Hi 2 Hi 3 Hi 4 Hi 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5486400" cy="233172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73152" cy="233172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 — repeat as long as condition holds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212080" cy="173736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4864" cy="173736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822960" y="4453128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"$n 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 $n--;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5577840" cy="480060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5577840" cy="45720"/>
          </a:xfrm>
          <a:prstGeom prst="rect">
            <a:avLst/>
          </a:prstGeom>
          <a:solidFill>
            <a:srgbClr val="F5C2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309360" y="15087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loop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87452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how many times to repeat (1–10, array of size N).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repeat until something becomes false (read until EOF, retry until success).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 } while ( );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while, but body always runs at least once.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escape hatches: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break;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exits the loop immediately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continue;</a:t>
            </a: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skips to the next iteration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i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Always make sure the loop condition can become false — otherwise infinite loop.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ARRAYS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many values in one variable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0" cy="480060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480060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61264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$fruits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"mango"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"litchi"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Read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$fruits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   // apple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$fruits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=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array_push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$fruits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"guava"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Loop through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$fruits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"$f&lt;br&gt;"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$fruits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// 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4663440" cy="228600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22376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$fruits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23760" y="2011680"/>
            <a:ext cx="1325880" cy="914400"/>
          </a:xfrm>
          <a:prstGeom prst="rect">
            <a:avLst/>
          </a:prstGeom>
          <a:solidFill>
            <a:srgbClr val="0A0F22"/>
          </a:solidFill>
          <a:ln w="19050">
            <a:solidFill>
              <a:srgbClr val="B19C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223760" y="2011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2376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41080" y="2011680"/>
            <a:ext cx="1325880" cy="914400"/>
          </a:xfrm>
          <a:prstGeom prst="rect">
            <a:avLst/>
          </a:prstGeom>
          <a:solidFill>
            <a:srgbClr val="0A0F22"/>
          </a:solidFill>
          <a:ln w="19050">
            <a:solidFill>
              <a:srgbClr val="B19C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8641080" y="2011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mango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4108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0" y="2011680"/>
            <a:ext cx="1325880" cy="914400"/>
          </a:xfrm>
          <a:prstGeom prst="rect">
            <a:avLst/>
          </a:prstGeom>
          <a:solidFill>
            <a:srgbClr val="0A0F22"/>
          </a:solidFill>
          <a:ln w="19050">
            <a:solidFill>
              <a:srgbClr val="B19C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0058400" y="201168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litchi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0" y="29718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223760" y="32918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start at 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040880" y="3794760"/>
            <a:ext cx="4663440" cy="23774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7040880" y="3794760"/>
            <a:ext cx="4663440" cy="4572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223760" y="3931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array functions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4297680"/>
            <a:ext cx="42976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count($a)</a:t>
            </a: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size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sort($a) / rsort($a)</a:t>
            </a: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sort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in_array($x, $a)</a:t>
            </a: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search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array_push / array_pop</a:t>
            </a: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add / remove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implode(",", $a)</a:t>
            </a:r>
            <a:r>
              <a:rPr lang="en-US" sz="1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string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ASSOCIATIVE ARRAYS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→ value pairs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0" cy="480060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480060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61264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Indexed: 0,1,2... as keys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Associative: YOU choose the keys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$student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[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"Pranta"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=&gt;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"cgpa"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3.85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"dept"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=&gt;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"CSE"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$student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Pranta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$student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$key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$value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"$key: $value&lt;br&gt;"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4663440" cy="274320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22376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$student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223760" y="1965960"/>
            <a:ext cx="1463040" cy="384048"/>
          </a:xfrm>
          <a:prstGeom prst="rect">
            <a:avLst/>
          </a:prstGeom>
          <a:solidFill>
            <a:srgbClr val="0A0F22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223760" y="1965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732520" y="19659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98280" y="1965960"/>
            <a:ext cx="2377440" cy="384048"/>
          </a:xfrm>
          <a:prstGeom prst="rect">
            <a:avLst/>
          </a:prstGeom>
          <a:solidFill>
            <a:srgbClr val="0A0F22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9098280" y="19659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Pranta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223760" y="2423160"/>
            <a:ext cx="1463040" cy="384048"/>
          </a:xfrm>
          <a:prstGeom prst="rect">
            <a:avLst/>
          </a:prstGeom>
          <a:solidFill>
            <a:srgbClr val="0A0F22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223760" y="24231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32520" y="24231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98280" y="2423160"/>
            <a:ext cx="2377440" cy="384048"/>
          </a:xfrm>
          <a:prstGeom prst="rect">
            <a:avLst/>
          </a:prstGeom>
          <a:solidFill>
            <a:srgbClr val="0A0F22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098280" y="24231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12345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2880360"/>
            <a:ext cx="1463040" cy="384048"/>
          </a:xfrm>
          <a:prstGeom prst="rect">
            <a:avLst/>
          </a:prstGeom>
          <a:solidFill>
            <a:srgbClr val="0A0F22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223760" y="2880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"cgpa"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32520" y="2880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98280" y="2880360"/>
            <a:ext cx="2377440" cy="384048"/>
          </a:xfrm>
          <a:prstGeom prst="rect">
            <a:avLst/>
          </a:prstGeom>
          <a:solidFill>
            <a:srgbClr val="0A0F22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9098280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3.85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223760" y="3337560"/>
            <a:ext cx="1463040" cy="384048"/>
          </a:xfrm>
          <a:prstGeom prst="rect">
            <a:avLst/>
          </a:prstGeom>
          <a:solidFill>
            <a:srgbClr val="0A0F22"/>
          </a:solidFill>
          <a:ln w="12700">
            <a:solidFill>
              <a:srgbClr val="F5C26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223760" y="3337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"dept"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32520" y="33375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98280" y="3337560"/>
            <a:ext cx="2377440" cy="384048"/>
          </a:xfrm>
          <a:prstGeom prst="rect">
            <a:avLst/>
          </a:prstGeom>
          <a:solidFill>
            <a:srgbClr val="0A0F22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9098280" y="3337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040880" y="4251960"/>
            <a:ext cx="4663440" cy="19202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7040880" y="4251960"/>
            <a:ext cx="4663440" cy="4572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7223760" y="436168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23760" y="475488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 a student, a product, a user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data ($_POST is associative!)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row results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/ settings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FUNCTIONS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blocks of code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400800" cy="4800600"/>
          </a:xfrm>
          <a:prstGeom prst="rect">
            <a:avLst/>
          </a:prstGeom>
          <a:solidFill>
            <a:srgbClr val="0A0F22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4864" cy="480060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612648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Define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$name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echo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$name!"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Call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7A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"Pranta"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A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Default values + return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addTax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$rate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$price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$rate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$total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b="1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addTax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</a:t>
            </a:r>
            <a:r>
              <a:rPr lang="en-US" sz="13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// 1050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040880" y="1371600"/>
            <a:ext cx="4663440" cy="169164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7040880" y="1371600"/>
            <a:ext cx="4663440" cy="45720"/>
          </a:xfrm>
          <a:prstGeom prst="rect">
            <a:avLst/>
          </a:prstGeom>
          <a:solidFill>
            <a:srgbClr val="B19CD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223760" y="14813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19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187452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 name(parameters) { … }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Curly braces hold the body.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sends a value back.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40880" y="3154680"/>
            <a:ext cx="4663440" cy="150876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040880" y="3154680"/>
            <a:ext cx="4663440" cy="45720"/>
          </a:xfrm>
          <a:prstGeom prst="rect">
            <a:avLst/>
          </a:prstGeom>
          <a:solidFill>
            <a:srgbClr val="5EEAD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223760" y="32644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functions?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36576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repeating yourself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piece of logic clearly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small parts in isolation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4754880"/>
            <a:ext cx="4663440" cy="1417320"/>
          </a:xfrm>
          <a:prstGeom prst="rect">
            <a:avLst/>
          </a:prstGeom>
          <a:solidFill>
            <a:srgbClr val="1A2245"/>
          </a:solidFill>
          <a:ln w="12700">
            <a:solidFill>
              <a:srgbClr val="2A356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7040880" y="4754880"/>
            <a:ext cx="4663440" cy="45720"/>
          </a:xfrm>
          <a:prstGeom prst="rect">
            <a:avLst/>
          </a:prstGeom>
          <a:solidFill>
            <a:srgbClr val="F5C2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223760" y="4864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helpers (preview)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23760" y="52578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strlen, strtoupper, strtolower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str_replace, substr, trim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C2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explode (string→array), implode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4165 — Web Programming  ·  Class 1: PHP Fundamentals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1898</Words>
  <Application>Microsoft Office PowerPoint</Application>
  <PresentationFormat>Widescreen</PresentationFormat>
  <Paragraphs>384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Class 1: Language Fundamentals</dc:title>
  <dc:subject>PptxGenJS Presentation</dc:subject>
  <dc:creator>Pranta — UIU CSE 4165</dc:creator>
  <cp:lastModifiedBy>Pranta Biswas</cp:lastModifiedBy>
  <cp:revision>3</cp:revision>
  <dcterms:created xsi:type="dcterms:W3CDTF">2026-04-28T02:24:39Z</dcterms:created>
  <dcterms:modified xsi:type="dcterms:W3CDTF">2026-04-28T03:30:23Z</dcterms:modified>
</cp:coreProperties>
</file>